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72" r:id="rId2"/>
    <p:sldMasterId id="2147483660" r:id="rId3"/>
  </p:sldMasterIdLst>
  <p:notesMasterIdLst>
    <p:notesMasterId r:id="rId45"/>
  </p:notesMasterIdLst>
  <p:sldIdLst>
    <p:sldId id="343" r:id="rId4"/>
    <p:sldId id="320" r:id="rId5"/>
    <p:sldId id="282" r:id="rId6"/>
    <p:sldId id="291" r:id="rId7"/>
    <p:sldId id="352" r:id="rId8"/>
    <p:sldId id="353" r:id="rId9"/>
    <p:sldId id="354" r:id="rId10"/>
    <p:sldId id="355" r:id="rId11"/>
    <p:sldId id="328" r:id="rId12"/>
    <p:sldId id="358" r:id="rId13"/>
    <p:sldId id="359" r:id="rId14"/>
    <p:sldId id="356" r:id="rId15"/>
    <p:sldId id="357" r:id="rId16"/>
    <p:sldId id="339" r:id="rId17"/>
    <p:sldId id="360" r:id="rId18"/>
    <p:sldId id="361" r:id="rId19"/>
    <p:sldId id="385" r:id="rId20"/>
    <p:sldId id="340" r:id="rId21"/>
    <p:sldId id="362" r:id="rId22"/>
    <p:sldId id="363" r:id="rId23"/>
    <p:sldId id="364" r:id="rId24"/>
    <p:sldId id="365" r:id="rId25"/>
    <p:sldId id="366" r:id="rId26"/>
    <p:sldId id="367" r:id="rId27"/>
    <p:sldId id="379" r:id="rId28"/>
    <p:sldId id="381" r:id="rId29"/>
    <p:sldId id="386" r:id="rId30"/>
    <p:sldId id="387" r:id="rId31"/>
    <p:sldId id="388" r:id="rId32"/>
    <p:sldId id="368" r:id="rId33"/>
    <p:sldId id="383" r:id="rId34"/>
    <p:sldId id="370" r:id="rId35"/>
    <p:sldId id="371" r:id="rId36"/>
    <p:sldId id="372" r:id="rId37"/>
    <p:sldId id="373" r:id="rId38"/>
    <p:sldId id="374" r:id="rId39"/>
    <p:sldId id="375" r:id="rId40"/>
    <p:sldId id="376" r:id="rId41"/>
    <p:sldId id="382" r:id="rId42"/>
    <p:sldId id="384" r:id="rId43"/>
    <p:sldId id="287" r:id="rId44"/>
  </p:sldIdLst>
  <p:sldSz cx="9144000" cy="5143500" type="screen16x9"/>
  <p:notesSz cx="6858000" cy="9144000"/>
  <p:embeddedFontLst>
    <p:embeddedFont>
      <p:font typeface="方正粗倩简体" panose="02010600030101010101" charset="-122"/>
      <p:regular r:id="rId46"/>
    </p:embeddedFont>
    <p:embeddedFont>
      <p:font typeface="方正兰亭特黑_GBK" panose="02010600030101010101" charset="-122"/>
      <p:regular r:id="rId47"/>
    </p:embeddedFont>
    <p:embeddedFont>
      <p:font typeface="Bell MT" panose="02020503060305020303" pitchFamily="18" charset="0"/>
      <p:regular r:id="rId48"/>
      <p:bold r:id="rId49"/>
      <p:italic r:id="rId50"/>
    </p:embeddedFont>
    <p:embeddedFont>
      <p:font typeface="Calibri" panose="020F0502020204030204" pitchFamily="34" charset="0"/>
      <p:regular r:id="rId51"/>
      <p:bold r:id="rId52"/>
      <p:italic r:id="rId53"/>
      <p:boldItalic r:id="rId54"/>
    </p:embeddedFont>
    <p:embeddedFont>
      <p:font typeface="华文仿宋" panose="02010600040101010101" pitchFamily="2" charset="-122"/>
      <p:regular r:id="rId55"/>
    </p:embeddedFont>
    <p:embeddedFont>
      <p:font typeface="微软雅黑" panose="020B0503020204020204" pitchFamily="34" charset="-122"/>
      <p:regular r:id="rId56"/>
      <p:bold r:id="rId57"/>
    </p:embeddedFont>
    <p:embeddedFont>
      <p:font typeface="幼圆" panose="02010509060101010101" pitchFamily="49" charset="-122"/>
      <p:regular r:id="rId58"/>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4807"/>
    <a:srgbClr val="FFFFFF"/>
    <a:srgbClr val="996633"/>
    <a:srgbClr val="993300"/>
    <a:srgbClr val="FFCCCC"/>
    <a:srgbClr val="FFFF66"/>
    <a:srgbClr val="C98A0D"/>
    <a:srgbClr val="BC810C"/>
    <a:srgbClr val="990000"/>
    <a:srgbClr val="6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94660"/>
  </p:normalViewPr>
  <p:slideViewPr>
    <p:cSldViewPr snapToObjects="1">
      <p:cViewPr varScale="1">
        <p:scale>
          <a:sx n="100" d="100"/>
          <a:sy n="100" d="100"/>
        </p:scale>
        <p:origin x="614" y="67"/>
      </p:cViewPr>
      <p:guideLst>
        <p:guide orient="horz" pos="1620"/>
        <p:guide pos="2880"/>
      </p:guideLst>
    </p:cSldViewPr>
  </p:slideViewPr>
  <p:notesTextViewPr>
    <p:cViewPr>
      <p:scale>
        <a:sx n="1" d="1"/>
        <a:sy n="1" d="1"/>
      </p:scale>
      <p:origin x="0" y="0"/>
    </p:cViewPr>
  </p:notesTextViewPr>
  <p:sorterViewPr>
    <p:cViewPr>
      <p:scale>
        <a:sx n="100" d="100"/>
        <a:sy n="100" d="100"/>
      </p:scale>
      <p:origin x="0" y="-118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font" Target="fonts/font13.fntdata"/><Relationship Id="rId5" Type="http://schemas.openxmlformats.org/officeDocument/2006/relationships/slide" Target="slides/slide2.xml"/><Relationship Id="rId61"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font" Target="fonts/font3.fntdata"/><Relationship Id="rId56" Type="http://schemas.openxmlformats.org/officeDocument/2006/relationships/font" Target="fonts/font11.fntdata"/><Relationship Id="rId8" Type="http://schemas.openxmlformats.org/officeDocument/2006/relationships/slide" Target="slides/slide5.xml"/><Relationship Id="rId51" Type="http://schemas.openxmlformats.org/officeDocument/2006/relationships/font" Target="fonts/font6.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1.fntdata"/><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9.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font" Target="fonts/font7.fntdata"/><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482B81-E7B1-4204-83D2-E3CBFD825358}" type="datetimeFigureOut">
              <a:rPr lang="zh-CN" altLang="en-US" smtClean="0"/>
              <a:t>2026/9/28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E10CCC-753D-47EB-A43C-55FB8AE1975B}" type="slidenum">
              <a:rPr lang="zh-CN" altLang="en-US" smtClean="0"/>
              <a:t>‹#›</a:t>
            </a:fld>
            <a:endParaRPr lang="zh-CN" altLang="en-US"/>
          </a:p>
        </p:txBody>
      </p:sp>
    </p:spTree>
    <p:extLst>
      <p:ext uri="{BB962C8B-B14F-4D97-AF65-F5344CB8AC3E}">
        <p14:creationId xmlns:p14="http://schemas.microsoft.com/office/powerpoint/2010/main" val="3222501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3E10CCC-753D-47EB-A43C-55FB8AE1975B}" type="slidenum">
              <a:rPr lang="zh-CN" altLang="en-US" smtClean="0"/>
              <a:t>3</a:t>
            </a:fld>
            <a:endParaRPr lang="zh-CN" altLang="en-US"/>
          </a:p>
        </p:txBody>
      </p:sp>
    </p:spTree>
    <p:extLst>
      <p:ext uri="{BB962C8B-B14F-4D97-AF65-F5344CB8AC3E}">
        <p14:creationId xmlns:p14="http://schemas.microsoft.com/office/powerpoint/2010/main" val="3304017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E10CCC-753D-47EB-A43C-55FB8AE1975B}" type="slidenum">
              <a:rPr lang="zh-CN" altLang="en-US" smtClean="0"/>
              <a:t>10</a:t>
            </a:fld>
            <a:endParaRPr lang="zh-CN" altLang="en-US"/>
          </a:p>
        </p:txBody>
      </p:sp>
    </p:spTree>
    <p:extLst>
      <p:ext uri="{BB962C8B-B14F-4D97-AF65-F5344CB8AC3E}">
        <p14:creationId xmlns:p14="http://schemas.microsoft.com/office/powerpoint/2010/main" val="430202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3E10CCC-753D-47EB-A43C-55FB8AE1975B}" type="slidenum">
              <a:rPr lang="zh-CN" altLang="en-US" smtClean="0"/>
              <a:t>11</a:t>
            </a:fld>
            <a:endParaRPr lang="zh-CN" altLang="en-US"/>
          </a:p>
        </p:txBody>
      </p:sp>
    </p:spTree>
    <p:extLst>
      <p:ext uri="{BB962C8B-B14F-4D97-AF65-F5344CB8AC3E}">
        <p14:creationId xmlns:p14="http://schemas.microsoft.com/office/powerpoint/2010/main" val="2352567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1"/>
            <a:ext cx="7772400" cy="1102519"/>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97FACBB-607D-4E97-8D86-9B09235C38CD}" type="datetimeFigureOut">
              <a:rPr lang="zh-CN" altLang="en-US" smtClean="0"/>
              <a:t>2026/9/28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32B3A44-5F43-4DB2-BACF-21EA5497050F}" type="slidenum">
              <a:rPr lang="zh-CN" altLang="en-US" smtClean="0"/>
              <a:t>‹#›</a:t>
            </a:fld>
            <a:endParaRPr lang="zh-CN" altLang="en-US"/>
          </a:p>
        </p:txBody>
      </p:sp>
    </p:spTree>
    <p:extLst>
      <p:ext uri="{BB962C8B-B14F-4D97-AF65-F5344CB8AC3E}">
        <p14:creationId xmlns:p14="http://schemas.microsoft.com/office/powerpoint/2010/main" val="1330287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97FACBB-607D-4E97-8D86-9B09235C38CD}" type="datetimeFigureOut">
              <a:rPr lang="zh-CN" altLang="en-US" smtClean="0"/>
              <a:t>2026/9/28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32B3A44-5F43-4DB2-BACF-21EA5497050F}" type="slidenum">
              <a:rPr lang="zh-CN" altLang="en-US" smtClean="0"/>
              <a:t>‹#›</a:t>
            </a:fld>
            <a:endParaRPr lang="zh-CN" altLang="en-US"/>
          </a:p>
        </p:txBody>
      </p:sp>
    </p:spTree>
    <p:extLst>
      <p:ext uri="{BB962C8B-B14F-4D97-AF65-F5344CB8AC3E}">
        <p14:creationId xmlns:p14="http://schemas.microsoft.com/office/powerpoint/2010/main" val="2755065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97FACBB-607D-4E97-8D86-9B09235C38CD}" type="datetimeFigureOut">
              <a:rPr lang="zh-CN" altLang="en-US" smtClean="0"/>
              <a:t>2026/9/28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32B3A44-5F43-4DB2-BACF-21EA5497050F}" type="slidenum">
              <a:rPr lang="zh-CN" altLang="en-US" smtClean="0"/>
              <a:t>‹#›</a:t>
            </a:fld>
            <a:endParaRPr lang="zh-CN" altLang="en-US"/>
          </a:p>
        </p:txBody>
      </p:sp>
    </p:spTree>
    <p:extLst>
      <p:ext uri="{BB962C8B-B14F-4D97-AF65-F5344CB8AC3E}">
        <p14:creationId xmlns:p14="http://schemas.microsoft.com/office/powerpoint/2010/main" val="2860839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5"/>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5"/>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97FACBB-607D-4E97-8D86-9B09235C38CD}" type="datetimeFigureOut">
              <a:rPr lang="zh-CN" altLang="en-US" smtClean="0"/>
              <a:t>2026/9/28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32B3A44-5F43-4DB2-BACF-21EA5497050F}" type="slidenum">
              <a:rPr lang="zh-CN" altLang="en-US" smtClean="0"/>
              <a:t>‹#›</a:t>
            </a:fld>
            <a:endParaRPr lang="zh-CN" altLang="en-US"/>
          </a:p>
        </p:txBody>
      </p:sp>
    </p:spTree>
    <p:extLst>
      <p:ext uri="{BB962C8B-B14F-4D97-AF65-F5344CB8AC3E}">
        <p14:creationId xmlns:p14="http://schemas.microsoft.com/office/powerpoint/2010/main" val="2478616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30"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30"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97FACBB-607D-4E97-8D86-9B09235C38CD}" type="datetimeFigureOut">
              <a:rPr lang="zh-CN" altLang="en-US" smtClean="0"/>
              <a:t>2026/9/28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32B3A44-5F43-4DB2-BACF-21EA5497050F}" type="slidenum">
              <a:rPr lang="zh-CN" altLang="en-US" smtClean="0"/>
              <a:t>‹#›</a:t>
            </a:fld>
            <a:endParaRPr lang="zh-CN" altLang="en-US"/>
          </a:p>
        </p:txBody>
      </p:sp>
    </p:spTree>
    <p:extLst>
      <p:ext uri="{BB962C8B-B14F-4D97-AF65-F5344CB8AC3E}">
        <p14:creationId xmlns:p14="http://schemas.microsoft.com/office/powerpoint/2010/main" val="2050997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97FACBB-607D-4E97-8D86-9B09235C38CD}" type="datetimeFigureOut">
              <a:rPr lang="zh-CN" altLang="en-US" smtClean="0"/>
              <a:t>2026/9/28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32B3A44-5F43-4DB2-BACF-21EA5497050F}" type="slidenum">
              <a:rPr lang="zh-CN" altLang="en-US" smtClean="0"/>
              <a:t>‹#›</a:t>
            </a:fld>
            <a:endParaRPr lang="zh-CN" altLang="en-US"/>
          </a:p>
        </p:txBody>
      </p:sp>
    </p:spTree>
    <p:extLst>
      <p:ext uri="{BB962C8B-B14F-4D97-AF65-F5344CB8AC3E}">
        <p14:creationId xmlns:p14="http://schemas.microsoft.com/office/powerpoint/2010/main" val="2281403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97FACBB-607D-4E97-8D86-9B09235C38CD}" type="datetimeFigureOut">
              <a:rPr lang="zh-CN" altLang="en-US" smtClean="0"/>
              <a:t>2026/9/28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32B3A44-5F43-4DB2-BACF-21EA5497050F}" type="slidenum">
              <a:rPr lang="zh-CN" altLang="en-US" smtClean="0"/>
              <a:t>‹#›</a:t>
            </a:fld>
            <a:endParaRPr lang="zh-CN" altLang="en-US"/>
          </a:p>
        </p:txBody>
      </p:sp>
    </p:spTree>
    <p:extLst>
      <p:ext uri="{BB962C8B-B14F-4D97-AF65-F5344CB8AC3E}">
        <p14:creationId xmlns:p14="http://schemas.microsoft.com/office/powerpoint/2010/main" val="1776823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5"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90"/>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5" y="1076328"/>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97FACBB-607D-4E97-8D86-9B09235C38CD}" type="datetimeFigureOut">
              <a:rPr lang="zh-CN" altLang="en-US" smtClean="0"/>
              <a:t>2026/9/28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32B3A44-5F43-4DB2-BACF-21EA5497050F}" type="slidenum">
              <a:rPr lang="zh-CN" altLang="en-US" smtClean="0"/>
              <a:t>‹#›</a:t>
            </a:fld>
            <a:endParaRPr lang="zh-CN" altLang="en-US"/>
          </a:p>
        </p:txBody>
      </p:sp>
    </p:spTree>
    <p:extLst>
      <p:ext uri="{BB962C8B-B14F-4D97-AF65-F5344CB8AC3E}">
        <p14:creationId xmlns:p14="http://schemas.microsoft.com/office/powerpoint/2010/main" val="4270046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5"/>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97FACBB-607D-4E97-8D86-9B09235C38CD}" type="datetimeFigureOut">
              <a:rPr lang="zh-CN" altLang="en-US" smtClean="0"/>
              <a:t>2026/9/28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32B3A44-5F43-4DB2-BACF-21EA5497050F}" type="slidenum">
              <a:rPr lang="zh-CN" altLang="en-US" smtClean="0"/>
              <a:t>‹#›</a:t>
            </a:fld>
            <a:endParaRPr lang="zh-CN" altLang="en-US"/>
          </a:p>
        </p:txBody>
      </p:sp>
    </p:spTree>
    <p:extLst>
      <p:ext uri="{BB962C8B-B14F-4D97-AF65-F5344CB8AC3E}">
        <p14:creationId xmlns:p14="http://schemas.microsoft.com/office/powerpoint/2010/main" val="3780162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97FACBB-607D-4E97-8D86-9B09235C38CD}" type="datetimeFigureOut">
              <a:rPr lang="zh-CN" altLang="en-US" smtClean="0"/>
              <a:t>2026/9/28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32B3A44-5F43-4DB2-BACF-21EA5497050F}" type="slidenum">
              <a:rPr lang="zh-CN" altLang="en-US" smtClean="0"/>
              <a:t>‹#›</a:t>
            </a:fld>
            <a:endParaRPr lang="zh-CN" altLang="en-US"/>
          </a:p>
        </p:txBody>
      </p:sp>
    </p:spTree>
    <p:extLst>
      <p:ext uri="{BB962C8B-B14F-4D97-AF65-F5344CB8AC3E}">
        <p14:creationId xmlns:p14="http://schemas.microsoft.com/office/powerpoint/2010/main" val="257673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3"/>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3"/>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97FACBB-607D-4E97-8D86-9B09235C38CD}" type="datetimeFigureOut">
              <a:rPr lang="zh-CN" altLang="en-US" smtClean="0"/>
              <a:t>2026/9/28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32B3A44-5F43-4DB2-BACF-21EA5497050F}" type="slidenum">
              <a:rPr lang="zh-CN" altLang="en-US" smtClean="0"/>
              <a:t>‹#›</a:t>
            </a:fld>
            <a:endParaRPr lang="zh-CN" altLang="en-US"/>
          </a:p>
        </p:txBody>
      </p:sp>
    </p:spTree>
    <p:extLst>
      <p:ext uri="{BB962C8B-B14F-4D97-AF65-F5344CB8AC3E}">
        <p14:creationId xmlns:p14="http://schemas.microsoft.com/office/powerpoint/2010/main" val="32915835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5"/>
            <a:ext cx="7772400" cy="1101725"/>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CD98496-4E96-4567-845B-6AF242BFA0CC}" type="datetimeFigureOut">
              <a:rPr lang="zh-CN" altLang="en-US" smtClean="0"/>
              <a:t>2026/9/28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3C577A-B8FD-4ED0-916F-EE67C57FA441}" type="slidenum">
              <a:rPr lang="zh-CN" altLang="en-US" smtClean="0"/>
              <a:t>‹#›</a:t>
            </a:fld>
            <a:endParaRPr lang="zh-CN" altLang="en-US"/>
          </a:p>
        </p:txBody>
      </p:sp>
    </p:spTree>
    <p:extLst>
      <p:ext uri="{BB962C8B-B14F-4D97-AF65-F5344CB8AC3E}">
        <p14:creationId xmlns:p14="http://schemas.microsoft.com/office/powerpoint/2010/main" val="3039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CD98496-4E96-4567-845B-6AF242BFA0CC}" type="datetimeFigureOut">
              <a:rPr lang="zh-CN" altLang="en-US" smtClean="0"/>
              <a:t>2026/9/28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3C577A-B8FD-4ED0-916F-EE67C57FA441}" type="slidenum">
              <a:rPr lang="zh-CN" altLang="en-US" smtClean="0"/>
              <a:t>‹#›</a:t>
            </a:fld>
            <a:endParaRPr lang="zh-CN" altLang="en-US"/>
          </a:p>
        </p:txBody>
      </p:sp>
    </p:spTree>
    <p:extLst>
      <p:ext uri="{BB962C8B-B14F-4D97-AF65-F5344CB8AC3E}">
        <p14:creationId xmlns:p14="http://schemas.microsoft.com/office/powerpoint/2010/main" val="3284550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640"/>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CD98496-4E96-4567-845B-6AF242BFA0CC}" type="datetimeFigureOut">
              <a:rPr lang="zh-CN" altLang="en-US" smtClean="0"/>
              <a:t>2026/9/28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3C577A-B8FD-4ED0-916F-EE67C57FA441}" type="slidenum">
              <a:rPr lang="zh-CN" altLang="en-US" smtClean="0"/>
              <a:t>‹#›</a:t>
            </a:fld>
            <a:endParaRPr lang="zh-CN" altLang="en-US"/>
          </a:p>
        </p:txBody>
      </p:sp>
    </p:spTree>
    <p:extLst>
      <p:ext uri="{BB962C8B-B14F-4D97-AF65-F5344CB8AC3E}">
        <p14:creationId xmlns:p14="http://schemas.microsoft.com/office/powerpoint/2010/main" val="6506179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2"/>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2"/>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CD98496-4E96-4567-845B-6AF242BFA0CC}" type="datetimeFigureOut">
              <a:rPr lang="zh-CN" altLang="en-US" smtClean="0"/>
              <a:t>2026/9/28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63C577A-B8FD-4ED0-916F-EE67C57FA441}" type="slidenum">
              <a:rPr lang="zh-CN" altLang="en-US" smtClean="0"/>
              <a:t>‹#›</a:t>
            </a:fld>
            <a:endParaRPr lang="zh-CN" altLang="en-US"/>
          </a:p>
        </p:txBody>
      </p:sp>
    </p:spTree>
    <p:extLst>
      <p:ext uri="{BB962C8B-B14F-4D97-AF65-F5344CB8AC3E}">
        <p14:creationId xmlns:p14="http://schemas.microsoft.com/office/powerpoint/2010/main" val="33759998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951"/>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9"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9" y="1631951"/>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CD98496-4E96-4567-845B-6AF242BFA0CC}" type="datetimeFigureOut">
              <a:rPr lang="zh-CN" altLang="en-US" smtClean="0"/>
              <a:t>2026/9/28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63C577A-B8FD-4ED0-916F-EE67C57FA441}" type="slidenum">
              <a:rPr lang="zh-CN" altLang="en-US" smtClean="0"/>
              <a:t>‹#›</a:t>
            </a:fld>
            <a:endParaRPr lang="zh-CN" altLang="en-US"/>
          </a:p>
        </p:txBody>
      </p:sp>
    </p:spTree>
    <p:extLst>
      <p:ext uri="{BB962C8B-B14F-4D97-AF65-F5344CB8AC3E}">
        <p14:creationId xmlns:p14="http://schemas.microsoft.com/office/powerpoint/2010/main" val="41724124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CD98496-4E96-4567-845B-6AF242BFA0CC}" type="datetimeFigureOut">
              <a:rPr lang="zh-CN" altLang="en-US" smtClean="0"/>
              <a:t>2026/9/28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63C577A-B8FD-4ED0-916F-EE67C57FA441}" type="slidenum">
              <a:rPr lang="zh-CN" altLang="en-US" smtClean="0"/>
              <a:t>‹#›</a:t>
            </a:fld>
            <a:endParaRPr lang="zh-CN" altLang="en-US"/>
          </a:p>
        </p:txBody>
      </p:sp>
    </p:spTree>
    <p:extLst>
      <p:ext uri="{BB962C8B-B14F-4D97-AF65-F5344CB8AC3E}">
        <p14:creationId xmlns:p14="http://schemas.microsoft.com/office/powerpoint/2010/main" val="9261566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CD98496-4E96-4567-845B-6AF242BFA0CC}" type="datetimeFigureOut">
              <a:rPr lang="zh-CN" altLang="en-US" smtClean="0"/>
              <a:t>2026/9/28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63C577A-B8FD-4ED0-916F-EE67C57FA441}" type="slidenum">
              <a:rPr lang="zh-CN" altLang="en-US" smtClean="0"/>
              <a:t>‹#›</a:t>
            </a:fld>
            <a:endParaRPr lang="zh-CN" altLang="en-US"/>
          </a:p>
        </p:txBody>
      </p:sp>
    </p:spTree>
    <p:extLst>
      <p:ext uri="{BB962C8B-B14F-4D97-AF65-F5344CB8AC3E}">
        <p14:creationId xmlns:p14="http://schemas.microsoft.com/office/powerpoint/2010/main" val="28911671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4" y="204790"/>
            <a:ext cx="3008313" cy="871537"/>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90"/>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4"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CD98496-4E96-4567-845B-6AF242BFA0CC}" type="datetimeFigureOut">
              <a:rPr lang="zh-CN" altLang="en-US" smtClean="0"/>
              <a:t>2026/9/28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63C577A-B8FD-4ED0-916F-EE67C57FA441}" type="slidenum">
              <a:rPr lang="zh-CN" altLang="en-US" smtClean="0"/>
              <a:t>‹#›</a:t>
            </a:fld>
            <a:endParaRPr lang="zh-CN" altLang="en-US"/>
          </a:p>
        </p:txBody>
      </p:sp>
    </p:spTree>
    <p:extLst>
      <p:ext uri="{BB962C8B-B14F-4D97-AF65-F5344CB8AC3E}">
        <p14:creationId xmlns:p14="http://schemas.microsoft.com/office/powerpoint/2010/main" val="16963402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CD98496-4E96-4567-845B-6AF242BFA0CC}" type="datetimeFigureOut">
              <a:rPr lang="zh-CN" altLang="en-US" smtClean="0"/>
              <a:t>2026/9/28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3C577A-B8FD-4ED0-916F-EE67C57FA441}" type="slidenum">
              <a:rPr lang="zh-CN" altLang="en-US" smtClean="0"/>
              <a:t>‹#›</a:t>
            </a:fld>
            <a:endParaRPr lang="zh-CN" altLang="en-US"/>
          </a:p>
        </p:txBody>
      </p:sp>
    </p:spTree>
    <p:extLst>
      <p:ext uri="{BB962C8B-B14F-4D97-AF65-F5344CB8AC3E}">
        <p14:creationId xmlns:p14="http://schemas.microsoft.com/office/powerpoint/2010/main" val="40781993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CD98496-4E96-4567-845B-6AF242BFA0CC}" type="datetimeFigureOut">
              <a:rPr lang="zh-CN" altLang="en-US" smtClean="0"/>
              <a:t>2026/9/28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63C577A-B8FD-4ED0-916F-EE67C57FA441}" type="slidenum">
              <a:rPr lang="zh-CN" altLang="en-US" smtClean="0"/>
              <a:t>‹#›</a:t>
            </a:fld>
            <a:endParaRPr lang="zh-CN" altLang="en-US"/>
          </a:p>
        </p:txBody>
      </p:sp>
    </p:spTree>
    <p:extLst>
      <p:ext uri="{BB962C8B-B14F-4D97-AF65-F5344CB8AC3E}">
        <p14:creationId xmlns:p14="http://schemas.microsoft.com/office/powerpoint/2010/main" val="6640467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5"/>
            <a:ext cx="7772400" cy="11017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4767265"/>
            <a:ext cx="2133600" cy="274637"/>
          </a:xfrm>
          <a:prstGeom prst="rect">
            <a:avLst/>
          </a:prstGeom>
        </p:spPr>
        <p:txBody>
          <a:bodyPr/>
          <a:lstStyle/>
          <a:p>
            <a:fld id="{8E65F952-5E82-4DE2-A1EB-18C7560ABA85}" type="datetimeFigureOut">
              <a:rPr lang="zh-CN" altLang="en-US" smtClean="0"/>
              <a:t>2026/9/28</a:t>
            </a:fld>
            <a:endParaRPr lang="zh-CN" altLang="en-US"/>
          </a:p>
        </p:txBody>
      </p:sp>
      <p:sp>
        <p:nvSpPr>
          <p:cNvPr id="5" name="页脚占位符 4"/>
          <p:cNvSpPr>
            <a:spLocks noGrp="1"/>
          </p:cNvSpPr>
          <p:nvPr>
            <p:ph type="ftr" sz="quarter" idx="11"/>
          </p:nvPr>
        </p:nvSpPr>
        <p:spPr>
          <a:xfrm>
            <a:off x="3124200" y="4767265"/>
            <a:ext cx="2895600" cy="274637"/>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8F840FC5-5191-4DDB-8072-3985EC011144}" type="slidenum">
              <a:rPr lang="zh-CN" altLang="en-US" smtClean="0"/>
              <a:t>‹#›</a:t>
            </a:fld>
            <a:endParaRPr lang="zh-CN" altLang="en-US"/>
          </a:p>
        </p:txBody>
      </p:sp>
    </p:spTree>
    <p:extLst>
      <p:ext uri="{BB962C8B-B14F-4D97-AF65-F5344CB8AC3E}">
        <p14:creationId xmlns:p14="http://schemas.microsoft.com/office/powerpoint/2010/main" val="32893221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2"/>
            <a:ext cx="8229600" cy="33940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5"/>
            <a:ext cx="2133600" cy="274637"/>
          </a:xfrm>
          <a:prstGeom prst="rect">
            <a:avLst/>
          </a:prstGeom>
        </p:spPr>
        <p:txBody>
          <a:bodyPr/>
          <a:lstStyle/>
          <a:p>
            <a:fld id="{8E65F952-5E82-4DE2-A1EB-18C7560ABA85}" type="datetimeFigureOut">
              <a:rPr lang="zh-CN" altLang="en-US" smtClean="0"/>
              <a:t>2026/9/28</a:t>
            </a:fld>
            <a:endParaRPr lang="zh-CN" altLang="en-US"/>
          </a:p>
        </p:txBody>
      </p:sp>
      <p:sp>
        <p:nvSpPr>
          <p:cNvPr id="5" name="页脚占位符 4"/>
          <p:cNvSpPr>
            <a:spLocks noGrp="1"/>
          </p:cNvSpPr>
          <p:nvPr>
            <p:ph type="ftr" sz="quarter" idx="11"/>
          </p:nvPr>
        </p:nvSpPr>
        <p:spPr>
          <a:xfrm>
            <a:off x="3124200" y="4767265"/>
            <a:ext cx="2895600" cy="274637"/>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8F840FC5-5191-4DDB-8072-3985EC011144}" type="slidenum">
              <a:rPr lang="zh-CN" altLang="en-US" smtClean="0"/>
              <a:t>‹#›</a:t>
            </a:fld>
            <a:endParaRPr lang="zh-CN" altLang="en-US"/>
          </a:p>
        </p:txBody>
      </p:sp>
    </p:spTree>
    <p:extLst>
      <p:ext uri="{BB962C8B-B14F-4D97-AF65-F5344CB8AC3E}">
        <p14:creationId xmlns:p14="http://schemas.microsoft.com/office/powerpoint/2010/main" val="30593375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640"/>
            <a:ext cx="7772400" cy="112553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5"/>
            <a:ext cx="2133600" cy="274637"/>
          </a:xfrm>
          <a:prstGeom prst="rect">
            <a:avLst/>
          </a:prstGeom>
        </p:spPr>
        <p:txBody>
          <a:bodyPr/>
          <a:lstStyle/>
          <a:p>
            <a:fld id="{8E65F952-5E82-4DE2-A1EB-18C7560ABA85}" type="datetimeFigureOut">
              <a:rPr lang="zh-CN" altLang="en-US" smtClean="0"/>
              <a:t>2026/9/28</a:t>
            </a:fld>
            <a:endParaRPr lang="zh-CN" altLang="en-US"/>
          </a:p>
        </p:txBody>
      </p:sp>
      <p:sp>
        <p:nvSpPr>
          <p:cNvPr id="5" name="页脚占位符 4"/>
          <p:cNvSpPr>
            <a:spLocks noGrp="1"/>
          </p:cNvSpPr>
          <p:nvPr>
            <p:ph type="ftr" sz="quarter" idx="11"/>
          </p:nvPr>
        </p:nvSpPr>
        <p:spPr>
          <a:xfrm>
            <a:off x="3124200" y="4767265"/>
            <a:ext cx="2895600" cy="274637"/>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8F840FC5-5191-4DDB-8072-3985EC011144}" type="slidenum">
              <a:rPr lang="zh-CN" altLang="en-US" smtClean="0"/>
              <a:t>‹#›</a:t>
            </a:fld>
            <a:endParaRPr lang="zh-CN" altLang="en-US"/>
          </a:p>
        </p:txBody>
      </p:sp>
    </p:spTree>
    <p:extLst>
      <p:ext uri="{BB962C8B-B14F-4D97-AF65-F5344CB8AC3E}">
        <p14:creationId xmlns:p14="http://schemas.microsoft.com/office/powerpoint/2010/main" val="5663687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200152"/>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2"/>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5"/>
            <a:ext cx="2133600" cy="274637"/>
          </a:xfrm>
          <a:prstGeom prst="rect">
            <a:avLst/>
          </a:prstGeom>
        </p:spPr>
        <p:txBody>
          <a:bodyPr/>
          <a:lstStyle/>
          <a:p>
            <a:fld id="{8E65F952-5E82-4DE2-A1EB-18C7560ABA85}" type="datetimeFigureOut">
              <a:rPr lang="zh-CN" altLang="en-US" smtClean="0"/>
              <a:t>2026/9/28</a:t>
            </a:fld>
            <a:endParaRPr lang="zh-CN" altLang="en-US"/>
          </a:p>
        </p:txBody>
      </p:sp>
      <p:sp>
        <p:nvSpPr>
          <p:cNvPr id="6" name="页脚占位符 5"/>
          <p:cNvSpPr>
            <a:spLocks noGrp="1"/>
          </p:cNvSpPr>
          <p:nvPr>
            <p:ph type="ftr" sz="quarter" idx="11"/>
          </p:nvPr>
        </p:nvSpPr>
        <p:spPr>
          <a:xfrm>
            <a:off x="3124200" y="4767265"/>
            <a:ext cx="2895600" cy="274637"/>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8F840FC5-5191-4DDB-8072-3985EC011144}" type="slidenum">
              <a:rPr lang="zh-CN" altLang="en-US" smtClean="0"/>
              <a:t>‹#›</a:t>
            </a:fld>
            <a:endParaRPr lang="zh-CN" altLang="en-US"/>
          </a:p>
        </p:txBody>
      </p:sp>
    </p:spTree>
    <p:extLst>
      <p:ext uri="{BB962C8B-B14F-4D97-AF65-F5344CB8AC3E}">
        <p14:creationId xmlns:p14="http://schemas.microsoft.com/office/powerpoint/2010/main" val="1244365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951"/>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9"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9" y="1631951"/>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5"/>
            <a:ext cx="2133600" cy="274637"/>
          </a:xfrm>
          <a:prstGeom prst="rect">
            <a:avLst/>
          </a:prstGeom>
        </p:spPr>
        <p:txBody>
          <a:bodyPr/>
          <a:lstStyle/>
          <a:p>
            <a:fld id="{8E65F952-5E82-4DE2-A1EB-18C7560ABA85}" type="datetimeFigureOut">
              <a:rPr lang="zh-CN" altLang="en-US" smtClean="0"/>
              <a:t>2026/9/28</a:t>
            </a:fld>
            <a:endParaRPr lang="zh-CN" altLang="en-US"/>
          </a:p>
        </p:txBody>
      </p:sp>
      <p:sp>
        <p:nvSpPr>
          <p:cNvPr id="8" name="页脚占位符 7"/>
          <p:cNvSpPr>
            <a:spLocks noGrp="1"/>
          </p:cNvSpPr>
          <p:nvPr>
            <p:ph type="ftr" sz="quarter" idx="11"/>
          </p:nvPr>
        </p:nvSpPr>
        <p:spPr>
          <a:xfrm>
            <a:off x="3124200" y="4767265"/>
            <a:ext cx="2895600" cy="274637"/>
          </a:xfrm>
          <a:prstGeom prst="rect">
            <a:avLst/>
          </a:prstGeom>
        </p:spPr>
        <p:txBody>
          <a:bodyPr/>
          <a:lstStyle/>
          <a:p>
            <a:endParaRPr lang="zh-CN" altLang="en-US"/>
          </a:p>
        </p:txBody>
      </p:sp>
      <p:sp>
        <p:nvSpPr>
          <p:cNvPr id="9" name="灯片编号占位符 8"/>
          <p:cNvSpPr>
            <a:spLocks noGrp="1"/>
          </p:cNvSpPr>
          <p:nvPr>
            <p:ph type="sldNum" sz="quarter" idx="12"/>
          </p:nvPr>
        </p:nvSpPr>
        <p:spPr/>
        <p:txBody>
          <a:bodyPr/>
          <a:lstStyle/>
          <a:p>
            <a:fld id="{8F840FC5-5191-4DDB-8072-3985EC011144}" type="slidenum">
              <a:rPr lang="zh-CN" altLang="en-US" smtClean="0"/>
              <a:t>‹#›</a:t>
            </a:fld>
            <a:endParaRPr lang="zh-CN" altLang="en-US"/>
          </a:p>
        </p:txBody>
      </p:sp>
    </p:spTree>
    <p:extLst>
      <p:ext uri="{BB962C8B-B14F-4D97-AF65-F5344CB8AC3E}">
        <p14:creationId xmlns:p14="http://schemas.microsoft.com/office/powerpoint/2010/main" val="34190837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5"/>
            <a:ext cx="2133600" cy="274637"/>
          </a:xfrm>
          <a:prstGeom prst="rect">
            <a:avLst/>
          </a:prstGeom>
        </p:spPr>
        <p:txBody>
          <a:bodyPr/>
          <a:lstStyle/>
          <a:p>
            <a:fld id="{8E65F952-5E82-4DE2-A1EB-18C7560ABA85}" type="datetimeFigureOut">
              <a:rPr lang="zh-CN" altLang="en-US" smtClean="0"/>
              <a:t>2026/9/28</a:t>
            </a:fld>
            <a:endParaRPr lang="zh-CN" altLang="en-US"/>
          </a:p>
        </p:txBody>
      </p:sp>
      <p:sp>
        <p:nvSpPr>
          <p:cNvPr id="4" name="页脚占位符 3"/>
          <p:cNvSpPr>
            <a:spLocks noGrp="1"/>
          </p:cNvSpPr>
          <p:nvPr>
            <p:ph type="ftr" sz="quarter" idx="11"/>
          </p:nvPr>
        </p:nvSpPr>
        <p:spPr>
          <a:xfrm>
            <a:off x="3124200" y="4767265"/>
            <a:ext cx="2895600" cy="274637"/>
          </a:xfrm>
          <a:prstGeom prst="rect">
            <a:avLst/>
          </a:prstGeom>
        </p:spPr>
        <p:txBody>
          <a:bodyPr/>
          <a:lstStyle/>
          <a:p>
            <a:endParaRPr lang="zh-CN" altLang="en-US"/>
          </a:p>
        </p:txBody>
      </p:sp>
      <p:sp>
        <p:nvSpPr>
          <p:cNvPr id="5" name="灯片编号占位符 4"/>
          <p:cNvSpPr>
            <a:spLocks noGrp="1"/>
          </p:cNvSpPr>
          <p:nvPr>
            <p:ph type="sldNum" sz="quarter" idx="12"/>
          </p:nvPr>
        </p:nvSpPr>
        <p:spPr/>
        <p:txBody>
          <a:bodyPr/>
          <a:lstStyle/>
          <a:p>
            <a:fld id="{8F840FC5-5191-4DDB-8072-3985EC011144}" type="slidenum">
              <a:rPr lang="zh-CN" altLang="en-US" smtClean="0"/>
              <a:t>‹#›</a:t>
            </a:fld>
            <a:endParaRPr lang="zh-CN" altLang="en-US"/>
          </a:p>
        </p:txBody>
      </p:sp>
    </p:spTree>
    <p:extLst>
      <p:ext uri="{BB962C8B-B14F-4D97-AF65-F5344CB8AC3E}">
        <p14:creationId xmlns:p14="http://schemas.microsoft.com/office/powerpoint/2010/main" val="5104282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5"/>
            <a:ext cx="2133600" cy="274637"/>
          </a:xfrm>
          <a:prstGeom prst="rect">
            <a:avLst/>
          </a:prstGeom>
        </p:spPr>
        <p:txBody>
          <a:bodyPr/>
          <a:lstStyle/>
          <a:p>
            <a:fld id="{8E65F952-5E82-4DE2-A1EB-18C7560ABA85}" type="datetimeFigureOut">
              <a:rPr lang="zh-CN" altLang="en-US" smtClean="0"/>
              <a:t>2026/9/28</a:t>
            </a:fld>
            <a:endParaRPr lang="zh-CN" altLang="en-US"/>
          </a:p>
        </p:txBody>
      </p:sp>
      <p:sp>
        <p:nvSpPr>
          <p:cNvPr id="3" name="页脚占位符 2"/>
          <p:cNvSpPr>
            <a:spLocks noGrp="1"/>
          </p:cNvSpPr>
          <p:nvPr>
            <p:ph type="ftr" sz="quarter" idx="11"/>
          </p:nvPr>
        </p:nvSpPr>
        <p:spPr>
          <a:xfrm>
            <a:off x="3124200" y="4767265"/>
            <a:ext cx="2895600" cy="274637"/>
          </a:xfrm>
          <a:prstGeom prst="rect">
            <a:avLst/>
          </a:prstGeom>
        </p:spPr>
        <p:txBody>
          <a:bodyPr/>
          <a:lstStyle/>
          <a:p>
            <a:endParaRPr lang="zh-CN" altLang="en-US"/>
          </a:p>
        </p:txBody>
      </p:sp>
      <p:sp>
        <p:nvSpPr>
          <p:cNvPr id="4" name="灯片编号占位符 3"/>
          <p:cNvSpPr>
            <a:spLocks noGrp="1"/>
          </p:cNvSpPr>
          <p:nvPr>
            <p:ph type="sldNum" sz="quarter" idx="12"/>
          </p:nvPr>
        </p:nvSpPr>
        <p:spPr/>
        <p:txBody>
          <a:bodyPr/>
          <a:lstStyle/>
          <a:p>
            <a:fld id="{8F840FC5-5191-4DDB-8072-3985EC011144}" type="slidenum">
              <a:rPr lang="zh-CN" altLang="en-US" smtClean="0"/>
              <a:t>‹#›</a:t>
            </a:fld>
            <a:endParaRPr lang="zh-CN" altLang="en-US"/>
          </a:p>
        </p:txBody>
      </p:sp>
    </p:spTree>
    <p:extLst>
      <p:ext uri="{BB962C8B-B14F-4D97-AF65-F5344CB8AC3E}">
        <p14:creationId xmlns:p14="http://schemas.microsoft.com/office/powerpoint/2010/main" val="8468332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4" y="204790"/>
            <a:ext cx="3008313" cy="871537"/>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90"/>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4"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5"/>
            <a:ext cx="2133600" cy="274637"/>
          </a:xfrm>
          <a:prstGeom prst="rect">
            <a:avLst/>
          </a:prstGeom>
        </p:spPr>
        <p:txBody>
          <a:bodyPr/>
          <a:lstStyle/>
          <a:p>
            <a:fld id="{8E65F952-5E82-4DE2-A1EB-18C7560ABA85}" type="datetimeFigureOut">
              <a:rPr lang="zh-CN" altLang="en-US" smtClean="0"/>
              <a:t>2026/9/28</a:t>
            </a:fld>
            <a:endParaRPr lang="zh-CN" altLang="en-US"/>
          </a:p>
        </p:txBody>
      </p:sp>
      <p:sp>
        <p:nvSpPr>
          <p:cNvPr id="6" name="页脚占位符 5"/>
          <p:cNvSpPr>
            <a:spLocks noGrp="1"/>
          </p:cNvSpPr>
          <p:nvPr>
            <p:ph type="ftr" sz="quarter" idx="11"/>
          </p:nvPr>
        </p:nvSpPr>
        <p:spPr>
          <a:xfrm>
            <a:off x="3124200" y="4767265"/>
            <a:ext cx="2895600" cy="274637"/>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8F840FC5-5191-4DDB-8072-3985EC011144}" type="slidenum">
              <a:rPr lang="zh-CN" altLang="en-US" smtClean="0"/>
              <a:t>‹#›</a:t>
            </a:fld>
            <a:endParaRPr lang="zh-CN" altLang="en-US"/>
          </a:p>
        </p:txBody>
      </p:sp>
    </p:spTree>
    <p:extLst>
      <p:ext uri="{BB962C8B-B14F-4D97-AF65-F5344CB8AC3E}">
        <p14:creationId xmlns:p14="http://schemas.microsoft.com/office/powerpoint/2010/main" val="338441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450"/>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901"/>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5"/>
            <a:ext cx="2133600" cy="274637"/>
          </a:xfrm>
          <a:prstGeom prst="rect">
            <a:avLst/>
          </a:prstGeom>
        </p:spPr>
        <p:txBody>
          <a:bodyPr/>
          <a:lstStyle/>
          <a:p>
            <a:fld id="{8E65F952-5E82-4DE2-A1EB-18C7560ABA85}" type="datetimeFigureOut">
              <a:rPr lang="zh-CN" altLang="en-US" smtClean="0"/>
              <a:t>2026/9/28</a:t>
            </a:fld>
            <a:endParaRPr lang="zh-CN" altLang="en-US"/>
          </a:p>
        </p:txBody>
      </p:sp>
      <p:sp>
        <p:nvSpPr>
          <p:cNvPr id="6" name="页脚占位符 5"/>
          <p:cNvSpPr>
            <a:spLocks noGrp="1"/>
          </p:cNvSpPr>
          <p:nvPr>
            <p:ph type="ftr" sz="quarter" idx="11"/>
          </p:nvPr>
        </p:nvSpPr>
        <p:spPr>
          <a:xfrm>
            <a:off x="3124200" y="4767265"/>
            <a:ext cx="2895600" cy="274637"/>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8F840FC5-5191-4DDB-8072-3985EC011144}" type="slidenum">
              <a:rPr lang="zh-CN" altLang="en-US" smtClean="0"/>
              <a:t>‹#›</a:t>
            </a:fld>
            <a:endParaRPr lang="zh-CN" altLang="en-US"/>
          </a:p>
        </p:txBody>
      </p:sp>
    </p:spTree>
    <p:extLst>
      <p:ext uri="{BB962C8B-B14F-4D97-AF65-F5344CB8AC3E}">
        <p14:creationId xmlns:p14="http://schemas.microsoft.com/office/powerpoint/2010/main" val="19348490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2"/>
            <a:ext cx="8229600" cy="33940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5"/>
            <a:ext cx="2133600" cy="274637"/>
          </a:xfrm>
          <a:prstGeom prst="rect">
            <a:avLst/>
          </a:prstGeom>
        </p:spPr>
        <p:txBody>
          <a:bodyPr/>
          <a:lstStyle/>
          <a:p>
            <a:fld id="{8E65F952-5E82-4DE2-A1EB-18C7560ABA85}" type="datetimeFigureOut">
              <a:rPr lang="zh-CN" altLang="en-US" smtClean="0"/>
              <a:t>2026/9/28</a:t>
            </a:fld>
            <a:endParaRPr lang="zh-CN" altLang="en-US"/>
          </a:p>
        </p:txBody>
      </p:sp>
      <p:sp>
        <p:nvSpPr>
          <p:cNvPr id="5" name="页脚占位符 4"/>
          <p:cNvSpPr>
            <a:spLocks noGrp="1"/>
          </p:cNvSpPr>
          <p:nvPr>
            <p:ph type="ftr" sz="quarter" idx="11"/>
          </p:nvPr>
        </p:nvSpPr>
        <p:spPr>
          <a:xfrm>
            <a:off x="3124200" y="4767265"/>
            <a:ext cx="2895600" cy="274637"/>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8F840FC5-5191-4DDB-8072-3985EC011144}" type="slidenum">
              <a:rPr lang="zh-CN" altLang="en-US" smtClean="0"/>
              <a:t>‹#›</a:t>
            </a:fld>
            <a:endParaRPr lang="zh-CN" altLang="en-US"/>
          </a:p>
        </p:txBody>
      </p:sp>
    </p:spTree>
    <p:extLst>
      <p:ext uri="{BB962C8B-B14F-4D97-AF65-F5344CB8AC3E}">
        <p14:creationId xmlns:p14="http://schemas.microsoft.com/office/powerpoint/2010/main" val="38359279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7"/>
            <a:ext cx="2057400" cy="438785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377"/>
            <a:ext cx="6019800" cy="43878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5"/>
            <a:ext cx="2133600" cy="274637"/>
          </a:xfrm>
          <a:prstGeom prst="rect">
            <a:avLst/>
          </a:prstGeom>
        </p:spPr>
        <p:txBody>
          <a:bodyPr/>
          <a:lstStyle/>
          <a:p>
            <a:fld id="{8E65F952-5E82-4DE2-A1EB-18C7560ABA85}" type="datetimeFigureOut">
              <a:rPr lang="zh-CN" altLang="en-US" smtClean="0"/>
              <a:t>2026/9/28</a:t>
            </a:fld>
            <a:endParaRPr lang="zh-CN" altLang="en-US"/>
          </a:p>
        </p:txBody>
      </p:sp>
      <p:sp>
        <p:nvSpPr>
          <p:cNvPr id="5" name="页脚占位符 4"/>
          <p:cNvSpPr>
            <a:spLocks noGrp="1"/>
          </p:cNvSpPr>
          <p:nvPr>
            <p:ph type="ftr" sz="quarter" idx="11"/>
          </p:nvPr>
        </p:nvSpPr>
        <p:spPr>
          <a:xfrm>
            <a:off x="3124200" y="4767265"/>
            <a:ext cx="2895600" cy="274637"/>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8F840FC5-5191-4DDB-8072-3985EC011144}" type="slidenum">
              <a:rPr lang="zh-CN" altLang="en-US" smtClean="0"/>
              <a:t>‹#›</a:t>
            </a:fld>
            <a:endParaRPr lang="zh-CN" altLang="en-US"/>
          </a:p>
        </p:txBody>
      </p:sp>
    </p:spTree>
    <p:extLst>
      <p:ext uri="{BB962C8B-B14F-4D97-AF65-F5344CB8AC3E}">
        <p14:creationId xmlns:p14="http://schemas.microsoft.com/office/powerpoint/2010/main" val="266652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image" Target="../media/image1.jpg"/><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71000">
              <a:schemeClr val="bg1"/>
            </a:gs>
            <a:gs pos="39000">
              <a:schemeClr val="bg1">
                <a:lumMod val="95000"/>
              </a:schemeClr>
            </a:gs>
            <a:gs pos="0">
              <a:srgbClr val="8EA5C0"/>
            </a:gs>
            <a:gs pos="100000">
              <a:srgbClr val="8CADD4"/>
            </a:gs>
          </a:gsLst>
          <a:lin ang="13500000" scaled="1"/>
          <a:tileRect/>
        </a:gra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F97FACBB-607D-4E97-8D86-9B09235C38CD}" type="datetimeFigureOut">
              <a:rPr lang="zh-CN" altLang="en-US" smtClean="0"/>
              <a:t>2026/9/28</a:t>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32B3A44-5F43-4DB2-BACF-21EA5497050F}" type="slidenum">
              <a:rPr lang="zh-CN" altLang="en-US" smtClean="0"/>
              <a:t>‹#›</a:t>
            </a:fld>
            <a:endParaRPr lang="zh-CN" altLang="en-US"/>
          </a:p>
        </p:txBody>
      </p:sp>
    </p:spTree>
    <p:extLst>
      <p:ext uri="{BB962C8B-B14F-4D97-AF65-F5344CB8AC3E}">
        <p14:creationId xmlns:p14="http://schemas.microsoft.com/office/powerpoint/2010/main" val="11678726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71000">
              <a:schemeClr val="bg1"/>
            </a:gs>
            <a:gs pos="39000">
              <a:schemeClr val="bg1">
                <a:lumMod val="95000"/>
              </a:schemeClr>
            </a:gs>
            <a:gs pos="0">
              <a:schemeClr val="bg1">
                <a:lumMod val="50000"/>
              </a:schemeClr>
            </a:gs>
            <a:gs pos="100000">
              <a:schemeClr val="bg1">
                <a:lumMod val="50000"/>
              </a:schemeClr>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2"/>
            <a:ext cx="8229600" cy="339407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5"/>
            <a:ext cx="21336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ACD98496-4E96-4567-845B-6AF242BFA0CC}" type="datetimeFigureOut">
              <a:rPr lang="zh-CN" altLang="en-US" smtClean="0"/>
              <a:t>2026/9/28</a:t>
            </a:fld>
            <a:endParaRPr lang="zh-CN" altLang="en-US"/>
          </a:p>
        </p:txBody>
      </p:sp>
      <p:sp>
        <p:nvSpPr>
          <p:cNvPr id="5" name="页脚占位符 4"/>
          <p:cNvSpPr>
            <a:spLocks noGrp="1"/>
          </p:cNvSpPr>
          <p:nvPr>
            <p:ph type="ftr" sz="quarter" idx="3"/>
          </p:nvPr>
        </p:nvSpPr>
        <p:spPr>
          <a:xfrm>
            <a:off x="3124200" y="4767265"/>
            <a:ext cx="28956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5"/>
            <a:ext cx="21336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163C577A-B8FD-4ED0-916F-EE67C57FA441}" type="slidenum">
              <a:rPr lang="zh-CN" altLang="en-US" smtClean="0"/>
              <a:t>‹#›</a:t>
            </a:fld>
            <a:endParaRPr lang="zh-CN" altLang="en-US"/>
          </a:p>
        </p:txBody>
      </p:sp>
    </p:spTree>
    <p:extLst>
      <p:ext uri="{BB962C8B-B14F-4D97-AF65-F5344CB8AC3E}">
        <p14:creationId xmlns:p14="http://schemas.microsoft.com/office/powerpoint/2010/main" val="303486983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2" r:id="rId9"/>
    <p:sldLayoutId id="2147483684" r:id="rId10"/>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71000">
              <a:schemeClr val="bg1"/>
            </a:gs>
            <a:gs pos="39000">
              <a:schemeClr val="bg1">
                <a:lumMod val="95000"/>
              </a:schemeClr>
            </a:gs>
            <a:gs pos="0">
              <a:schemeClr val="bg1">
                <a:lumMod val="50000"/>
              </a:schemeClr>
            </a:gs>
            <a:gs pos="100000">
              <a:schemeClr val="bg1">
                <a:lumMod val="50000"/>
              </a:schemeClr>
            </a:gs>
          </a:gsLst>
          <a:lin ang="13500000" scaled="1"/>
          <a:tileRect/>
        </a:gradFill>
        <a:effectLst/>
      </p:bgPr>
    </p:bg>
    <p:spTree>
      <p:nvGrpSpPr>
        <p:cNvPr id="1" name=""/>
        <p:cNvGrpSpPr/>
        <p:nvPr/>
      </p:nvGrpSpPr>
      <p:grpSpPr>
        <a:xfrm>
          <a:off x="0" y="0"/>
          <a:ext cx="0" cy="0"/>
          <a:chOff x="0" y="0"/>
          <a:chExt cx="0" cy="0"/>
        </a:xfrm>
      </p:grpSpPr>
      <p:sp>
        <p:nvSpPr>
          <p:cNvPr id="6" name="灯片编号占位符 5"/>
          <p:cNvSpPr>
            <a:spLocks noGrp="1"/>
          </p:cNvSpPr>
          <p:nvPr>
            <p:ph type="sldNum" sz="quarter" idx="4"/>
          </p:nvPr>
        </p:nvSpPr>
        <p:spPr>
          <a:xfrm>
            <a:off x="6553200" y="4767265"/>
            <a:ext cx="21336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8F840FC5-5191-4DDB-8072-3985EC011144}" type="slidenum">
              <a:rPr lang="zh-CN" altLang="en-US" smtClean="0"/>
              <a:t>‹#›</a:t>
            </a:fld>
            <a:endParaRPr lang="zh-CN" altLang="en-US"/>
          </a:p>
        </p:txBody>
      </p:sp>
      <p:pic>
        <p:nvPicPr>
          <p:cNvPr id="7" name="图片 6"/>
          <p:cNvPicPr>
            <a:picLocks noChangeAspect="1"/>
          </p:cNvPicPr>
          <p:nvPr/>
        </p:nvPicPr>
        <p:blipFill rotWithShape="1">
          <a:blip r:embed="rId13" cstate="print">
            <a:extLst>
              <a:ext uri="{28A0092B-C50C-407E-A947-70E740481C1C}">
                <a14:useLocalDpi xmlns:a14="http://schemas.microsoft.com/office/drawing/2010/main" val="0"/>
              </a:ext>
            </a:extLst>
          </a:blip>
          <a:srcRect l="20531" t="-503" r="45073" b="503"/>
          <a:stretch/>
        </p:blipFill>
        <p:spPr>
          <a:xfrm>
            <a:off x="-2484784" y="-92546"/>
            <a:ext cx="6156176" cy="5250459"/>
          </a:xfrm>
          <a:prstGeom prst="flowChartDelay">
            <a:avLst/>
          </a:prstGeom>
          <a:ln w="53975">
            <a:solidFill>
              <a:schemeClr val="bg1">
                <a:lumMod val="50000"/>
              </a:schemeClr>
            </a:solidFill>
          </a:ln>
          <a:effectLst>
            <a:outerShdw blurRad="76200" dir="18900000" sy="23000" kx="-1200000" algn="bl" rotWithShape="0">
              <a:prstClr val="black">
                <a:alpha val="20000"/>
              </a:prstClr>
            </a:outerShdw>
          </a:effectLst>
        </p:spPr>
      </p:pic>
    </p:spTree>
    <p:extLst>
      <p:ext uri="{BB962C8B-B14F-4D97-AF65-F5344CB8AC3E}">
        <p14:creationId xmlns:p14="http://schemas.microsoft.com/office/powerpoint/2010/main" val="31276524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audio" Target="../media/audio4.wav"/><Relationship Id="rId5" Type="http://schemas.openxmlformats.org/officeDocument/2006/relationships/audio" Target="../media/audio3.wav"/><Relationship Id="rId4" Type="http://schemas.openxmlformats.org/officeDocument/2006/relationships/audio" Target="../media/audio2.wav"/></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vcexpress%20D:/c++/&#25945;&#23398;&#32451;&#20064;/cin/cin.sln"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vcexpress%20D:/c++/&#25945;&#23398;&#32451;&#20064;/cin/cin.sln"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vcexpress%20D:/c++/&#25945;&#23398;&#32451;&#20064;/cin/cin.sln"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hidden="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395" y="5020022"/>
            <a:ext cx="5018087" cy="128587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 name="Picture 4" descr="G:\稻壳儿\5\miracomunicazione\shadow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0313" y="3435848"/>
            <a:ext cx="9154312" cy="490281"/>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p:cNvGrpSpPr/>
          <p:nvPr/>
        </p:nvGrpSpPr>
        <p:grpSpPr>
          <a:xfrm>
            <a:off x="200353" y="3435935"/>
            <a:ext cx="3644526" cy="1370955"/>
            <a:chOff x="554475" y="2194272"/>
            <a:chExt cx="3509600" cy="2440613"/>
          </a:xfrm>
        </p:grpSpPr>
        <p:sp>
          <p:nvSpPr>
            <p:cNvPr id="34" name="剪去单角的矩形 33"/>
            <p:cNvSpPr/>
            <p:nvPr/>
          </p:nvSpPr>
          <p:spPr>
            <a:xfrm>
              <a:off x="956949" y="2660849"/>
              <a:ext cx="2809159" cy="1508851"/>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1576574" y="3039740"/>
              <a:ext cx="2189534" cy="369332"/>
            </a:xfrm>
            <a:prstGeom prst="rect">
              <a:avLst/>
            </a:prstGeom>
            <a:noFill/>
          </p:spPr>
          <p:txBody>
            <a:bodyPr wrap="square" rtlCol="0">
              <a:spAutoFit/>
            </a:bodyPr>
            <a:lstStyle/>
            <a:p>
              <a:r>
                <a:rPr lang="zh-CN" altLang="en-US" b="1" dirty="0">
                  <a:solidFill>
                    <a:schemeClr val="bg1"/>
                  </a:solidFill>
                  <a:latin typeface="微软雅黑" pitchFamily="34" charset="-122"/>
                  <a:ea typeface="微软雅黑" pitchFamily="34" charset="-122"/>
                </a:rPr>
                <a:t>第  </a:t>
              </a:r>
              <a:r>
                <a:rPr lang="en-US" altLang="zh-CN" b="1" dirty="0">
                  <a:solidFill>
                    <a:schemeClr val="bg1"/>
                  </a:solidFill>
                  <a:latin typeface="微软雅黑" pitchFamily="34" charset="-122"/>
                  <a:ea typeface="微软雅黑" pitchFamily="34" charset="-122"/>
                </a:rPr>
                <a:t>2  </a:t>
              </a:r>
              <a:r>
                <a:rPr lang="zh-CN" altLang="en-US" b="1" dirty="0">
                  <a:solidFill>
                    <a:schemeClr val="bg1"/>
                  </a:solidFill>
                  <a:latin typeface="微软雅黑" pitchFamily="34" charset="-122"/>
                  <a:ea typeface="微软雅黑" pitchFamily="34" charset="-122"/>
                </a:rPr>
                <a:t>章</a:t>
              </a:r>
            </a:p>
          </p:txBody>
        </p:sp>
        <p:pic>
          <p:nvPicPr>
            <p:cNvPr id="37" name="Picture 4" descr="G:\稻壳儿\5\miracomunicazione\shadow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554475" y="4144604"/>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554475" y="2194272"/>
              <a:ext cx="3376184" cy="49028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278607" y="3435846"/>
              <a:ext cx="2785468" cy="369332"/>
            </a:xfrm>
            <a:prstGeom prst="rect">
              <a:avLst/>
            </a:prstGeom>
            <a:noFill/>
          </p:spPr>
          <p:txBody>
            <a:bodyPr wrap="square" rtlCol="0">
              <a:spAutoFit/>
            </a:bodyPr>
            <a:lstStyle/>
            <a:p>
              <a:r>
                <a:rPr lang="zh-CN" altLang="en-US" b="1" dirty="0">
                  <a:solidFill>
                    <a:schemeClr val="bg1"/>
                  </a:solidFill>
                  <a:latin typeface="微软雅黑" pitchFamily="34" charset="-122"/>
                  <a:ea typeface="微软雅黑" pitchFamily="34" charset="-122"/>
                </a:rPr>
                <a:t>程序设计入门</a:t>
              </a:r>
              <a:r>
                <a:rPr lang="en-US" altLang="zh-CN" b="1" dirty="0">
                  <a:solidFill>
                    <a:schemeClr val="bg1"/>
                  </a:solidFill>
                  <a:latin typeface="微软雅黑" pitchFamily="34" charset="-122"/>
                  <a:ea typeface="微软雅黑" pitchFamily="34" charset="-122"/>
                </a:rPr>
                <a:t>-</a:t>
              </a:r>
              <a:r>
                <a:rPr lang="zh-CN" altLang="en-US" b="1" dirty="0">
                  <a:solidFill>
                    <a:schemeClr val="bg1"/>
                  </a:solidFill>
                  <a:latin typeface="微软雅黑" pitchFamily="34" charset="-122"/>
                  <a:ea typeface="微软雅黑" pitchFamily="34" charset="-122"/>
                </a:rPr>
                <a:t>顺序结构</a:t>
              </a:r>
            </a:p>
          </p:txBody>
        </p:sp>
      </p:grpSp>
      <p:grpSp>
        <p:nvGrpSpPr>
          <p:cNvPr id="4" name="组合 3"/>
          <p:cNvGrpSpPr/>
          <p:nvPr/>
        </p:nvGrpSpPr>
        <p:grpSpPr>
          <a:xfrm>
            <a:off x="3672061" y="3620512"/>
            <a:ext cx="5616624" cy="937962"/>
            <a:chOff x="3672061" y="3620512"/>
            <a:chExt cx="5616624" cy="937962"/>
          </a:xfrm>
        </p:grpSpPr>
        <p:sp>
          <p:nvSpPr>
            <p:cNvPr id="41" name="矩形 40"/>
            <p:cNvSpPr/>
            <p:nvPr/>
          </p:nvSpPr>
          <p:spPr>
            <a:xfrm>
              <a:off x="4211964" y="4299942"/>
              <a:ext cx="2536272" cy="258532"/>
            </a:xfrm>
            <a:prstGeom prst="rect">
              <a:avLst/>
            </a:prstGeom>
          </p:spPr>
          <p:txBody>
            <a:bodyPr wrap="none">
              <a:spAutoFit/>
            </a:bodyPr>
            <a:lstStyle/>
            <a:p>
              <a:pPr>
                <a:lnSpc>
                  <a:spcPct val="90000"/>
                </a:lnSpc>
                <a:spcBef>
                  <a:spcPct val="20000"/>
                </a:spcBef>
                <a:buSzPct val="90000"/>
              </a:pPr>
              <a:r>
                <a:rPr lang="zh-CN" altLang="en-US" sz="1200" b="1" dirty="0">
                  <a:solidFill>
                    <a:schemeClr val="tx1">
                      <a:lumMod val="85000"/>
                      <a:lumOff val="15000"/>
                    </a:schemeClr>
                  </a:solidFill>
                  <a:latin typeface="微软雅黑" pitchFamily="34" charset="-122"/>
                  <a:ea typeface="微软雅黑" pitchFamily="34" charset="-122"/>
                </a:rPr>
                <a:t>主讲 </a:t>
              </a:r>
              <a:r>
                <a:rPr lang="en-US" altLang="zh-CN" sz="1200" b="1" dirty="0">
                  <a:solidFill>
                    <a:schemeClr val="tx1">
                      <a:lumMod val="85000"/>
                      <a:lumOff val="15000"/>
                    </a:schemeClr>
                  </a:solidFill>
                  <a:latin typeface="微软雅黑" pitchFamily="34" charset="-122"/>
                  <a:ea typeface="微软雅黑" pitchFamily="34" charset="-122"/>
                </a:rPr>
                <a:t>——</a:t>
              </a:r>
              <a:r>
                <a:rPr lang="zh-CN" altLang="en-US" sz="1200" b="1" dirty="0">
                  <a:solidFill>
                    <a:schemeClr val="tx1">
                      <a:lumMod val="85000"/>
                      <a:lumOff val="15000"/>
                    </a:schemeClr>
                  </a:solidFill>
                  <a:latin typeface="微软雅黑" pitchFamily="34" charset="-122"/>
                  <a:ea typeface="微软雅黑" pitchFamily="34" charset="-122"/>
                </a:rPr>
                <a:t>  华中科技大学    黄庆凤</a:t>
              </a:r>
              <a:endParaRPr lang="en-US" altLang="zh-CN" sz="1200" b="1" dirty="0">
                <a:solidFill>
                  <a:schemeClr val="tx1">
                    <a:lumMod val="85000"/>
                    <a:lumOff val="15000"/>
                  </a:schemeClr>
                </a:solidFill>
                <a:latin typeface="微软雅黑" pitchFamily="34" charset="-122"/>
                <a:ea typeface="微软雅黑" pitchFamily="34" charset="-122"/>
              </a:endParaRPr>
            </a:p>
          </p:txBody>
        </p:sp>
        <p:sp>
          <p:nvSpPr>
            <p:cNvPr id="3" name="TextBox 2"/>
            <p:cNvSpPr txBox="1"/>
            <p:nvPr/>
          </p:nvSpPr>
          <p:spPr>
            <a:xfrm>
              <a:off x="3672061" y="3620512"/>
              <a:ext cx="5616624" cy="707886"/>
            </a:xfrm>
            <a:prstGeom prst="rect">
              <a:avLst/>
            </a:prstGeom>
            <a:noFill/>
          </p:spPr>
          <p:txBody>
            <a:bodyPr wrap="square" rtlCol="0">
              <a:spAutoFit/>
            </a:bodyPr>
            <a:lstStyle/>
            <a:p>
              <a:r>
                <a:rPr lang="en-US" altLang="zh-CN" sz="4000" dirty="0">
                  <a:latin typeface="方正兰亭特黑_GBK" panose="02010600030101010101" charset="-122"/>
                  <a:ea typeface="方正兰亭特黑_GBK" panose="02010600030101010101" charset="-122"/>
                </a:rPr>
                <a:t>C</a:t>
              </a:r>
              <a:r>
                <a:rPr lang="zh-CN" altLang="en-US" sz="4000" dirty="0">
                  <a:latin typeface="方正兰亭特黑_GBK" panose="02010600030101010101" charset="-122"/>
                  <a:ea typeface="方正兰亭特黑_GBK" panose="02010600030101010101" charset="-122"/>
                </a:rPr>
                <a:t>语言程序设计</a:t>
              </a:r>
            </a:p>
          </p:txBody>
        </p:sp>
      </p:grpSp>
      <p:grpSp>
        <p:nvGrpSpPr>
          <p:cNvPr id="5" name="组合 4">
            <a:extLst>
              <a:ext uri="{FF2B5EF4-FFF2-40B4-BE49-F238E27FC236}">
                <a16:creationId xmlns:a16="http://schemas.microsoft.com/office/drawing/2014/main" id="{D0932DA6-24DE-B6E9-B865-10D3EF7FE19B}"/>
              </a:ext>
            </a:extLst>
          </p:cNvPr>
          <p:cNvGrpSpPr/>
          <p:nvPr/>
        </p:nvGrpSpPr>
        <p:grpSpPr>
          <a:xfrm>
            <a:off x="-10313" y="11626"/>
            <a:ext cx="9164626" cy="3914503"/>
            <a:chOff x="-10313" y="11626"/>
            <a:chExt cx="9164626" cy="3914503"/>
          </a:xfrm>
        </p:grpSpPr>
        <p:pic>
          <p:nvPicPr>
            <p:cNvPr id="6" name="Picture 2">
              <a:extLst>
                <a:ext uri="{FF2B5EF4-FFF2-40B4-BE49-F238E27FC236}">
                  <a16:creationId xmlns:a16="http://schemas.microsoft.com/office/drawing/2014/main" id="{6F381E14-586D-0BD8-C5D2-E9CF9724E0B8}"/>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0" y="11626"/>
              <a:ext cx="9154313" cy="343584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G:\稻壳儿\5\miracomunicazione\shadow3.png">
              <a:extLst>
                <a:ext uri="{FF2B5EF4-FFF2-40B4-BE49-F238E27FC236}">
                  <a16:creationId xmlns:a16="http://schemas.microsoft.com/office/drawing/2014/main" id="{756B5D71-F42F-72FC-8632-5DEEF415E3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0313" y="3435848"/>
              <a:ext cx="9154312" cy="49028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91482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8255" y="195457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152638" y="3047601"/>
              <a:ext cx="1872208" cy="584775"/>
            </a:xfrm>
            <a:prstGeom prst="rect">
              <a:avLst/>
            </a:prstGeom>
            <a:noFill/>
          </p:spPr>
          <p:txBody>
            <a:bodyPr wrap="square" rtlCol="0">
              <a:spAutoFit/>
            </a:bodyPr>
            <a:lstStyle/>
            <a:p>
              <a:r>
                <a:rPr lang="zh-CN" altLang="en-US" sz="3200" b="1" dirty="0">
                  <a:solidFill>
                    <a:schemeClr val="bg1"/>
                  </a:solidFill>
                  <a:latin typeface="微软雅黑" pitchFamily="34" charset="-122"/>
                  <a:ea typeface="微软雅黑" pitchFamily="34" charset="-122"/>
                </a:rPr>
                <a:t>本章内容</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3" name="组合 42">
            <a:extLst>
              <a:ext uri="{FF2B5EF4-FFF2-40B4-BE49-F238E27FC236}">
                <a16:creationId xmlns:a16="http://schemas.microsoft.com/office/drawing/2014/main" id="{209B93DE-C0D4-4701-9E64-E17B4903CCDE}"/>
              </a:ext>
            </a:extLst>
          </p:cNvPr>
          <p:cNvGrpSpPr/>
          <p:nvPr/>
        </p:nvGrpSpPr>
        <p:grpSpPr>
          <a:xfrm>
            <a:off x="3483239" y="3926236"/>
            <a:ext cx="4132358" cy="890391"/>
            <a:chOff x="3203848" y="3219822"/>
            <a:chExt cx="4132358" cy="890391"/>
          </a:xfrm>
        </p:grpSpPr>
        <p:sp>
          <p:nvSpPr>
            <p:cNvPr id="44" name="椭圆 43">
              <a:extLst>
                <a:ext uri="{FF2B5EF4-FFF2-40B4-BE49-F238E27FC236}">
                  <a16:creationId xmlns:a16="http://schemas.microsoft.com/office/drawing/2014/main" id="{F2CD043E-3BBC-427B-BDB9-696D718B650D}"/>
                </a:ext>
              </a:extLst>
            </p:cNvPr>
            <p:cNvSpPr/>
            <p:nvPr/>
          </p:nvSpPr>
          <p:spPr>
            <a:xfrm flipH="1">
              <a:off x="3203848" y="3287261"/>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7</a:t>
              </a:r>
              <a:endParaRPr lang="zh-CN" altLang="en-US" b="1" dirty="0">
                <a:solidFill>
                  <a:srgbClr val="01497B"/>
                </a:solidFill>
                <a:latin typeface="微软雅黑" pitchFamily="34" charset="-122"/>
                <a:ea typeface="微软雅黑" pitchFamily="34" charset="-122"/>
              </a:endParaRPr>
            </a:p>
          </p:txBody>
        </p:sp>
        <p:sp>
          <p:nvSpPr>
            <p:cNvPr id="45" name="TextBox 28">
              <a:extLst>
                <a:ext uri="{FF2B5EF4-FFF2-40B4-BE49-F238E27FC236}">
                  <a16:creationId xmlns:a16="http://schemas.microsoft.com/office/drawing/2014/main" id="{8186F2B5-7484-426C-B718-CBF75685F5E7}"/>
                </a:ext>
              </a:extLst>
            </p:cNvPr>
            <p:cNvSpPr txBox="1"/>
            <p:nvPr/>
          </p:nvSpPr>
          <p:spPr>
            <a:xfrm>
              <a:off x="4527894" y="3219822"/>
              <a:ext cx="2057580" cy="400110"/>
            </a:xfrm>
            <a:prstGeom prst="rect">
              <a:avLst/>
            </a:prstGeom>
            <a:noFill/>
          </p:spPr>
          <p:txBody>
            <a:bodyPr wrap="square" rtlCol="0">
              <a:spAutoFit/>
            </a:bodyPr>
            <a:lstStyle/>
            <a:p>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位运算</a:t>
              </a:r>
            </a:p>
          </p:txBody>
        </p:sp>
        <p:pic>
          <p:nvPicPr>
            <p:cNvPr id="46" name="Picture 4" descr="G:\稻壳儿\5\miracomunicazione\shadow3.png">
              <a:extLst>
                <a:ext uri="{FF2B5EF4-FFF2-40B4-BE49-F238E27FC236}">
                  <a16:creationId xmlns:a16="http://schemas.microsoft.com/office/drawing/2014/main" id="{B863AB7C-0D32-47A1-BF1A-4D60664B475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23928" y="3619932"/>
              <a:ext cx="3412278" cy="4902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组合 5"/>
          <p:cNvGrpSpPr/>
          <p:nvPr/>
        </p:nvGrpSpPr>
        <p:grpSpPr>
          <a:xfrm>
            <a:off x="3483239" y="144895"/>
            <a:ext cx="4082403" cy="890391"/>
            <a:chOff x="3203848" y="659472"/>
            <a:chExt cx="4082403" cy="890391"/>
          </a:xfrm>
        </p:grpSpPr>
        <p:sp>
          <p:nvSpPr>
            <p:cNvPr id="16" name="椭圆 15"/>
            <p:cNvSpPr/>
            <p:nvPr/>
          </p:nvSpPr>
          <p:spPr>
            <a:xfrm flipH="1">
              <a:off x="3203848" y="74068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1</a:t>
              </a:r>
              <a:endParaRPr lang="zh-CN" altLang="en-US" b="1" dirty="0">
                <a:solidFill>
                  <a:srgbClr val="01497B"/>
                </a:solidFill>
                <a:latin typeface="微软雅黑" pitchFamily="34" charset="-122"/>
                <a:ea typeface="微软雅黑" pitchFamily="34" charset="-122"/>
              </a:endParaRPr>
            </a:p>
          </p:txBody>
        </p:sp>
        <p:sp>
          <p:nvSpPr>
            <p:cNvPr id="5" name="TextBox 4"/>
            <p:cNvSpPr txBox="1"/>
            <p:nvPr/>
          </p:nvSpPr>
          <p:spPr>
            <a:xfrm>
              <a:off x="4486538" y="659472"/>
              <a:ext cx="2245698" cy="400110"/>
            </a:xfrm>
            <a:prstGeom prst="rect">
              <a:avLst/>
            </a:prstGeom>
            <a:noFill/>
          </p:spPr>
          <p:txBody>
            <a:bodyPr wrap="square" rtlCol="0">
              <a:spAutoFit/>
            </a:bodyPr>
            <a:lstStyle/>
            <a:p>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C</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语言程序框架</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873973" y="1059582"/>
              <a:ext cx="3412278" cy="4902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组合 6"/>
          <p:cNvGrpSpPr/>
          <p:nvPr/>
        </p:nvGrpSpPr>
        <p:grpSpPr>
          <a:xfrm>
            <a:off x="3483239" y="775119"/>
            <a:ext cx="4132358" cy="890391"/>
            <a:chOff x="3203848" y="1307544"/>
            <a:chExt cx="4132358" cy="890391"/>
          </a:xfrm>
        </p:grpSpPr>
        <p:sp>
          <p:nvSpPr>
            <p:cNvPr id="19" name="椭圆 18"/>
            <p:cNvSpPr/>
            <p:nvPr/>
          </p:nvSpPr>
          <p:spPr>
            <a:xfrm flipH="1">
              <a:off x="3203848" y="1388758"/>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2</a:t>
              </a:r>
              <a:endParaRPr lang="zh-CN" altLang="en-US" b="1" dirty="0">
                <a:solidFill>
                  <a:srgbClr val="01497B"/>
                </a:solidFill>
                <a:latin typeface="微软雅黑" pitchFamily="34" charset="-122"/>
                <a:ea typeface="微软雅黑" pitchFamily="34" charset="-122"/>
              </a:endParaRPr>
            </a:p>
          </p:txBody>
        </p:sp>
        <p:sp>
          <p:nvSpPr>
            <p:cNvPr id="20" name="TextBox 19"/>
            <p:cNvSpPr txBox="1"/>
            <p:nvPr/>
          </p:nvSpPr>
          <p:spPr>
            <a:xfrm>
              <a:off x="4527894" y="1307544"/>
              <a:ext cx="2439677" cy="400110"/>
            </a:xfrm>
            <a:prstGeom prst="rect">
              <a:avLst/>
            </a:prstGeom>
            <a:noFill/>
          </p:spPr>
          <p:txBody>
            <a:bodyPr wrap="square" rtlCol="0">
              <a:spAutoFit/>
            </a:bodyPr>
            <a:lstStyle/>
            <a:p>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C</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语言词法单位</a:t>
              </a:r>
            </a:p>
          </p:txBody>
        </p:sp>
        <p:pic>
          <p:nvPicPr>
            <p:cNvPr id="21"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23928" y="1707654"/>
              <a:ext cx="3412278" cy="4902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组合 7"/>
          <p:cNvGrpSpPr/>
          <p:nvPr/>
        </p:nvGrpSpPr>
        <p:grpSpPr>
          <a:xfrm>
            <a:off x="3483239" y="1405343"/>
            <a:ext cx="4132358" cy="890391"/>
            <a:chOff x="3203848" y="1969391"/>
            <a:chExt cx="4132358" cy="890391"/>
          </a:xfrm>
        </p:grpSpPr>
        <p:sp>
          <p:nvSpPr>
            <p:cNvPr id="22" name="椭圆 21"/>
            <p:cNvSpPr/>
            <p:nvPr/>
          </p:nvSpPr>
          <p:spPr>
            <a:xfrm flipH="1">
              <a:off x="3203848" y="2036830"/>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3</a:t>
              </a:r>
              <a:endParaRPr lang="zh-CN" altLang="en-US" b="1" dirty="0">
                <a:solidFill>
                  <a:srgbClr val="01497B"/>
                </a:solidFill>
                <a:latin typeface="微软雅黑" pitchFamily="34" charset="-122"/>
                <a:ea typeface="微软雅黑" pitchFamily="34" charset="-122"/>
              </a:endParaRPr>
            </a:p>
          </p:txBody>
        </p:sp>
        <p:sp>
          <p:nvSpPr>
            <p:cNvPr id="23" name="TextBox 22"/>
            <p:cNvSpPr txBox="1"/>
            <p:nvPr/>
          </p:nvSpPr>
          <p:spPr>
            <a:xfrm>
              <a:off x="4527894" y="1969391"/>
              <a:ext cx="1741646" cy="400110"/>
            </a:xfrm>
            <a:prstGeom prst="rect">
              <a:avLst/>
            </a:prstGeom>
            <a:noFill/>
          </p:spPr>
          <p:txBody>
            <a:bodyPr wrap="square" rtlCol="0">
              <a:spAutoFit/>
            </a:bodyPr>
            <a:lstStyle/>
            <a:p>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常量与变量</a:t>
              </a:r>
            </a:p>
          </p:txBody>
        </p:sp>
        <p:pic>
          <p:nvPicPr>
            <p:cNvPr id="24"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23928" y="2369501"/>
              <a:ext cx="3412278" cy="4902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组合 8"/>
          <p:cNvGrpSpPr/>
          <p:nvPr/>
        </p:nvGrpSpPr>
        <p:grpSpPr>
          <a:xfrm>
            <a:off x="3483239" y="2035567"/>
            <a:ext cx="4132358" cy="890391"/>
            <a:chOff x="3203848" y="2617463"/>
            <a:chExt cx="4132358" cy="890391"/>
          </a:xfrm>
        </p:grpSpPr>
        <p:sp>
          <p:nvSpPr>
            <p:cNvPr id="25" name="椭圆 24"/>
            <p:cNvSpPr/>
            <p:nvPr/>
          </p:nvSpPr>
          <p:spPr>
            <a:xfrm flipH="1">
              <a:off x="3203848" y="2684902"/>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4</a:t>
              </a:r>
              <a:endParaRPr lang="zh-CN" altLang="en-US" b="1" dirty="0">
                <a:solidFill>
                  <a:srgbClr val="01497B"/>
                </a:solidFill>
                <a:latin typeface="微软雅黑" pitchFamily="34" charset="-122"/>
                <a:ea typeface="微软雅黑" pitchFamily="34" charset="-122"/>
              </a:endParaRPr>
            </a:p>
          </p:txBody>
        </p:sp>
        <p:sp>
          <p:nvSpPr>
            <p:cNvPr id="26" name="TextBox 25"/>
            <p:cNvSpPr txBox="1"/>
            <p:nvPr/>
          </p:nvSpPr>
          <p:spPr>
            <a:xfrm>
              <a:off x="4527894" y="2617463"/>
              <a:ext cx="2132338" cy="400110"/>
            </a:xfrm>
            <a:prstGeom prst="rect">
              <a:avLst/>
            </a:prstGeom>
            <a:noFill/>
          </p:spPr>
          <p:txBody>
            <a:bodyPr wrap="square" rtlCol="0">
              <a:spAutoFit/>
            </a:bodyPr>
            <a:lstStyle/>
            <a:p>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运算符和表达式</a:t>
              </a:r>
            </a:p>
          </p:txBody>
        </p:sp>
        <p:pic>
          <p:nvPicPr>
            <p:cNvPr id="2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23928" y="3017573"/>
              <a:ext cx="3412278" cy="4902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组合 9"/>
          <p:cNvGrpSpPr/>
          <p:nvPr/>
        </p:nvGrpSpPr>
        <p:grpSpPr>
          <a:xfrm>
            <a:off x="3483239" y="2665791"/>
            <a:ext cx="4132358" cy="890391"/>
            <a:chOff x="3203848" y="3219822"/>
            <a:chExt cx="4132358" cy="890391"/>
          </a:xfrm>
        </p:grpSpPr>
        <p:sp>
          <p:nvSpPr>
            <p:cNvPr id="28" name="椭圆 27"/>
            <p:cNvSpPr/>
            <p:nvPr/>
          </p:nvSpPr>
          <p:spPr>
            <a:xfrm flipH="1">
              <a:off x="3203848" y="3287261"/>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5</a:t>
              </a:r>
              <a:endParaRPr lang="zh-CN" altLang="en-US" b="1" dirty="0">
                <a:solidFill>
                  <a:srgbClr val="01497B"/>
                </a:solidFill>
                <a:latin typeface="微软雅黑" pitchFamily="34" charset="-122"/>
                <a:ea typeface="微软雅黑" pitchFamily="34" charset="-122"/>
              </a:endParaRPr>
            </a:p>
          </p:txBody>
        </p:sp>
        <p:sp>
          <p:nvSpPr>
            <p:cNvPr id="29" name="TextBox 28"/>
            <p:cNvSpPr txBox="1"/>
            <p:nvPr/>
          </p:nvSpPr>
          <p:spPr>
            <a:xfrm>
              <a:off x="4527894" y="3219822"/>
              <a:ext cx="2057580" cy="400110"/>
            </a:xfrm>
            <a:prstGeom prst="rect">
              <a:avLst/>
            </a:prstGeom>
            <a:noFill/>
          </p:spPr>
          <p:txBody>
            <a:bodyPr wrap="square" rtlCol="0">
              <a:spAutoFit/>
            </a:bodyPr>
            <a:lstStyle/>
            <a:p>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输入输出</a:t>
              </a:r>
            </a:p>
          </p:txBody>
        </p:sp>
        <p:pic>
          <p:nvPicPr>
            <p:cNvPr id="30"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23928" y="3619932"/>
              <a:ext cx="3412278" cy="4902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 name="组合 30">
            <a:extLst>
              <a:ext uri="{FF2B5EF4-FFF2-40B4-BE49-F238E27FC236}">
                <a16:creationId xmlns:a16="http://schemas.microsoft.com/office/drawing/2014/main" id="{AA0D4527-20ED-4F32-AB41-A74E459432EE}"/>
              </a:ext>
            </a:extLst>
          </p:cNvPr>
          <p:cNvGrpSpPr/>
          <p:nvPr/>
        </p:nvGrpSpPr>
        <p:grpSpPr>
          <a:xfrm>
            <a:off x="3483239" y="3296015"/>
            <a:ext cx="4132358" cy="890391"/>
            <a:chOff x="3203848" y="3219822"/>
            <a:chExt cx="4132358" cy="890391"/>
          </a:xfrm>
        </p:grpSpPr>
        <p:sp>
          <p:nvSpPr>
            <p:cNvPr id="32" name="椭圆 31">
              <a:extLst>
                <a:ext uri="{FF2B5EF4-FFF2-40B4-BE49-F238E27FC236}">
                  <a16:creationId xmlns:a16="http://schemas.microsoft.com/office/drawing/2014/main" id="{7F289218-CF9F-4EB5-A134-7AD96090DA8B}"/>
                </a:ext>
              </a:extLst>
            </p:cNvPr>
            <p:cNvSpPr/>
            <p:nvPr/>
          </p:nvSpPr>
          <p:spPr>
            <a:xfrm flipH="1">
              <a:off x="3203848" y="3287261"/>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6</a:t>
              </a:r>
              <a:endParaRPr lang="zh-CN" altLang="en-US" b="1" dirty="0">
                <a:solidFill>
                  <a:srgbClr val="01497B"/>
                </a:solidFill>
                <a:latin typeface="微软雅黑" pitchFamily="34" charset="-122"/>
                <a:ea typeface="微软雅黑" pitchFamily="34" charset="-122"/>
              </a:endParaRPr>
            </a:p>
          </p:txBody>
        </p:sp>
        <p:sp>
          <p:nvSpPr>
            <p:cNvPr id="33" name="TextBox 28">
              <a:extLst>
                <a:ext uri="{FF2B5EF4-FFF2-40B4-BE49-F238E27FC236}">
                  <a16:creationId xmlns:a16="http://schemas.microsoft.com/office/drawing/2014/main" id="{33EE3A13-B965-4F7A-8FF6-0F921F6A2423}"/>
                </a:ext>
              </a:extLst>
            </p:cNvPr>
            <p:cNvSpPr txBox="1"/>
            <p:nvPr/>
          </p:nvSpPr>
          <p:spPr>
            <a:xfrm>
              <a:off x="4527894" y="3219822"/>
              <a:ext cx="2057580" cy="400110"/>
            </a:xfrm>
            <a:prstGeom prst="rect">
              <a:avLst/>
            </a:prstGeom>
            <a:noFill/>
          </p:spPr>
          <p:txBody>
            <a:bodyPr wrap="square" rtlCol="0">
              <a:spAutoFit/>
            </a:bodyPr>
            <a:lstStyle/>
            <a:p>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C</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语言宏定义</a:t>
              </a:r>
            </a:p>
          </p:txBody>
        </p:sp>
        <p:pic>
          <p:nvPicPr>
            <p:cNvPr id="36" name="Picture 4" descr="G:\稻壳儿\5\miracomunicazione\shadow3.png">
              <a:extLst>
                <a:ext uri="{FF2B5EF4-FFF2-40B4-BE49-F238E27FC236}">
                  <a16:creationId xmlns:a16="http://schemas.microsoft.com/office/drawing/2014/main" id="{4A2AA8B5-EA0B-4C26-899E-2600A8052CE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23928" y="3619932"/>
              <a:ext cx="3412278" cy="4902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组合 12">
            <a:extLst>
              <a:ext uri="{FF2B5EF4-FFF2-40B4-BE49-F238E27FC236}">
                <a16:creationId xmlns:a16="http://schemas.microsoft.com/office/drawing/2014/main" id="{F3A7E6A2-A502-AAC3-4667-3471EBC85F2E}"/>
              </a:ext>
            </a:extLst>
          </p:cNvPr>
          <p:cNvGrpSpPr/>
          <p:nvPr/>
        </p:nvGrpSpPr>
        <p:grpSpPr>
          <a:xfrm>
            <a:off x="3472442" y="4553409"/>
            <a:ext cx="4132358" cy="890391"/>
            <a:chOff x="3203848" y="3219822"/>
            <a:chExt cx="4132358" cy="890391"/>
          </a:xfrm>
        </p:grpSpPr>
        <p:sp>
          <p:nvSpPr>
            <p:cNvPr id="14" name="椭圆 13">
              <a:extLst>
                <a:ext uri="{FF2B5EF4-FFF2-40B4-BE49-F238E27FC236}">
                  <a16:creationId xmlns:a16="http://schemas.microsoft.com/office/drawing/2014/main" id="{685DC8D2-5EB0-F9D8-E217-339A8AF69771}"/>
                </a:ext>
              </a:extLst>
            </p:cNvPr>
            <p:cNvSpPr/>
            <p:nvPr/>
          </p:nvSpPr>
          <p:spPr>
            <a:xfrm flipH="1">
              <a:off x="3203848" y="3287261"/>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8</a:t>
              </a:r>
              <a:endParaRPr lang="zh-CN" altLang="en-US" b="1" dirty="0">
                <a:solidFill>
                  <a:srgbClr val="01497B"/>
                </a:solidFill>
                <a:latin typeface="微软雅黑" pitchFamily="34" charset="-122"/>
                <a:ea typeface="微软雅黑" pitchFamily="34" charset="-122"/>
              </a:endParaRPr>
            </a:p>
          </p:txBody>
        </p:sp>
        <p:sp>
          <p:nvSpPr>
            <p:cNvPr id="15" name="TextBox 28">
              <a:extLst>
                <a:ext uri="{FF2B5EF4-FFF2-40B4-BE49-F238E27FC236}">
                  <a16:creationId xmlns:a16="http://schemas.microsoft.com/office/drawing/2014/main" id="{B6F12FD9-956F-7428-535F-A1D6D83D6758}"/>
                </a:ext>
              </a:extLst>
            </p:cNvPr>
            <p:cNvSpPr txBox="1"/>
            <p:nvPr/>
          </p:nvSpPr>
          <p:spPr>
            <a:xfrm>
              <a:off x="4527894" y="3219822"/>
              <a:ext cx="2057580" cy="400110"/>
            </a:xfrm>
            <a:prstGeom prst="rect">
              <a:avLst/>
            </a:prstGeom>
            <a:noFill/>
          </p:spPr>
          <p:txBody>
            <a:bodyPr wrap="square" rtlCol="0">
              <a:spAutoFit/>
            </a:bodyPr>
            <a:lstStyle/>
            <a:p>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使用库函数</a:t>
              </a:r>
            </a:p>
          </p:txBody>
        </p:sp>
        <p:pic>
          <p:nvPicPr>
            <p:cNvPr id="17" name="Picture 4" descr="G:\稻壳儿\5\miracomunicazione\shadow3.png">
              <a:extLst>
                <a:ext uri="{FF2B5EF4-FFF2-40B4-BE49-F238E27FC236}">
                  <a16:creationId xmlns:a16="http://schemas.microsoft.com/office/drawing/2014/main" id="{5AF24AA7-59CB-4420-590E-36024B35C07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23928" y="3619932"/>
              <a:ext cx="3412278" cy="4902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 name="组合 2">
            <a:extLst>
              <a:ext uri="{FF2B5EF4-FFF2-40B4-BE49-F238E27FC236}">
                <a16:creationId xmlns:a16="http://schemas.microsoft.com/office/drawing/2014/main" id="{FC3FEBA5-4178-1856-60C8-DBBA7F96EC36}"/>
              </a:ext>
            </a:extLst>
          </p:cNvPr>
          <p:cNvGrpSpPr/>
          <p:nvPr/>
        </p:nvGrpSpPr>
        <p:grpSpPr>
          <a:xfrm>
            <a:off x="121910" y="4598495"/>
            <a:ext cx="4132358" cy="890391"/>
            <a:chOff x="3203848" y="3219822"/>
            <a:chExt cx="4132358" cy="890391"/>
          </a:xfrm>
        </p:grpSpPr>
        <p:sp>
          <p:nvSpPr>
            <p:cNvPr id="4" name="椭圆 3">
              <a:extLst>
                <a:ext uri="{FF2B5EF4-FFF2-40B4-BE49-F238E27FC236}">
                  <a16:creationId xmlns:a16="http://schemas.microsoft.com/office/drawing/2014/main" id="{42F3374C-F2E9-EDA5-812A-DFD14BAD7003}"/>
                </a:ext>
              </a:extLst>
            </p:cNvPr>
            <p:cNvSpPr/>
            <p:nvPr/>
          </p:nvSpPr>
          <p:spPr>
            <a:xfrm flipH="1">
              <a:off x="3203848" y="3287261"/>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9</a:t>
              </a:r>
              <a:endParaRPr lang="zh-CN" altLang="en-US" b="1" dirty="0">
                <a:solidFill>
                  <a:srgbClr val="01497B"/>
                </a:solidFill>
                <a:latin typeface="微软雅黑" pitchFamily="34" charset="-122"/>
                <a:ea typeface="微软雅黑" pitchFamily="34" charset="-122"/>
              </a:endParaRPr>
            </a:p>
          </p:txBody>
        </p:sp>
        <p:sp>
          <p:nvSpPr>
            <p:cNvPr id="11" name="TextBox 28">
              <a:extLst>
                <a:ext uri="{FF2B5EF4-FFF2-40B4-BE49-F238E27FC236}">
                  <a16:creationId xmlns:a16="http://schemas.microsoft.com/office/drawing/2014/main" id="{13F2FF8A-8A3D-A625-DB1F-EC23E33FF5A3}"/>
                </a:ext>
              </a:extLst>
            </p:cNvPr>
            <p:cNvSpPr txBox="1"/>
            <p:nvPr/>
          </p:nvSpPr>
          <p:spPr>
            <a:xfrm>
              <a:off x="4527894" y="3219822"/>
              <a:ext cx="2057580" cy="400110"/>
            </a:xfrm>
            <a:prstGeom prst="rect">
              <a:avLst/>
            </a:prstGeom>
            <a:noFill/>
          </p:spPr>
          <p:txBody>
            <a:bodyPr wrap="square" rtlCol="0">
              <a:spAutoFit/>
            </a:bodyPr>
            <a:lstStyle/>
            <a:p>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枚举类型</a:t>
              </a:r>
            </a:p>
          </p:txBody>
        </p:sp>
        <p:pic>
          <p:nvPicPr>
            <p:cNvPr id="12" name="Picture 4" descr="G:\稻壳儿\5\miracomunicazione\shadow3.png">
              <a:extLst>
                <a:ext uri="{FF2B5EF4-FFF2-40B4-BE49-F238E27FC236}">
                  <a16:creationId xmlns:a16="http://schemas.microsoft.com/office/drawing/2014/main" id="{CDD1AD67-0D97-C3A2-07A5-FEE9FCF86CB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23928" y="3619932"/>
              <a:ext cx="3412278" cy="49028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2127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wipe(up)">
                                      <p:cBhvr>
                                        <p:cTn id="1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900608" y="2170566"/>
            <a:ext cx="4032448" cy="2489416"/>
            <a:chOff x="-900608" y="2170566"/>
            <a:chExt cx="4032448" cy="2489416"/>
          </a:xfrm>
        </p:grpSpPr>
        <p:grpSp>
          <p:nvGrpSpPr>
            <p:cNvPr id="2" name="组合 1"/>
            <p:cNvGrpSpPr/>
            <p:nvPr/>
          </p:nvGrpSpPr>
          <p:grpSpPr>
            <a:xfrm>
              <a:off x="-900608" y="2170566"/>
              <a:ext cx="4032448" cy="2489416"/>
              <a:chOff x="928502" y="2170566"/>
              <a:chExt cx="403244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512678" y="3124545"/>
                <a:ext cx="2448272"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程序框架</a:t>
                </a:r>
              </a:p>
            </p:txBody>
          </p:sp>
          <p:pic>
            <p:nvPicPr>
              <p:cNvPr id="37" name="Picture 4" descr="G:\稻壳儿\5\miracomunicazione\shadow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12078" y="3221481"/>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1</a:t>
              </a:r>
              <a:endParaRPr lang="zh-CN" altLang="en-US" b="1" dirty="0">
                <a:solidFill>
                  <a:srgbClr val="01497B"/>
                </a:solidFill>
                <a:latin typeface="微软雅黑" pitchFamily="34" charset="-122"/>
                <a:ea typeface="微软雅黑" pitchFamily="34" charset="-122"/>
              </a:endParaRPr>
            </a:p>
          </p:txBody>
        </p:sp>
      </p:gr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en-US" altLang="zh-CN" sz="2400" dirty="0">
                  <a:latin typeface="方正粗倩简体" panose="03000509000000000000" pitchFamily="65" charset="-122"/>
                  <a:ea typeface="方正粗倩简体" panose="03000509000000000000" pitchFamily="65" charset="-122"/>
                </a:rPr>
                <a:t>C</a:t>
              </a:r>
              <a:r>
                <a:rPr lang="zh-CN" altLang="en-US" sz="2400" dirty="0">
                  <a:latin typeface="方正粗倩简体" panose="03000509000000000000" pitchFamily="65" charset="-122"/>
                  <a:ea typeface="方正粗倩简体" panose="03000509000000000000" pitchFamily="65" charset="-122"/>
                </a:rPr>
                <a:t>语言程序框架</a:t>
              </a:r>
            </a:p>
          </p:txBody>
        </p:sp>
        <p:pic>
          <p:nvPicPr>
            <p:cNvPr id="18" name="Picture 4" descr="G:\稻壳儿\5\miracomunicazione\shadow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文本框 13"/>
          <p:cNvSpPr txBox="1"/>
          <p:nvPr/>
        </p:nvSpPr>
        <p:spPr>
          <a:xfrm>
            <a:off x="2987824" y="1605654"/>
            <a:ext cx="5688632" cy="2954655"/>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#include&lt;stdio.h&gt;</a:t>
            </a:r>
            <a:r>
              <a:rPr lang="en-US" altLang="zh-CN" dirty="0">
                <a:solidFill>
                  <a:srgbClr val="984807"/>
                </a:solidFill>
                <a:latin typeface="微软雅黑" panose="020B0503020204020204" pitchFamily="34" charset="-122"/>
                <a:ea typeface="微软雅黑" panose="020B0503020204020204" pitchFamily="34" charset="-122"/>
              </a:rPr>
              <a:t>//</a:t>
            </a:r>
            <a:r>
              <a:rPr lang="zh-CN" altLang="en-US" dirty="0">
                <a:solidFill>
                  <a:srgbClr val="984807"/>
                </a:solidFill>
                <a:latin typeface="微软雅黑" panose="020B0503020204020204" pitchFamily="34" charset="-122"/>
                <a:ea typeface="微软雅黑" panose="020B0503020204020204" pitchFamily="34" charset="-122"/>
              </a:rPr>
              <a:t>例</a:t>
            </a:r>
            <a:r>
              <a:rPr lang="en-US" altLang="zh-CN" dirty="0">
                <a:solidFill>
                  <a:srgbClr val="984807"/>
                </a:solidFill>
                <a:latin typeface="微软雅黑" panose="020B0503020204020204" pitchFamily="34" charset="-122"/>
                <a:ea typeface="微软雅黑" panose="020B0503020204020204" pitchFamily="34" charset="-122"/>
              </a:rPr>
              <a:t>2_1</a:t>
            </a:r>
          </a:p>
          <a:p>
            <a:r>
              <a:rPr lang="en-US" altLang="zh-CN" sz="2400" dirty="0"/>
              <a:t>int main</a:t>
            </a:r>
            <a:r>
              <a:rPr lang="en-US" altLang="zh-CN" sz="2400" dirty="0">
                <a:solidFill>
                  <a:srgbClr val="984807"/>
                </a:solidFill>
                <a:latin typeface="方正粗倩简体" panose="03000509000000000000" pitchFamily="65" charset="-122"/>
                <a:ea typeface="方正粗倩简体" panose="03000509000000000000" pitchFamily="65" charset="-122"/>
              </a:rPr>
              <a:t>()</a:t>
            </a:r>
          </a:p>
          <a:p>
            <a:r>
              <a:rPr lang="en-US" altLang="zh-CN" sz="2400" dirty="0">
                <a:solidFill>
                  <a:srgbClr val="984807"/>
                </a:solidFill>
                <a:latin typeface="方正粗倩简体" panose="03000509000000000000" pitchFamily="65" charset="-122"/>
                <a:ea typeface="方正粗倩简体" panose="03000509000000000000" pitchFamily="65" charset="-122"/>
              </a:rPr>
              <a:t>{</a:t>
            </a: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int</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x,y</a:t>
            </a:r>
            <a:r>
              <a:rPr lang="en-US" altLang="zh-CN" dirty="0">
                <a:solidFill>
                  <a:srgbClr val="984807"/>
                </a:solidFill>
                <a:latin typeface="微软雅黑" panose="020B0503020204020204" pitchFamily="34" charset="-122"/>
                <a:ea typeface="微软雅黑" panose="020B0503020204020204" pitchFamily="34" charset="-122"/>
              </a:rPr>
              <a:t>;//</a:t>
            </a:r>
            <a:r>
              <a:rPr lang="zh-CN" altLang="en-US" dirty="0">
                <a:solidFill>
                  <a:srgbClr val="984807"/>
                </a:solidFill>
                <a:latin typeface="微软雅黑" panose="020B0503020204020204" pitchFamily="34" charset="-122"/>
                <a:ea typeface="微软雅黑" panose="020B0503020204020204" pitchFamily="34" charset="-122"/>
              </a:rPr>
              <a:t>数据定义</a:t>
            </a:r>
            <a:endParaRPr lang="en-US" altLang="zh-CN" dirty="0">
              <a:solidFill>
                <a:srgbClr val="984807"/>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scanf</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d”,&amp;x</a:t>
            </a:r>
            <a:r>
              <a:rPr lang="en-US" altLang="zh-CN" dirty="0">
                <a:latin typeface="微软雅黑" panose="020B0503020204020204" pitchFamily="34" charset="-122"/>
                <a:ea typeface="微软雅黑" panose="020B0503020204020204" pitchFamily="34" charset="-122"/>
              </a:rPr>
              <a:t>);</a:t>
            </a:r>
            <a:r>
              <a:rPr lang="en-US" altLang="zh-CN" dirty="0">
                <a:solidFill>
                  <a:srgbClr val="984807"/>
                </a:solidFill>
                <a:latin typeface="微软雅黑" panose="020B0503020204020204" pitchFamily="34" charset="-122"/>
                <a:ea typeface="微软雅黑" panose="020B0503020204020204" pitchFamily="34" charset="-122"/>
              </a:rPr>
              <a:t>//</a:t>
            </a:r>
            <a:r>
              <a:rPr lang="zh-CN" altLang="en-US" dirty="0">
                <a:solidFill>
                  <a:srgbClr val="984807"/>
                </a:solidFill>
                <a:latin typeface="微软雅黑" panose="020B0503020204020204" pitchFamily="34" charset="-122"/>
                <a:ea typeface="微软雅黑" panose="020B0503020204020204" pitchFamily="34" charset="-122"/>
              </a:rPr>
              <a:t>已知量获得初值</a:t>
            </a:r>
            <a:endParaRPr lang="en-US" altLang="zh-CN" dirty="0">
              <a:solidFill>
                <a:srgbClr val="984807"/>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y=x*x;</a:t>
            </a:r>
            <a:r>
              <a:rPr lang="en-US" altLang="zh-CN" dirty="0">
                <a:solidFill>
                  <a:srgbClr val="984807"/>
                </a:solidFill>
                <a:latin typeface="微软雅黑" panose="020B0503020204020204" pitchFamily="34" charset="-122"/>
                <a:ea typeface="微软雅黑" panose="020B0503020204020204" pitchFamily="34" charset="-122"/>
              </a:rPr>
              <a:t>//</a:t>
            </a:r>
            <a:r>
              <a:rPr lang="zh-CN" altLang="en-US" dirty="0">
                <a:solidFill>
                  <a:srgbClr val="984807"/>
                </a:solidFill>
                <a:latin typeface="微软雅黑" panose="020B0503020204020204" pitchFamily="34" charset="-122"/>
                <a:ea typeface="微软雅黑" panose="020B0503020204020204" pitchFamily="34" charset="-122"/>
              </a:rPr>
              <a:t>计算未知量（数据处理）</a:t>
            </a:r>
            <a:endParaRPr lang="en-US" altLang="zh-CN" dirty="0">
              <a:solidFill>
                <a:srgbClr val="984807"/>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printf</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y=%d\n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,y);</a:t>
            </a:r>
            <a:r>
              <a:rPr lang="en-US" altLang="zh-CN" dirty="0">
                <a:solidFill>
                  <a:srgbClr val="984807"/>
                </a:solidFill>
                <a:latin typeface="微软雅黑" panose="020B0503020204020204" pitchFamily="34" charset="-122"/>
                <a:ea typeface="微软雅黑" panose="020B0503020204020204" pitchFamily="34" charset="-122"/>
              </a:rPr>
              <a:t>//</a:t>
            </a:r>
            <a:r>
              <a:rPr lang="zh-CN" altLang="en-US" dirty="0">
                <a:solidFill>
                  <a:srgbClr val="984807"/>
                </a:solidFill>
                <a:latin typeface="微软雅黑" panose="020B0503020204020204" pitchFamily="34" charset="-122"/>
                <a:ea typeface="微软雅黑" panose="020B0503020204020204" pitchFamily="34" charset="-122"/>
              </a:rPr>
              <a:t>输出结果</a:t>
            </a:r>
            <a:endParaRPr lang="en-US" altLang="zh-CN" dirty="0">
              <a:solidFill>
                <a:srgbClr val="984807"/>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return 0</a:t>
            </a:r>
            <a:r>
              <a:rPr lang="en-US" altLang="zh-CN" sz="2400" dirty="0">
                <a:solidFill>
                  <a:srgbClr val="984807"/>
                </a:solidFill>
                <a:latin typeface="方正粗倩简体" panose="03000509000000000000" pitchFamily="65" charset="-122"/>
                <a:ea typeface="方正粗倩简体" panose="03000509000000000000" pitchFamily="65" charset="-122"/>
              </a:rPr>
              <a:t>;</a:t>
            </a:r>
          </a:p>
          <a:p>
            <a:r>
              <a:rPr lang="en-US" altLang="zh-CN" sz="2400" dirty="0">
                <a:solidFill>
                  <a:srgbClr val="984807"/>
                </a:solidFill>
                <a:latin typeface="方正粗倩简体" panose="03000509000000000000" pitchFamily="65" charset="-122"/>
                <a:ea typeface="方正粗倩简体" panose="03000509000000000000" pitchFamily="65" charset="-122"/>
              </a:rPr>
              <a:t>}</a:t>
            </a:r>
            <a:endParaRPr lang="zh-CN" altLang="en-US" sz="2400" dirty="0">
              <a:solidFill>
                <a:srgbClr val="984807"/>
              </a:solidFill>
              <a:latin typeface="方正粗倩简体" panose="03000509000000000000" pitchFamily="65" charset="-122"/>
              <a:ea typeface="方正粗倩简体" panose="03000509000000000000" pitchFamily="65" charset="-122"/>
            </a:endParaRPr>
          </a:p>
        </p:txBody>
      </p:sp>
    </p:spTree>
    <p:extLst>
      <p:ext uri="{BB962C8B-B14F-4D97-AF65-F5344CB8AC3E}">
        <p14:creationId xmlns:p14="http://schemas.microsoft.com/office/powerpoint/2010/main" val="35809839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529002" y="3047601"/>
              <a:ext cx="1811778"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词法单位</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232310"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2</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en-US" altLang="zh-CN" sz="2400" dirty="0">
                  <a:latin typeface="方正粗倩简体" panose="03000509000000000000" pitchFamily="65" charset="-122"/>
                  <a:ea typeface="方正粗倩简体" panose="03000509000000000000" pitchFamily="65" charset="-122"/>
                </a:rPr>
                <a:t>C</a:t>
              </a:r>
              <a:r>
                <a:rPr lang="zh-CN" altLang="en-US" sz="2400" dirty="0">
                  <a:latin typeface="方正粗倩简体" panose="03000509000000000000" pitchFamily="65" charset="-122"/>
                  <a:ea typeface="方正粗倩简体" panose="03000509000000000000" pitchFamily="65" charset="-122"/>
                </a:rPr>
                <a:t>词法单位</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组合 3"/>
          <p:cNvGrpSpPr/>
          <p:nvPr/>
        </p:nvGrpSpPr>
        <p:grpSpPr>
          <a:xfrm>
            <a:off x="2888334" y="1851670"/>
            <a:ext cx="6267452" cy="2937239"/>
            <a:chOff x="2888334" y="1851670"/>
            <a:chExt cx="6267452" cy="2937239"/>
          </a:xfrm>
        </p:grpSpPr>
        <p:sp>
          <p:nvSpPr>
            <p:cNvPr id="14" name="TextBox 13"/>
            <p:cNvSpPr txBox="1"/>
            <p:nvPr/>
          </p:nvSpPr>
          <p:spPr>
            <a:xfrm>
              <a:off x="2888334" y="1851670"/>
              <a:ext cx="1629191" cy="523220"/>
            </a:xfrm>
            <a:prstGeom prst="rect">
              <a:avLst/>
            </a:prstGeom>
            <a:noFill/>
          </p:spPr>
          <p:txBody>
            <a:bodyPr wrap="square" rtlCol="0">
              <a:spAutoFit/>
            </a:bodyPr>
            <a:lstStyle/>
            <a:p>
              <a:r>
                <a:rPr lang="zh-CN" altLang="en-US" sz="2800" dirty="0">
                  <a:solidFill>
                    <a:schemeClr val="accent6">
                      <a:lumMod val="50000"/>
                    </a:schemeClr>
                  </a:solidFill>
                  <a:latin typeface="方正粗倩简体" panose="03000509000000000000" pitchFamily="65" charset="-122"/>
                  <a:ea typeface="方正粗倩简体" panose="03000509000000000000" pitchFamily="65" charset="-122"/>
                </a:rPr>
                <a:t>字符集</a:t>
              </a:r>
              <a:endParaRPr lang="en-US" altLang="zh-CN" sz="2800" dirty="0">
                <a:solidFill>
                  <a:schemeClr val="accent6">
                    <a:lumMod val="50000"/>
                  </a:schemeClr>
                </a:solidFill>
                <a:latin typeface="方正粗倩简体" panose="03000509000000000000" pitchFamily="65" charset="-122"/>
                <a:ea typeface="方正粗倩简体" panose="03000509000000000000" pitchFamily="65" charset="-122"/>
              </a:endParaRPr>
            </a:p>
          </p:txBody>
        </p:sp>
        <p:sp>
          <p:nvSpPr>
            <p:cNvPr id="15" name="矩形 14"/>
            <p:cNvSpPr/>
            <p:nvPr/>
          </p:nvSpPr>
          <p:spPr>
            <a:xfrm>
              <a:off x="4439263" y="1936101"/>
              <a:ext cx="4716523" cy="646331"/>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小写字母，大写字母，数字，其它符号</a:t>
              </a: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
          <p:nvSpPr>
            <p:cNvPr id="16" name="TextBox 15"/>
            <p:cNvSpPr txBox="1"/>
            <p:nvPr/>
          </p:nvSpPr>
          <p:spPr>
            <a:xfrm>
              <a:off x="2915816" y="2566563"/>
              <a:ext cx="1872208" cy="523220"/>
            </a:xfrm>
            <a:prstGeom prst="rect">
              <a:avLst/>
            </a:prstGeom>
            <a:noFill/>
          </p:spPr>
          <p:txBody>
            <a:bodyPr wrap="square" rtlCol="0">
              <a:spAutoFit/>
            </a:bodyPr>
            <a:lstStyle/>
            <a:p>
              <a:r>
                <a:rPr lang="zh-CN" altLang="en-US" sz="2800" dirty="0">
                  <a:solidFill>
                    <a:schemeClr val="accent6">
                      <a:lumMod val="50000"/>
                    </a:schemeClr>
                  </a:solidFill>
                  <a:latin typeface="方正粗倩简体" panose="03000509000000000000" pitchFamily="65" charset="-122"/>
                  <a:ea typeface="方正粗倩简体" panose="03000509000000000000" pitchFamily="65" charset="-122"/>
                </a:rPr>
                <a:t>关键字</a:t>
              </a:r>
              <a:endParaRPr lang="en-US" altLang="zh-CN" sz="3200" dirty="0">
                <a:solidFill>
                  <a:schemeClr val="accent6">
                    <a:lumMod val="50000"/>
                  </a:schemeClr>
                </a:solidFill>
                <a:latin typeface="方正粗倩简体" panose="03000509000000000000" pitchFamily="65" charset="-122"/>
                <a:ea typeface="方正粗倩简体" panose="03000509000000000000" pitchFamily="65" charset="-122"/>
              </a:endParaRPr>
            </a:p>
          </p:txBody>
        </p:sp>
        <p:sp>
          <p:nvSpPr>
            <p:cNvPr id="17" name="矩形 16"/>
            <p:cNvSpPr/>
            <p:nvPr/>
          </p:nvSpPr>
          <p:spPr>
            <a:xfrm>
              <a:off x="4446677" y="3206191"/>
              <a:ext cx="4104455" cy="923330"/>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是程序员定义的“单词”，用来给变量、          常量、数据类型、函数等命名。</a:t>
              </a:r>
            </a:p>
            <a:p>
              <a:endParaRPr lang="zh-CN" altLang="zh-CN" dirty="0">
                <a:latin typeface="微软雅黑" panose="020B0503020204020204" pitchFamily="34" charset="-122"/>
                <a:ea typeface="微软雅黑" panose="020B0503020204020204" pitchFamily="34" charset="-122"/>
              </a:endParaRPr>
            </a:p>
          </p:txBody>
        </p:sp>
        <p:sp>
          <p:nvSpPr>
            <p:cNvPr id="19" name="TextBox 18"/>
            <p:cNvSpPr txBox="1"/>
            <p:nvPr/>
          </p:nvSpPr>
          <p:spPr>
            <a:xfrm>
              <a:off x="2915816" y="3281456"/>
              <a:ext cx="1872208" cy="523220"/>
            </a:xfrm>
            <a:prstGeom prst="rect">
              <a:avLst/>
            </a:prstGeom>
            <a:noFill/>
          </p:spPr>
          <p:txBody>
            <a:bodyPr wrap="square" rtlCol="0">
              <a:spAutoFit/>
            </a:bodyPr>
            <a:lstStyle/>
            <a:p>
              <a:r>
                <a:rPr lang="zh-CN" altLang="en-US" sz="2800" dirty="0">
                  <a:solidFill>
                    <a:schemeClr val="accent6">
                      <a:lumMod val="50000"/>
                    </a:schemeClr>
                  </a:solidFill>
                  <a:latin typeface="方正粗倩简体" panose="03000509000000000000" pitchFamily="65" charset="-122"/>
                  <a:ea typeface="方正粗倩简体" panose="03000509000000000000" pitchFamily="65" charset="-122"/>
                </a:rPr>
                <a:t>标识符</a:t>
              </a:r>
              <a:endParaRPr lang="en-US" altLang="zh-CN" sz="2800" dirty="0">
                <a:solidFill>
                  <a:schemeClr val="accent6">
                    <a:lumMod val="50000"/>
                  </a:schemeClr>
                </a:solidFill>
                <a:latin typeface="方正粗倩简体" panose="03000509000000000000" pitchFamily="65" charset="-122"/>
                <a:ea typeface="方正粗倩简体" panose="03000509000000000000" pitchFamily="65" charset="-122"/>
              </a:endParaRPr>
            </a:p>
          </p:txBody>
        </p:sp>
        <p:sp>
          <p:nvSpPr>
            <p:cNvPr id="20" name="矩形 19"/>
            <p:cNvSpPr/>
            <p:nvPr/>
          </p:nvSpPr>
          <p:spPr>
            <a:xfrm>
              <a:off x="4535993" y="4142578"/>
              <a:ext cx="3691100" cy="646331"/>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   ( )   {}   </a:t>
              </a:r>
              <a:r>
                <a:rPr lang="zh-CN" altLang="en-US" dirty="0">
                  <a:latin typeface="微软雅黑" panose="020B0503020204020204" pitchFamily="34" charset="-122"/>
                  <a:ea typeface="微软雅黑" panose="020B0503020204020204" pitchFamily="34" charset="-122"/>
                </a:rPr>
                <a:t>， ： ； </a:t>
              </a:r>
              <a:r>
                <a:rPr lang="en-US" altLang="zh-CN" dirty="0">
                  <a:latin typeface="微软雅黑" panose="020B0503020204020204" pitchFamily="34" charset="-122"/>
                  <a:ea typeface="微软雅黑" panose="020B0503020204020204" pitchFamily="34" charset="-122"/>
                </a:rPr>
                <a:t>"    '   …</a:t>
              </a:r>
              <a:r>
                <a:rPr lang="zh-CN" altLang="en-US" dirty="0">
                  <a:latin typeface="微软雅黑" panose="020B0503020204020204" pitchFamily="34" charset="-122"/>
                  <a:ea typeface="微软雅黑" panose="020B0503020204020204" pitchFamily="34" charset="-122"/>
                </a:rPr>
                <a:t>等。 </a:t>
              </a:r>
            </a:p>
            <a:p>
              <a:endParaRPr lang="zh-CN" altLang="en-US" dirty="0">
                <a:latin typeface="微软雅黑" panose="020B0503020204020204" pitchFamily="34" charset="-122"/>
                <a:ea typeface="微软雅黑" panose="020B0503020204020204" pitchFamily="34" charset="-122"/>
              </a:endParaRPr>
            </a:p>
          </p:txBody>
        </p:sp>
        <p:sp>
          <p:nvSpPr>
            <p:cNvPr id="21" name="TextBox 20"/>
            <p:cNvSpPr txBox="1"/>
            <p:nvPr/>
          </p:nvSpPr>
          <p:spPr>
            <a:xfrm>
              <a:off x="2915816" y="4057905"/>
              <a:ext cx="1936915" cy="523220"/>
            </a:xfrm>
            <a:prstGeom prst="rect">
              <a:avLst/>
            </a:prstGeom>
            <a:noFill/>
          </p:spPr>
          <p:txBody>
            <a:bodyPr wrap="square" rtlCol="0">
              <a:spAutoFit/>
            </a:bodyPr>
            <a:lstStyle/>
            <a:p>
              <a:r>
                <a:rPr lang="zh-CN" altLang="en-US" sz="2800" dirty="0">
                  <a:solidFill>
                    <a:schemeClr val="accent6">
                      <a:lumMod val="50000"/>
                    </a:schemeClr>
                  </a:solidFill>
                  <a:latin typeface="方正粗倩简体" panose="03000509000000000000" pitchFamily="65" charset="-122"/>
                  <a:ea typeface="方正粗倩简体" panose="03000509000000000000" pitchFamily="65" charset="-122"/>
                </a:rPr>
                <a:t>标点符号</a:t>
              </a:r>
              <a:endParaRPr lang="en-US" altLang="zh-CN" sz="2800" dirty="0">
                <a:solidFill>
                  <a:schemeClr val="accent6">
                    <a:lumMod val="50000"/>
                  </a:schemeClr>
                </a:solidFill>
                <a:latin typeface="方正粗倩简体" panose="03000509000000000000" pitchFamily="65" charset="-122"/>
                <a:ea typeface="方正粗倩简体" panose="03000509000000000000" pitchFamily="65" charset="-122"/>
              </a:endParaRPr>
            </a:p>
          </p:txBody>
        </p:sp>
        <p:sp>
          <p:nvSpPr>
            <p:cNvPr id="23" name="矩形 22"/>
            <p:cNvSpPr/>
            <p:nvPr/>
          </p:nvSpPr>
          <p:spPr>
            <a:xfrm>
              <a:off x="4439263" y="2384463"/>
              <a:ext cx="3708882" cy="923330"/>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是由系统定义的具有特定含义的英文单词。关键字不能另作它用。</a:t>
              </a:r>
            </a:p>
            <a:p>
              <a:endParaRPr lang="zh-CN" altLang="en-US"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40360797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40364"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529002" y="3047601"/>
              <a:ext cx="1811778"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词法单位</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232310"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2</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644962" y="843558"/>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字符集</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4" name="表格 3"/>
          <p:cNvGraphicFramePr>
            <a:graphicFrameLocks noGrp="1"/>
          </p:cNvGraphicFramePr>
          <p:nvPr>
            <p:extLst>
              <p:ext uri="{D42A27DB-BD31-4B8C-83A1-F6EECF244321}">
                <p14:modId xmlns:p14="http://schemas.microsoft.com/office/powerpoint/2010/main" val="3698546882"/>
              </p:ext>
            </p:extLst>
          </p:nvPr>
        </p:nvGraphicFramePr>
        <p:xfrm>
          <a:off x="3131840" y="1975479"/>
          <a:ext cx="5869335" cy="2882908"/>
        </p:xfrm>
        <a:graphic>
          <a:graphicData uri="http://schemas.openxmlformats.org/drawingml/2006/table">
            <a:tbl>
              <a:tblPr/>
              <a:tblGrid>
                <a:gridCol w="1648310">
                  <a:extLst>
                    <a:ext uri="{9D8B030D-6E8A-4147-A177-3AD203B41FA5}">
                      <a16:colId xmlns:a16="http://schemas.microsoft.com/office/drawing/2014/main" val="20000"/>
                    </a:ext>
                  </a:extLst>
                </a:gridCol>
                <a:gridCol w="4221025">
                  <a:extLst>
                    <a:ext uri="{9D8B030D-6E8A-4147-A177-3AD203B41FA5}">
                      <a16:colId xmlns:a16="http://schemas.microsoft.com/office/drawing/2014/main" val="20001"/>
                    </a:ext>
                  </a:extLst>
                </a:gridCol>
              </a:tblGrid>
              <a:tr h="66494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i="0" u="none" strike="noStrike" cap="none" normalizeH="0" baseline="0" dirty="0">
                          <a:ln>
                            <a:noFill/>
                          </a:ln>
                          <a:solidFill>
                            <a:srgbClr val="984807"/>
                          </a:solidFill>
                          <a:effectLst/>
                          <a:latin typeface="微软雅黑" panose="020B0503020204020204" pitchFamily="34" charset="-122"/>
                          <a:ea typeface="微软雅黑" panose="020B0503020204020204" pitchFamily="34" charset="-122"/>
                        </a:rPr>
                        <a:t>小写字母</a:t>
                      </a:r>
                      <a:r>
                        <a:rPr kumimoji="0" lang="zh-CN" altLang="en-US" sz="1800" b="1" i="0" u="none" strike="noStrike" cap="none" normalizeH="0" baseline="0" dirty="0">
                          <a:ln>
                            <a:noFill/>
                          </a:ln>
                          <a:solidFill>
                            <a:srgbClr val="008080"/>
                          </a:solidFill>
                          <a:effectLst/>
                          <a:latin typeface="微软雅黑" panose="020B0503020204020204" pitchFamily="34" charset="-122"/>
                          <a:ea typeface="微软雅黑" panose="020B0503020204020204" pitchFamily="34" charset="-122"/>
                        </a:rPr>
                        <a:t> </a:t>
                      </a:r>
                    </a:p>
                  </a:txBody>
                  <a:tcPr marT="45700" marB="457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a:t>
                      </a:r>
                      <a:r>
                        <a:rPr kumimoji="0" lang="en-US" altLang="zh-CN" sz="1800" b="1"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abc</a:t>
                      </a: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z </a:t>
                      </a:r>
                    </a:p>
                  </a:txBody>
                  <a:tcPr marT="45700" marB="457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283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i="0" u="none" strike="noStrike" kern="1200" cap="none" normalizeH="0" baseline="0" dirty="0">
                          <a:ln>
                            <a:noFill/>
                          </a:ln>
                          <a:solidFill>
                            <a:srgbClr val="984807"/>
                          </a:solidFill>
                          <a:effectLst/>
                          <a:latin typeface="微软雅黑" panose="020B0503020204020204" pitchFamily="34" charset="-122"/>
                          <a:ea typeface="微软雅黑" panose="020B0503020204020204" pitchFamily="34" charset="-122"/>
                          <a:cs typeface="+mn-cs"/>
                        </a:rPr>
                        <a:t>大写字母</a:t>
                      </a:r>
                      <a:r>
                        <a:rPr kumimoji="0" lang="zh-CN" altLang="en-US" sz="1800" b="1" i="0" u="none" strike="noStrike" cap="none" normalizeH="0" baseline="0" dirty="0">
                          <a:ln>
                            <a:noFill/>
                          </a:ln>
                          <a:solidFill>
                            <a:srgbClr val="008080"/>
                          </a:solidFill>
                          <a:effectLst/>
                          <a:latin typeface="微软雅黑" panose="020B0503020204020204" pitchFamily="34" charset="-122"/>
                          <a:ea typeface="微软雅黑" panose="020B0503020204020204" pitchFamily="34" charset="-122"/>
                        </a:rPr>
                        <a:t> </a:t>
                      </a:r>
                    </a:p>
                  </a:txBody>
                  <a:tcPr marT="45700" marB="457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ABC</a:t>
                      </a: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XYZ </a:t>
                      </a:r>
                    </a:p>
                  </a:txBody>
                  <a:tcPr marT="45700" marB="457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104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i="0" u="none" strike="noStrike" kern="1200" cap="none" normalizeH="0" baseline="0" dirty="0">
                          <a:ln>
                            <a:noFill/>
                          </a:ln>
                          <a:solidFill>
                            <a:srgbClr val="984807"/>
                          </a:solidFill>
                          <a:effectLst/>
                          <a:latin typeface="微软雅黑" panose="020B0503020204020204" pitchFamily="34" charset="-122"/>
                          <a:ea typeface="微软雅黑" panose="020B0503020204020204" pitchFamily="34" charset="-122"/>
                          <a:cs typeface="+mn-cs"/>
                        </a:rPr>
                        <a:t>阿拉伯数字 </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0 1 2 3 4 5 6 7 8 9</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a:t>
                      </a:r>
                    </a:p>
                  </a:txBody>
                  <a:tcPr marT="45700" marB="457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3127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i="0" u="none" strike="noStrike" kern="1200" cap="none" normalizeH="0" baseline="0" dirty="0">
                          <a:ln>
                            <a:noFill/>
                          </a:ln>
                          <a:solidFill>
                            <a:srgbClr val="984807"/>
                          </a:solidFill>
                          <a:effectLst/>
                          <a:latin typeface="微软雅黑" panose="020B0503020204020204" pitchFamily="34" charset="-122"/>
                          <a:ea typeface="微软雅黑" panose="020B0503020204020204" pitchFamily="34" charset="-122"/>
                          <a:cs typeface="+mn-cs"/>
                        </a:rPr>
                        <a:t>其他符号 </a:t>
                      </a:r>
                    </a:p>
                  </a:txBody>
                  <a:tcPr marT="45700" marB="457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a:t>
                      </a:r>
                      <a:r>
                        <a:rPr kumimoji="0" lang="en-US"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 * / = , . _ : ; ? </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 ' ~ | ! # % &amp; ()</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 {} ^ &lt; &gt; </a:t>
                      </a:r>
                      <a:r>
                        <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空格 </a:t>
                      </a:r>
                    </a:p>
                  </a:txBody>
                  <a:tcPr marT="45700" marB="457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2390133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529002" y="3047601"/>
              <a:ext cx="1811778"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词法单位</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232310"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2</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关键字</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矩形 3"/>
          <p:cNvSpPr/>
          <p:nvPr/>
        </p:nvSpPr>
        <p:spPr>
          <a:xfrm>
            <a:off x="3174166" y="1942776"/>
            <a:ext cx="4572000" cy="2400657"/>
          </a:xfrm>
          <a:prstGeom prst="rect">
            <a:avLst/>
          </a:prstGeom>
        </p:spPr>
        <p:txBody>
          <a:bodyPr>
            <a:spAutoFit/>
          </a:bodyPr>
          <a:lstStyle/>
          <a:p>
            <a:r>
              <a:rPr lang="en-US" altLang="zh-CN" dirty="0">
                <a:latin typeface="微软雅黑" panose="020B0503020204020204" pitchFamily="34" charset="-122"/>
                <a:ea typeface="微软雅黑" panose="020B0503020204020204" pitchFamily="34" charset="-122"/>
              </a:rPr>
              <a:t>C</a:t>
            </a:r>
            <a:r>
              <a:rPr lang="zh-CN" altLang="en-US" sz="2400" dirty="0">
                <a:solidFill>
                  <a:srgbClr val="984807"/>
                </a:solidFill>
                <a:latin typeface="方正粗倩简体" panose="03000509000000000000" pitchFamily="65" charset="-122"/>
                <a:ea typeface="方正粗倩简体" panose="03000509000000000000" pitchFamily="65" charset="-122"/>
              </a:rPr>
              <a:t>区分大小写</a:t>
            </a:r>
            <a:endParaRPr lang="en-US" altLang="zh-CN" sz="2400" dirty="0">
              <a:solidFill>
                <a:srgbClr val="984807"/>
              </a:solidFill>
              <a:latin typeface="方正粗倩简体" panose="03000509000000000000" pitchFamily="65" charset="-122"/>
              <a:ea typeface="方正粗倩简体" panose="03000509000000000000" pitchFamily="65" charset="-122"/>
            </a:endParaRPr>
          </a:p>
          <a:p>
            <a:r>
              <a:rPr lang="zh-CN" altLang="en-US" dirty="0">
                <a:latin typeface="微软雅黑" panose="020B0503020204020204" pitchFamily="34" charset="-122"/>
                <a:ea typeface="微软雅黑" panose="020B0503020204020204" pitchFamily="34" charset="-122"/>
              </a:rPr>
              <a:t>关键字全部由</a:t>
            </a:r>
            <a:r>
              <a:rPr lang="zh-CN" altLang="en-US" sz="2400" dirty="0">
                <a:solidFill>
                  <a:srgbClr val="984807"/>
                </a:solidFill>
                <a:latin typeface="方正粗倩简体" panose="03000509000000000000" pitchFamily="65" charset="-122"/>
                <a:ea typeface="方正粗倩简体" panose="03000509000000000000" pitchFamily="65" charset="-122"/>
              </a:rPr>
              <a:t>小写字母</a:t>
            </a:r>
            <a:r>
              <a:rPr lang="zh-CN" altLang="en-US" dirty="0">
                <a:latin typeface="微软雅黑" panose="020B0503020204020204" pitchFamily="34" charset="-122"/>
                <a:ea typeface="微软雅黑" panose="020B0503020204020204" pitchFamily="34" charset="-122"/>
              </a:rPr>
              <a:t>组成。</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标准</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ISO14882</a:t>
            </a:r>
            <a:r>
              <a:rPr lang="zh-CN" altLang="en-US" dirty="0">
                <a:latin typeface="微软雅黑" panose="020B0503020204020204" pitchFamily="34" charset="-122"/>
                <a:ea typeface="微软雅黑" panose="020B0503020204020204" pitchFamily="34" charset="-122"/>
              </a:rPr>
              <a:t>）定义了</a:t>
            </a:r>
            <a:r>
              <a:rPr lang="en-US" altLang="zh-CN" dirty="0">
                <a:latin typeface="微软雅黑" panose="020B0503020204020204" pitchFamily="34" charset="-122"/>
                <a:ea typeface="微软雅黑" panose="020B0503020204020204" pitchFamily="34" charset="-122"/>
              </a:rPr>
              <a:t>74</a:t>
            </a:r>
            <a:r>
              <a:rPr lang="zh-CN" altLang="en-US" dirty="0">
                <a:latin typeface="微软雅黑" panose="020B0503020204020204" pitchFamily="34" charset="-122"/>
                <a:ea typeface="微软雅黑" panose="020B0503020204020204" pitchFamily="34" charset="-122"/>
              </a:rPr>
              <a:t>个关键字，具体的</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编译器会做一些增删。</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常用关键字及分类见</a:t>
            </a:r>
            <a:r>
              <a:rPr lang="zh-CN" altLang="en-US" sz="2400" dirty="0">
                <a:solidFill>
                  <a:srgbClr val="984807"/>
                </a:solidFill>
                <a:latin typeface="方正粗倩简体" panose="03000509000000000000" pitchFamily="65" charset="-122"/>
                <a:ea typeface="方正粗倩简体" panose="03000509000000000000" pitchFamily="65" charset="-122"/>
              </a:rPr>
              <a:t>表</a:t>
            </a:r>
            <a:r>
              <a:rPr lang="en-US" altLang="zh-CN" sz="2400" dirty="0">
                <a:solidFill>
                  <a:srgbClr val="984807"/>
                </a:solidFill>
                <a:latin typeface="方正粗倩简体" panose="03000509000000000000" pitchFamily="65" charset="-122"/>
                <a:ea typeface="方正粗倩简体" panose="03000509000000000000" pitchFamily="65" charset="-122"/>
              </a:rPr>
              <a:t>2.1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p48</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sz="2400" dirty="0" err="1">
                <a:solidFill>
                  <a:srgbClr val="984807"/>
                </a:solidFill>
                <a:latin typeface="方正粗倩简体" panose="03000509000000000000" pitchFamily="65" charset="-122"/>
                <a:ea typeface="方正粗倩简体" panose="03000509000000000000" pitchFamily="65" charset="-122"/>
              </a:rPr>
              <a:t>int</a:t>
            </a:r>
            <a:r>
              <a:rPr lang="en-US" altLang="zh-CN" sz="2400" dirty="0">
                <a:solidFill>
                  <a:srgbClr val="984807"/>
                </a:solidFill>
                <a:latin typeface="方正粗倩简体" panose="03000509000000000000" pitchFamily="65" charset="-122"/>
                <a:ea typeface="方正粗倩简体" panose="03000509000000000000" pitchFamily="65" charset="-122"/>
              </a:rPr>
              <a:t> if else for while class</a:t>
            </a:r>
            <a:endParaRPr lang="zh-CN" altLang="en-US" sz="2400" dirty="0">
              <a:solidFill>
                <a:srgbClr val="984807"/>
              </a:solidFill>
              <a:latin typeface="方正粗倩简体" panose="03000509000000000000" pitchFamily="65" charset="-122"/>
              <a:ea typeface="方正粗倩简体" panose="03000509000000000000" pitchFamily="65" charset="-122"/>
            </a:endParaRPr>
          </a:p>
        </p:txBody>
      </p:sp>
    </p:spTree>
    <p:extLst>
      <p:ext uri="{BB962C8B-B14F-4D97-AF65-F5344CB8AC3E}">
        <p14:creationId xmlns:p14="http://schemas.microsoft.com/office/powerpoint/2010/main" val="101647141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529002" y="3047601"/>
              <a:ext cx="1811778"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词法单位</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232310"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2</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标识符</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矩形 3"/>
          <p:cNvSpPr/>
          <p:nvPr/>
        </p:nvSpPr>
        <p:spPr>
          <a:xfrm>
            <a:off x="3203848" y="1727032"/>
            <a:ext cx="4572000" cy="978729"/>
          </a:xfrm>
          <a:prstGeom prst="rect">
            <a:avLst/>
          </a:prstGeom>
        </p:spPr>
        <p:txBody>
          <a:bodyPr>
            <a:spAutoFit/>
          </a:bodyPr>
          <a:lstStyle/>
          <a:p>
            <a:pPr>
              <a:lnSpc>
                <a:spcPct val="120000"/>
              </a:lnSpc>
              <a:spcBef>
                <a:spcPct val="50000"/>
              </a:spcBef>
            </a:pPr>
            <a:r>
              <a:rPr lang="zh-CN" altLang="en-US" dirty="0">
                <a:latin typeface="微软雅黑" panose="020B0503020204020204" pitchFamily="34" charset="-122"/>
                <a:ea typeface="微软雅黑" panose="020B0503020204020204" pitchFamily="34" charset="-122"/>
              </a:rPr>
              <a:t>合法标识符以</a:t>
            </a:r>
            <a:r>
              <a:rPr lang="zh-CN" altLang="en-US" sz="2400" dirty="0">
                <a:solidFill>
                  <a:srgbClr val="984807"/>
                </a:solidFill>
                <a:latin typeface="方正粗倩简体" panose="03000509000000000000" pitchFamily="65" charset="-122"/>
                <a:ea typeface="方正粗倩简体" panose="03000509000000000000" pitchFamily="65" charset="-122"/>
              </a:rPr>
              <a:t>字母或下划线</a:t>
            </a:r>
            <a:r>
              <a:rPr lang="zh-CN" altLang="en-US" dirty="0">
                <a:latin typeface="微软雅黑" panose="020B0503020204020204" pitchFamily="34" charset="-122"/>
                <a:ea typeface="微软雅黑" panose="020B0503020204020204" pitchFamily="34" charset="-122"/>
              </a:rPr>
              <a:t>开始，由</a:t>
            </a:r>
            <a:r>
              <a:rPr lang="zh-CN" altLang="en-US" sz="2400" dirty="0">
                <a:solidFill>
                  <a:srgbClr val="984807"/>
                </a:solidFill>
                <a:latin typeface="方正粗倩简体" panose="03000509000000000000" pitchFamily="65" charset="-122"/>
                <a:ea typeface="方正粗倩简体" panose="03000509000000000000" pitchFamily="65" charset="-122"/>
              </a:rPr>
              <a:t>字母、数字、下划线</a:t>
            </a:r>
            <a:r>
              <a:rPr lang="zh-CN" altLang="en-US" dirty="0">
                <a:latin typeface="微软雅黑" panose="020B0503020204020204" pitchFamily="34" charset="-122"/>
                <a:ea typeface="微软雅黑" panose="020B0503020204020204" pitchFamily="34" charset="-122"/>
              </a:rPr>
              <a:t>组成。</a:t>
            </a:r>
          </a:p>
        </p:txBody>
      </p:sp>
      <p:sp>
        <p:nvSpPr>
          <p:cNvPr id="24" name="AutoShape 4" descr="正确&#10;"/>
          <p:cNvSpPr>
            <a:spLocks noChangeArrowheads="1"/>
          </p:cNvSpPr>
          <p:nvPr/>
        </p:nvSpPr>
        <p:spPr bwMode="auto">
          <a:xfrm>
            <a:off x="4449740" y="2791120"/>
            <a:ext cx="307975" cy="357188"/>
          </a:xfrm>
          <a:prstGeom prst="smileyFace">
            <a:avLst>
              <a:gd name="adj" fmla="val 4653"/>
            </a:avLst>
          </a:prstGeom>
          <a:solidFill>
            <a:srgbClr val="FFCC00"/>
          </a:solidFill>
          <a:ln w="9525">
            <a:solidFill>
              <a:schemeClr val="tx1"/>
            </a:solidFill>
            <a:miter lim="800000"/>
            <a:headEnd/>
            <a:tailEnd/>
          </a:ln>
        </p:spPr>
        <p:txBody>
          <a:bodyPr wrap="none" anchor="ct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0"/>
              </a:spcBef>
              <a:buClrTx/>
              <a:buSzTx/>
              <a:buFontTx/>
              <a:buNone/>
            </a:pPr>
            <a:endParaRPr lang="zh-CN" altLang="en-US" sz="1800">
              <a:latin typeface="微软雅黑" panose="020B0503020204020204" pitchFamily="34" charset="-122"/>
              <a:ea typeface="微软雅黑" panose="020B0503020204020204" pitchFamily="34" charset="-122"/>
            </a:endParaRPr>
          </a:p>
        </p:txBody>
      </p:sp>
      <p:sp>
        <p:nvSpPr>
          <p:cNvPr id="26" name="AutoShape 6" descr="正确"/>
          <p:cNvSpPr>
            <a:spLocks noChangeArrowheads="1"/>
          </p:cNvSpPr>
          <p:nvPr/>
        </p:nvSpPr>
        <p:spPr bwMode="auto">
          <a:xfrm>
            <a:off x="4449740" y="3786640"/>
            <a:ext cx="307975" cy="357188"/>
          </a:xfrm>
          <a:prstGeom prst="smileyFace">
            <a:avLst>
              <a:gd name="adj" fmla="val 4653"/>
            </a:avLst>
          </a:prstGeom>
          <a:solidFill>
            <a:srgbClr val="FFCC00"/>
          </a:solidFill>
          <a:ln w="9525">
            <a:solidFill>
              <a:schemeClr val="tx1"/>
            </a:solidFill>
            <a:miter lim="800000"/>
            <a:headEnd/>
            <a:tailEnd/>
          </a:ln>
        </p:spPr>
        <p:txBody>
          <a:bodyPr wrap="none" anchor="ct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0"/>
              </a:spcBef>
              <a:buClrTx/>
              <a:buSzTx/>
              <a:buFontTx/>
              <a:buNone/>
            </a:pPr>
            <a:endParaRPr lang="zh-CN" altLang="en-US" sz="1800">
              <a:latin typeface="微软雅黑" panose="020B0503020204020204" pitchFamily="34" charset="-122"/>
              <a:ea typeface="微软雅黑" panose="020B0503020204020204" pitchFamily="34" charset="-122"/>
            </a:endParaRPr>
          </a:p>
        </p:txBody>
      </p:sp>
      <p:sp>
        <p:nvSpPr>
          <p:cNvPr id="27" name="AutoShape 7" descr="正确"/>
          <p:cNvSpPr>
            <a:spLocks noChangeArrowheads="1"/>
          </p:cNvSpPr>
          <p:nvPr/>
        </p:nvSpPr>
        <p:spPr bwMode="auto">
          <a:xfrm>
            <a:off x="6924385" y="3288880"/>
            <a:ext cx="307975" cy="357188"/>
          </a:xfrm>
          <a:prstGeom prst="smileyFace">
            <a:avLst>
              <a:gd name="adj" fmla="val 4653"/>
            </a:avLst>
          </a:prstGeom>
          <a:solidFill>
            <a:srgbClr val="FFCC00"/>
          </a:solidFill>
          <a:ln w="9525">
            <a:solidFill>
              <a:schemeClr val="tx1"/>
            </a:solidFill>
            <a:miter lim="800000"/>
            <a:headEnd/>
            <a:tailEnd/>
          </a:ln>
        </p:spPr>
        <p:txBody>
          <a:bodyPr wrap="none" anchor="ct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0"/>
              </a:spcBef>
              <a:buClrTx/>
              <a:buSzTx/>
              <a:buFontTx/>
              <a:buNone/>
            </a:pPr>
            <a:endParaRPr lang="zh-CN" altLang="en-US" sz="1800">
              <a:latin typeface="微软雅黑" panose="020B0503020204020204" pitchFamily="34" charset="-122"/>
              <a:ea typeface="微软雅黑" panose="020B0503020204020204" pitchFamily="34" charset="-122"/>
            </a:endParaRPr>
          </a:p>
        </p:txBody>
      </p:sp>
      <p:sp>
        <p:nvSpPr>
          <p:cNvPr id="28" name="AutoShape 8" descr="错误"/>
          <p:cNvSpPr>
            <a:spLocks noChangeArrowheads="1"/>
          </p:cNvSpPr>
          <p:nvPr/>
        </p:nvSpPr>
        <p:spPr bwMode="auto">
          <a:xfrm>
            <a:off x="4449740" y="3288880"/>
            <a:ext cx="307975" cy="357188"/>
          </a:xfrm>
          <a:prstGeom prst="flowChartSummingJunction">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0"/>
              </a:spcBef>
              <a:buClrTx/>
              <a:buSzTx/>
              <a:buFontTx/>
              <a:buNone/>
            </a:pPr>
            <a:endParaRPr lang="zh-CN" altLang="en-US" sz="1800">
              <a:latin typeface="微软雅黑" panose="020B0503020204020204" pitchFamily="34" charset="-122"/>
              <a:ea typeface="微软雅黑" panose="020B0503020204020204" pitchFamily="34" charset="-122"/>
            </a:endParaRPr>
          </a:p>
        </p:txBody>
      </p:sp>
      <p:sp>
        <p:nvSpPr>
          <p:cNvPr id="29" name="AutoShape 9" descr="错误"/>
          <p:cNvSpPr>
            <a:spLocks noChangeArrowheads="1"/>
          </p:cNvSpPr>
          <p:nvPr/>
        </p:nvSpPr>
        <p:spPr bwMode="auto">
          <a:xfrm>
            <a:off x="6924385" y="4284401"/>
            <a:ext cx="307975" cy="357188"/>
          </a:xfrm>
          <a:prstGeom prst="flowChartSummingJunction">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0"/>
              </a:spcBef>
              <a:buClrTx/>
              <a:buSzTx/>
              <a:buFontTx/>
              <a:buNone/>
            </a:pPr>
            <a:endParaRPr lang="zh-CN" altLang="en-US" sz="1800">
              <a:latin typeface="微软雅黑" panose="020B0503020204020204" pitchFamily="34" charset="-122"/>
              <a:ea typeface="微软雅黑" panose="020B0503020204020204" pitchFamily="34" charset="-122"/>
            </a:endParaRPr>
          </a:p>
        </p:txBody>
      </p:sp>
      <p:sp>
        <p:nvSpPr>
          <p:cNvPr id="30" name="AutoShape 10" descr="错误"/>
          <p:cNvSpPr>
            <a:spLocks noChangeArrowheads="1"/>
          </p:cNvSpPr>
          <p:nvPr/>
        </p:nvSpPr>
        <p:spPr bwMode="auto">
          <a:xfrm>
            <a:off x="4449740" y="4284401"/>
            <a:ext cx="307975" cy="357188"/>
          </a:xfrm>
          <a:prstGeom prst="flowChartSummingJunction">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0"/>
              </a:spcBef>
              <a:buClrTx/>
              <a:buSzTx/>
              <a:buFontTx/>
              <a:buNone/>
            </a:pPr>
            <a:endParaRPr lang="zh-CN" altLang="en-US" sz="1800">
              <a:latin typeface="微软雅黑" panose="020B0503020204020204" pitchFamily="34" charset="-122"/>
              <a:ea typeface="微软雅黑" panose="020B0503020204020204" pitchFamily="34" charset="-122"/>
            </a:endParaRPr>
          </a:p>
        </p:txBody>
      </p:sp>
      <p:sp>
        <p:nvSpPr>
          <p:cNvPr id="31" name="AutoShape 11" descr="错误"/>
          <p:cNvSpPr>
            <a:spLocks noChangeArrowheads="1"/>
          </p:cNvSpPr>
          <p:nvPr/>
        </p:nvSpPr>
        <p:spPr bwMode="auto">
          <a:xfrm>
            <a:off x="6924385" y="3786640"/>
            <a:ext cx="307975" cy="357188"/>
          </a:xfrm>
          <a:prstGeom prst="flowChartSummingJunction">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0"/>
              </a:spcBef>
              <a:buClrTx/>
              <a:buSzTx/>
              <a:buFontTx/>
              <a:buNone/>
            </a:pPr>
            <a:endParaRPr lang="zh-CN" altLang="en-US" sz="1800">
              <a:latin typeface="微软雅黑" panose="020B0503020204020204" pitchFamily="34" charset="-122"/>
              <a:ea typeface="微软雅黑" panose="020B0503020204020204" pitchFamily="34" charset="-122"/>
            </a:endParaRPr>
          </a:p>
        </p:txBody>
      </p:sp>
      <p:sp>
        <p:nvSpPr>
          <p:cNvPr id="32" name="AutoShape 12" descr="错误"/>
          <p:cNvSpPr>
            <a:spLocks noChangeArrowheads="1"/>
          </p:cNvSpPr>
          <p:nvPr/>
        </p:nvSpPr>
        <p:spPr bwMode="auto">
          <a:xfrm>
            <a:off x="6924385" y="2791120"/>
            <a:ext cx="307975" cy="357188"/>
          </a:xfrm>
          <a:prstGeom prst="flowChartSummingJunction">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0"/>
              </a:spcBef>
              <a:buClrTx/>
              <a:buSzTx/>
              <a:buFontTx/>
              <a:buNone/>
            </a:pPr>
            <a:endParaRPr lang="zh-CN" altLang="en-US" sz="1800">
              <a:latin typeface="微软雅黑" panose="020B0503020204020204" pitchFamily="34" charset="-122"/>
              <a:ea typeface="微软雅黑" panose="020B0503020204020204" pitchFamily="34" charset="-122"/>
            </a:endParaRPr>
          </a:p>
        </p:txBody>
      </p:sp>
      <p:sp>
        <p:nvSpPr>
          <p:cNvPr id="33" name="Text Box 13"/>
          <p:cNvSpPr txBox="1">
            <a:spLocks noChangeArrowheads="1"/>
          </p:cNvSpPr>
          <p:nvPr/>
        </p:nvSpPr>
        <p:spPr bwMode="auto">
          <a:xfrm>
            <a:off x="2899043" y="2841269"/>
            <a:ext cx="1371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50000"/>
              </a:spcBef>
              <a:buClrTx/>
              <a:buSzTx/>
              <a:buFontTx/>
              <a:buNone/>
            </a:pPr>
            <a:r>
              <a:rPr kumimoji="1" lang="en-US" altLang="zh-CN" sz="1800" dirty="0" err="1">
                <a:latin typeface="微软雅黑" panose="020B0503020204020204" pitchFamily="34" charset="-122"/>
                <a:ea typeface="微软雅黑" panose="020B0503020204020204" pitchFamily="34" charset="-122"/>
              </a:rPr>
              <a:t>MyFile</a:t>
            </a:r>
            <a:endParaRPr kumimoji="1" lang="en-US" altLang="zh-CN" sz="1800" dirty="0">
              <a:latin typeface="微软雅黑" panose="020B0503020204020204" pitchFamily="34" charset="-122"/>
              <a:ea typeface="微软雅黑" panose="020B0503020204020204" pitchFamily="34" charset="-122"/>
            </a:endParaRPr>
          </a:p>
        </p:txBody>
      </p:sp>
      <p:sp>
        <p:nvSpPr>
          <p:cNvPr id="36" name="Text Box 14"/>
          <p:cNvSpPr txBox="1">
            <a:spLocks noChangeArrowheads="1"/>
          </p:cNvSpPr>
          <p:nvPr/>
        </p:nvSpPr>
        <p:spPr bwMode="auto">
          <a:xfrm>
            <a:off x="2899043" y="3324396"/>
            <a:ext cx="1752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50000"/>
              </a:spcBef>
              <a:buClrTx/>
              <a:buSzTx/>
              <a:buFontTx/>
              <a:buNone/>
            </a:pPr>
            <a:r>
              <a:rPr kumimoji="1" lang="en-US" altLang="zh-CN" sz="1800" dirty="0">
                <a:latin typeface="微软雅黑" panose="020B0503020204020204" pitchFamily="34" charset="-122"/>
                <a:ea typeface="微软雅黑" panose="020B0503020204020204" pitchFamily="34" charset="-122"/>
              </a:rPr>
              <a:t>Salary  94</a:t>
            </a:r>
          </a:p>
        </p:txBody>
      </p:sp>
      <p:sp>
        <p:nvSpPr>
          <p:cNvPr id="38" name="Text Box 15"/>
          <p:cNvSpPr txBox="1">
            <a:spLocks noChangeArrowheads="1"/>
          </p:cNvSpPr>
          <p:nvPr/>
        </p:nvSpPr>
        <p:spPr bwMode="auto">
          <a:xfrm>
            <a:off x="2899043" y="3807523"/>
            <a:ext cx="1371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50000"/>
              </a:spcBef>
              <a:buClrTx/>
              <a:buSzTx/>
              <a:buFontTx/>
              <a:buNone/>
            </a:pPr>
            <a:r>
              <a:rPr kumimoji="1" lang="en-US" altLang="zh-CN" sz="1800" dirty="0">
                <a:latin typeface="微软雅黑" panose="020B0503020204020204" pitchFamily="34" charset="-122"/>
                <a:ea typeface="微软雅黑" panose="020B0503020204020204" pitchFamily="34" charset="-122"/>
              </a:rPr>
              <a:t>amount</a:t>
            </a:r>
          </a:p>
        </p:txBody>
      </p:sp>
      <p:sp>
        <p:nvSpPr>
          <p:cNvPr id="39" name="Text Box 16"/>
          <p:cNvSpPr txBox="1">
            <a:spLocks noChangeArrowheads="1"/>
          </p:cNvSpPr>
          <p:nvPr/>
        </p:nvSpPr>
        <p:spPr bwMode="auto">
          <a:xfrm>
            <a:off x="2899043" y="4290650"/>
            <a:ext cx="1371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50000"/>
              </a:spcBef>
              <a:buClrTx/>
              <a:buSzTx/>
              <a:buFontTx/>
              <a:buNone/>
            </a:pPr>
            <a:r>
              <a:rPr kumimoji="1" lang="en-US" altLang="zh-CN" sz="1800" dirty="0">
                <a:latin typeface="微软雅黑" panose="020B0503020204020204" pitchFamily="34" charset="-122"/>
                <a:ea typeface="微软雅黑" panose="020B0503020204020204" pitchFamily="34" charset="-122"/>
              </a:rPr>
              <a:t>void</a:t>
            </a:r>
          </a:p>
        </p:txBody>
      </p:sp>
      <p:sp>
        <p:nvSpPr>
          <p:cNvPr id="40" name="Text Box 17"/>
          <p:cNvSpPr txBox="1">
            <a:spLocks noChangeArrowheads="1"/>
          </p:cNvSpPr>
          <p:nvPr/>
        </p:nvSpPr>
        <p:spPr bwMode="auto">
          <a:xfrm>
            <a:off x="5324185" y="2762687"/>
            <a:ext cx="1600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50000"/>
              </a:spcBef>
              <a:buClrTx/>
              <a:buSzTx/>
              <a:buFontTx/>
              <a:buNone/>
            </a:pPr>
            <a:r>
              <a:rPr kumimoji="1" lang="en-US" altLang="zh-CN" sz="1800" dirty="0">
                <a:latin typeface="微软雅黑" panose="020B0503020204020204" pitchFamily="34" charset="-122"/>
                <a:ea typeface="微软雅黑" panose="020B0503020204020204" pitchFamily="34" charset="-122"/>
              </a:rPr>
              <a:t>94Salary</a:t>
            </a:r>
          </a:p>
        </p:txBody>
      </p:sp>
      <p:sp>
        <p:nvSpPr>
          <p:cNvPr id="41" name="Text Box 18"/>
          <p:cNvSpPr txBox="1">
            <a:spLocks noChangeArrowheads="1"/>
          </p:cNvSpPr>
          <p:nvPr/>
        </p:nvSpPr>
        <p:spPr bwMode="auto">
          <a:xfrm>
            <a:off x="5324185" y="3259642"/>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50000"/>
              </a:spcBef>
              <a:buClrTx/>
              <a:buSzTx/>
              <a:buFontTx/>
              <a:buNone/>
            </a:pPr>
            <a:r>
              <a:rPr kumimoji="1" lang="en-US" altLang="zh-CN" sz="1800" dirty="0">
                <a:latin typeface="微软雅黑" panose="020B0503020204020204" pitchFamily="34" charset="-122"/>
                <a:ea typeface="微软雅黑" panose="020B0503020204020204" pitchFamily="34" charset="-122"/>
              </a:rPr>
              <a:t>Salary94</a:t>
            </a:r>
          </a:p>
        </p:txBody>
      </p:sp>
      <p:sp>
        <p:nvSpPr>
          <p:cNvPr id="43" name="Text Box 19"/>
          <p:cNvSpPr txBox="1">
            <a:spLocks noChangeArrowheads="1"/>
          </p:cNvSpPr>
          <p:nvPr/>
        </p:nvSpPr>
        <p:spPr bwMode="auto">
          <a:xfrm>
            <a:off x="5324185" y="3756597"/>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50000"/>
              </a:spcBef>
              <a:buClrTx/>
              <a:buSzTx/>
              <a:buFontTx/>
              <a:buNone/>
            </a:pPr>
            <a:r>
              <a:rPr kumimoji="1" lang="en-US" altLang="zh-CN" sz="1800" dirty="0">
                <a:latin typeface="微软雅黑" panose="020B0503020204020204" pitchFamily="34" charset="-122"/>
                <a:ea typeface="微软雅黑" panose="020B0503020204020204" pitchFamily="34" charset="-122"/>
              </a:rPr>
              <a:t>$amount</a:t>
            </a:r>
          </a:p>
        </p:txBody>
      </p:sp>
      <p:sp>
        <p:nvSpPr>
          <p:cNvPr id="44" name="Text Box 20"/>
          <p:cNvSpPr txBox="1">
            <a:spLocks noChangeArrowheads="1"/>
          </p:cNvSpPr>
          <p:nvPr/>
        </p:nvSpPr>
        <p:spPr bwMode="auto">
          <a:xfrm>
            <a:off x="5324185" y="4253553"/>
            <a:ext cx="1371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50000"/>
              </a:spcBef>
              <a:buClrTx/>
              <a:buSzTx/>
              <a:buFontTx/>
              <a:buNone/>
            </a:pPr>
            <a:r>
              <a:rPr kumimoji="1" lang="en-US" altLang="zh-CN" sz="1800" dirty="0">
                <a:latin typeface="微软雅黑" panose="020B0503020204020204" pitchFamily="34" charset="-122"/>
                <a:ea typeface="微软雅黑" panose="020B0503020204020204" pitchFamily="34" charset="-122"/>
              </a:rPr>
              <a:t>f3.5</a:t>
            </a:r>
          </a:p>
        </p:txBody>
      </p:sp>
    </p:spTree>
    <p:extLst>
      <p:ext uri="{BB962C8B-B14F-4D97-AF65-F5344CB8AC3E}">
        <p14:creationId xmlns:p14="http://schemas.microsoft.com/office/powerpoint/2010/main" val="80297392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3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2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4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3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3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2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41"/>
                                        </p:tgtEl>
                                        <p:attrNameLst>
                                          <p:attrName>style.visibility</p:attrName>
                                        </p:attrNameLst>
                                      </p:cBhvr>
                                      <p:to>
                                        <p:strVal val="visible"/>
                                      </p:to>
                                    </p:se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499"/>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3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3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3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4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P spid="27" grpId="0" animBg="1"/>
      <p:bldP spid="28" grpId="0" animBg="1"/>
      <p:bldP spid="29" grpId="0" animBg="1"/>
      <p:bldP spid="30" grpId="0" animBg="1"/>
      <p:bldP spid="31" grpId="0" animBg="1"/>
      <p:bldP spid="32" grpId="0" animBg="1"/>
      <p:bldP spid="33" grpId="0" autoUpdateAnimBg="0"/>
      <p:bldP spid="36" grpId="0" autoUpdateAnimBg="0"/>
      <p:bldP spid="38" grpId="0" autoUpdateAnimBg="0"/>
      <p:bldP spid="39" grpId="0" autoUpdateAnimBg="0"/>
      <p:bldP spid="40" grpId="0" autoUpdateAnimBg="0"/>
      <p:bldP spid="41" grpId="0" autoUpdateAnimBg="0"/>
      <p:bldP spid="43" grpId="0" autoUpdateAnimBg="0"/>
      <p:bldP spid="44"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529002" y="3047601"/>
              <a:ext cx="1811778"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词法单位</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232310"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2</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标点符号</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组合 5"/>
          <p:cNvGrpSpPr/>
          <p:nvPr/>
        </p:nvGrpSpPr>
        <p:grpSpPr>
          <a:xfrm>
            <a:off x="2838399" y="1875336"/>
            <a:ext cx="6203950" cy="2784646"/>
            <a:chOff x="2838399" y="1875336"/>
            <a:chExt cx="6203950" cy="2784646"/>
          </a:xfrm>
        </p:grpSpPr>
        <p:sp>
          <p:nvSpPr>
            <p:cNvPr id="22" name="Text Box 3"/>
            <p:cNvSpPr txBox="1">
              <a:spLocks noChangeArrowheads="1"/>
            </p:cNvSpPr>
            <p:nvPr/>
          </p:nvSpPr>
          <p:spPr bwMode="auto">
            <a:xfrm>
              <a:off x="2838399" y="1875336"/>
              <a:ext cx="6203950"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50000"/>
                </a:spcBef>
                <a:buClrTx/>
                <a:buSzTx/>
                <a:buFontTx/>
                <a:buNone/>
              </a:pPr>
              <a:r>
                <a:rPr kumimoji="1" lang="zh-CN" altLang="en-US" sz="2400" dirty="0">
                  <a:solidFill>
                    <a:srgbClr val="984807"/>
                  </a:solidFill>
                  <a:latin typeface="方正粗倩简体" panose="03000509000000000000" pitchFamily="65" charset="-122"/>
                  <a:ea typeface="方正粗倩简体" panose="03000509000000000000" pitchFamily="65" charset="-122"/>
                </a:rPr>
                <a:t>标点符号</a:t>
              </a:r>
              <a:r>
                <a:rPr kumimoji="1" lang="en-US" altLang="zh-CN" sz="2400" dirty="0">
                  <a:solidFill>
                    <a:srgbClr val="984807"/>
                  </a:solidFill>
                  <a:latin typeface="方正粗倩简体" panose="03000509000000000000" pitchFamily="65" charset="-122"/>
                  <a:ea typeface="方正粗倩简体" panose="03000509000000000000" pitchFamily="65" charset="-122"/>
                </a:rPr>
                <a:t>:</a:t>
              </a:r>
            </a:p>
            <a:p>
              <a:pPr eaLnBrk="1" hangingPunct="1">
                <a:spcBef>
                  <a:spcPct val="50000"/>
                </a:spcBef>
                <a:buClrTx/>
                <a:buSzTx/>
                <a:buFontTx/>
                <a:buNone/>
              </a:pPr>
              <a:r>
                <a:rPr kumimoji="1" lang="en-US" altLang="zh-CN" sz="1800" dirty="0">
                  <a:latin typeface="微软雅黑" panose="020B0503020204020204" pitchFamily="34" charset="-122"/>
                  <a:ea typeface="微软雅黑" panose="020B0503020204020204" pitchFamily="34" charset="-122"/>
                </a:rPr>
                <a:t>#   ( )   {}   </a:t>
              </a:r>
              <a:r>
                <a:rPr kumimoji="1" lang="zh-CN" altLang="en-US" sz="1800" dirty="0">
                  <a:latin typeface="微软雅黑" panose="020B0503020204020204" pitchFamily="34" charset="-122"/>
                  <a:ea typeface="微软雅黑" panose="020B0503020204020204" pitchFamily="34" charset="-122"/>
                </a:rPr>
                <a:t>， ： ； </a:t>
              </a:r>
              <a:r>
                <a:rPr kumimoji="1" lang="en-US" altLang="zh-CN" sz="1800" dirty="0">
                  <a:latin typeface="微软雅黑" panose="020B0503020204020204" pitchFamily="34" charset="-122"/>
                  <a:ea typeface="微软雅黑" panose="020B0503020204020204" pitchFamily="34" charset="-122"/>
                </a:rPr>
                <a:t>"    '   …</a:t>
              </a:r>
              <a:r>
                <a:rPr kumimoji="1" lang="zh-CN" altLang="en-US" sz="1800" dirty="0">
                  <a:latin typeface="微软雅黑" panose="020B0503020204020204" pitchFamily="34" charset="-122"/>
                  <a:ea typeface="微软雅黑" panose="020B0503020204020204" pitchFamily="34" charset="-122"/>
                </a:rPr>
                <a:t>等。 </a:t>
              </a:r>
            </a:p>
          </p:txBody>
        </p:sp>
        <p:sp>
          <p:nvSpPr>
            <p:cNvPr id="24" name="Text Box 5"/>
            <p:cNvSpPr txBox="1">
              <a:spLocks noChangeArrowheads="1"/>
            </p:cNvSpPr>
            <p:nvPr/>
          </p:nvSpPr>
          <p:spPr bwMode="auto">
            <a:xfrm>
              <a:off x="2843808" y="3035736"/>
              <a:ext cx="3276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a:spcBef>
                  <a:spcPct val="50000"/>
                </a:spcBef>
                <a:buClrTx/>
                <a:buSzTx/>
                <a:buNone/>
              </a:pPr>
              <a:r>
                <a:rPr kumimoji="1" lang="zh-CN" altLang="en-US" sz="2400" dirty="0">
                  <a:solidFill>
                    <a:srgbClr val="984807"/>
                  </a:solidFill>
                  <a:latin typeface="方正粗倩简体" panose="03000509000000000000" pitchFamily="65" charset="-122"/>
                  <a:ea typeface="方正粗倩简体" panose="03000509000000000000" pitchFamily="65" charset="-122"/>
                </a:rPr>
                <a:t>标点符号的作用</a:t>
              </a:r>
              <a:r>
                <a:rPr kumimoji="1" lang="en-US" altLang="zh-CN" sz="2400" dirty="0">
                  <a:solidFill>
                    <a:srgbClr val="984807"/>
                  </a:solidFill>
                  <a:latin typeface="方正粗倩简体" panose="03000509000000000000" pitchFamily="65" charset="-122"/>
                  <a:ea typeface="方正粗倩简体" panose="03000509000000000000" pitchFamily="65" charset="-122"/>
                </a:rPr>
                <a:t>:</a:t>
              </a:r>
            </a:p>
          </p:txBody>
        </p:sp>
        <p:sp>
          <p:nvSpPr>
            <p:cNvPr id="25" name="Text Box 6"/>
            <p:cNvSpPr txBox="1">
              <a:spLocks noChangeArrowheads="1"/>
            </p:cNvSpPr>
            <p:nvPr/>
          </p:nvSpPr>
          <p:spPr bwMode="auto">
            <a:xfrm>
              <a:off x="2855913" y="3581603"/>
              <a:ext cx="6019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a:spcBef>
                  <a:spcPct val="50000"/>
                </a:spcBef>
                <a:buClrTx/>
                <a:buSzTx/>
                <a:buNone/>
              </a:pPr>
              <a:r>
                <a:rPr kumimoji="1" lang="zh-CN" altLang="en-US" sz="1800" dirty="0">
                  <a:latin typeface="微软雅黑" panose="020B0503020204020204" pitchFamily="34" charset="-122"/>
                  <a:ea typeface="微软雅黑" panose="020B0503020204020204" pitchFamily="34" charset="-122"/>
                </a:rPr>
                <a:t>有一定的语法意义。如字符和字符串常量分别用</a:t>
              </a:r>
              <a:r>
                <a:rPr kumimoji="1" lang="en-US" altLang="zh-CN" sz="1800" dirty="0">
                  <a:latin typeface="微软雅黑" panose="020B0503020204020204" pitchFamily="34" charset="-122"/>
                  <a:ea typeface="微软雅黑" panose="020B0503020204020204" pitchFamily="34" charset="-122"/>
                </a:rPr>
                <a:t>' '</a:t>
              </a:r>
              <a:r>
                <a:rPr kumimoji="1" lang="zh-CN" altLang="en-US" sz="1800" dirty="0">
                  <a:latin typeface="微软雅黑" panose="020B0503020204020204" pitchFamily="34" charset="-122"/>
                  <a:ea typeface="微软雅黑" panose="020B0503020204020204" pitchFamily="34" charset="-122"/>
                </a:rPr>
                <a:t>和 </a:t>
              </a:r>
              <a:r>
                <a:rPr kumimoji="1" lang="en-US" altLang="zh-CN" sz="1800" dirty="0">
                  <a:latin typeface="微软雅黑" panose="020B0503020204020204" pitchFamily="34" charset="-122"/>
                  <a:ea typeface="微软雅黑" panose="020B0503020204020204" pitchFamily="34" charset="-122"/>
                </a:rPr>
                <a:t>" "</a:t>
              </a:r>
              <a:r>
                <a:rPr kumimoji="1" lang="zh-CN" altLang="en-US" sz="1800" dirty="0">
                  <a:latin typeface="微软雅黑" panose="020B0503020204020204" pitchFamily="34" charset="-122"/>
                  <a:ea typeface="微软雅黑" panose="020B0503020204020204" pitchFamily="34" charset="-122"/>
                </a:rPr>
                <a:t>引起来。</a:t>
              </a:r>
            </a:p>
          </p:txBody>
        </p:sp>
        <p:sp>
          <p:nvSpPr>
            <p:cNvPr id="4" name="矩形 3"/>
            <p:cNvSpPr/>
            <p:nvPr/>
          </p:nvSpPr>
          <p:spPr>
            <a:xfrm>
              <a:off x="2855913" y="4290650"/>
              <a:ext cx="3589444" cy="369332"/>
            </a:xfrm>
            <a:prstGeom prst="rect">
              <a:avLst/>
            </a:prstGeom>
          </p:spPr>
          <p:txBody>
            <a:bodyPr wrap="none">
              <a:spAutoFit/>
            </a:bodyPr>
            <a:lstStyle/>
            <a:p>
              <a:pPr>
                <a:spcBef>
                  <a:spcPct val="50000"/>
                </a:spcBef>
              </a:pPr>
              <a:r>
                <a:rPr kumimoji="1" lang="zh-CN" altLang="en-US" dirty="0">
                  <a:latin typeface="微软雅黑" panose="020B0503020204020204" pitchFamily="34" charset="-122"/>
                  <a:ea typeface="微软雅黑" panose="020B0503020204020204" pitchFamily="34" charset="-122"/>
                </a:rPr>
                <a:t>对语法符号起分隔作用。如   ；等</a:t>
              </a:r>
            </a:p>
          </p:txBody>
        </p:sp>
      </p:grpSp>
    </p:spTree>
    <p:extLst>
      <p:ext uri="{BB962C8B-B14F-4D97-AF65-F5344CB8AC3E}">
        <p14:creationId xmlns:p14="http://schemas.microsoft.com/office/powerpoint/2010/main" val="122269669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20895" y="2775353"/>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常量</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变量</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3</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常量与变量</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矩形 5"/>
          <p:cNvSpPr/>
          <p:nvPr/>
        </p:nvSpPr>
        <p:spPr>
          <a:xfrm>
            <a:off x="2987824" y="2482130"/>
            <a:ext cx="5976664" cy="1385764"/>
          </a:xfrm>
          <a:prstGeom prst="rect">
            <a:avLst/>
          </a:prstGeom>
        </p:spPr>
        <p:txBody>
          <a:bodyPr wrap="square">
            <a:spAutoFit/>
          </a:bodyPr>
          <a:lstStyle/>
          <a:p>
            <a:pPr>
              <a:lnSpc>
                <a:spcPct val="120000"/>
              </a:lnSpc>
              <a:buClr>
                <a:schemeClr val="hlink"/>
              </a:buClr>
            </a:pPr>
            <a:r>
              <a:rPr lang="zh-CN" altLang="en-US" sz="2400" dirty="0">
                <a:solidFill>
                  <a:srgbClr val="984807"/>
                </a:solidFill>
                <a:latin typeface="方正粗倩简体" panose="03000509000000000000" pitchFamily="65" charset="-122"/>
                <a:ea typeface="方正粗倩简体" panose="03000509000000000000" pitchFamily="65" charset="-122"/>
              </a:rPr>
              <a:t>数据</a:t>
            </a:r>
          </a:p>
          <a:p>
            <a:pPr lvl="1">
              <a:lnSpc>
                <a:spcPct val="120000"/>
              </a:lnSpc>
              <a:buClr>
                <a:schemeClr val="accent1"/>
              </a:buClr>
            </a:pPr>
            <a:r>
              <a:rPr lang="zh-CN" altLang="en-US" dirty="0">
                <a:latin typeface="微软雅黑" panose="020B0503020204020204" pitchFamily="34" charset="-122"/>
                <a:ea typeface="微软雅黑" panose="020B0503020204020204" pitchFamily="34" charset="-122"/>
              </a:rPr>
              <a:t>常量：在程序运行过程中，其</a:t>
            </a:r>
            <a:r>
              <a:rPr lang="zh-CN" altLang="en-US" sz="2400" dirty="0">
                <a:solidFill>
                  <a:srgbClr val="984807"/>
                </a:solidFill>
                <a:latin typeface="方正粗倩简体" panose="03000509000000000000" pitchFamily="65" charset="-122"/>
                <a:ea typeface="方正粗倩简体" panose="03000509000000000000" pitchFamily="65" charset="-122"/>
              </a:rPr>
              <a:t>值不能被改变 </a:t>
            </a:r>
          </a:p>
          <a:p>
            <a:pPr lvl="1">
              <a:lnSpc>
                <a:spcPct val="120000"/>
              </a:lnSpc>
              <a:buClr>
                <a:schemeClr val="accent1"/>
              </a:buClr>
            </a:pPr>
            <a:r>
              <a:rPr lang="zh-CN" altLang="en-US" dirty="0">
                <a:latin typeface="微软雅黑" panose="020B0503020204020204" pitchFamily="34" charset="-122"/>
                <a:ea typeface="微软雅黑" panose="020B0503020204020204" pitchFamily="34" charset="-122"/>
              </a:rPr>
              <a:t>变量：在程序运行过程中，其</a:t>
            </a:r>
            <a:r>
              <a:rPr lang="zh-CN" altLang="en-US" sz="2400" dirty="0">
                <a:solidFill>
                  <a:srgbClr val="984807"/>
                </a:solidFill>
                <a:latin typeface="方正粗倩简体" panose="03000509000000000000" pitchFamily="65" charset="-122"/>
                <a:ea typeface="方正粗倩简体" panose="03000509000000000000" pitchFamily="65" charset="-122"/>
              </a:rPr>
              <a:t>值可以被改变 </a:t>
            </a:r>
          </a:p>
        </p:txBody>
      </p:sp>
      <p:sp>
        <p:nvSpPr>
          <p:cNvPr id="7" name="矩形 6"/>
          <p:cNvSpPr/>
          <p:nvPr/>
        </p:nvSpPr>
        <p:spPr>
          <a:xfrm>
            <a:off x="2987824" y="1648420"/>
            <a:ext cx="4572000" cy="923330"/>
          </a:xfrm>
          <a:prstGeom prst="rect">
            <a:avLst/>
          </a:prstGeom>
        </p:spPr>
        <p:txBody>
          <a:bodyPr>
            <a:spAutoFit/>
          </a:bodyPr>
          <a:lstStyle/>
          <a:p>
            <a:r>
              <a:rPr lang="en-US" altLang="zh-CN" dirty="0" err="1">
                <a:latin typeface="微软雅黑" panose="020B0503020204020204" pitchFamily="34" charset="-122"/>
                <a:ea typeface="微软雅黑" panose="020B0503020204020204" pitchFamily="34" charset="-122"/>
              </a:rPr>
              <a:t>int</a:t>
            </a:r>
            <a:r>
              <a:rPr lang="en-US" altLang="zh-CN" dirty="0">
                <a:latin typeface="微软雅黑" panose="020B0503020204020204" pitchFamily="34" charset="-122"/>
                <a:ea typeface="微软雅黑" panose="020B0503020204020204" pitchFamily="34" charset="-122"/>
              </a:rPr>
              <a:t> c, f; </a:t>
            </a:r>
          </a:p>
          <a:p>
            <a:r>
              <a:rPr lang="en-US" altLang="zh-CN" dirty="0">
                <a:latin typeface="微软雅黑" panose="020B0503020204020204" pitchFamily="34" charset="-122"/>
                <a:ea typeface="微软雅黑" panose="020B0503020204020204" pitchFamily="34" charset="-122"/>
              </a:rPr>
              <a:t>f=100;</a:t>
            </a:r>
          </a:p>
          <a:p>
            <a:r>
              <a:rPr lang="en-US" altLang="zh-CN" dirty="0">
                <a:solidFill>
                  <a:srgbClr val="984807"/>
                </a:solidFill>
                <a:latin typeface="微软雅黑" panose="020B0503020204020204" pitchFamily="34" charset="-122"/>
                <a:ea typeface="微软雅黑" panose="020B0503020204020204" pitchFamily="34" charset="-122"/>
              </a:rPr>
              <a:t>c</a:t>
            </a:r>
            <a:r>
              <a:rPr lang="en-US" altLang="zh-CN" dirty="0">
                <a:latin typeface="微软雅黑" panose="020B0503020204020204" pitchFamily="34" charset="-122"/>
                <a:ea typeface="微软雅黑" panose="020B0503020204020204" pitchFamily="34" charset="-122"/>
              </a:rPr>
              <a:t> = 5 * (</a:t>
            </a:r>
            <a:r>
              <a:rPr lang="en-US" altLang="zh-CN" dirty="0">
                <a:solidFill>
                  <a:srgbClr val="984807"/>
                </a:solidFill>
                <a:latin typeface="微软雅黑" panose="020B0503020204020204" pitchFamily="34" charset="-122"/>
                <a:ea typeface="微软雅黑" panose="020B0503020204020204" pitchFamily="34" charset="-122"/>
              </a:rPr>
              <a:t>f</a:t>
            </a:r>
            <a:r>
              <a:rPr lang="en-US" altLang="zh-CN" dirty="0">
                <a:latin typeface="微软雅黑" panose="020B0503020204020204" pitchFamily="34" charset="-122"/>
                <a:ea typeface="微软雅黑" panose="020B0503020204020204" pitchFamily="34" charset="-122"/>
              </a:rPr>
              <a:t> - 32) / 9;</a:t>
            </a:r>
          </a:p>
        </p:txBody>
      </p:sp>
      <p:sp>
        <p:nvSpPr>
          <p:cNvPr id="8" name="矩形 7"/>
          <p:cNvSpPr/>
          <p:nvPr/>
        </p:nvSpPr>
        <p:spPr>
          <a:xfrm>
            <a:off x="2995471" y="3919850"/>
            <a:ext cx="4572000" cy="1172180"/>
          </a:xfrm>
          <a:prstGeom prst="rect">
            <a:avLst/>
          </a:prstGeom>
        </p:spPr>
        <p:txBody>
          <a:bodyPr>
            <a:spAutoFit/>
          </a:bodyPr>
          <a:lstStyle/>
          <a:p>
            <a:pPr>
              <a:lnSpc>
                <a:spcPct val="120000"/>
              </a:lnSpc>
              <a:buClr>
                <a:schemeClr val="hlink"/>
              </a:buClr>
            </a:pPr>
            <a:r>
              <a:rPr lang="zh-CN" altLang="en-US" sz="2400" dirty="0">
                <a:solidFill>
                  <a:srgbClr val="984807"/>
                </a:solidFill>
                <a:latin typeface="方正粗倩简体" panose="03000509000000000000" pitchFamily="65" charset="-122"/>
                <a:ea typeface="方正粗倩简体" panose="03000509000000000000" pitchFamily="65" charset="-122"/>
              </a:rPr>
              <a:t>数据类型</a:t>
            </a:r>
          </a:p>
          <a:p>
            <a:pPr lvl="1">
              <a:lnSpc>
                <a:spcPct val="120000"/>
              </a:lnSpc>
              <a:buClr>
                <a:schemeClr val="accent1"/>
              </a:buClr>
            </a:pPr>
            <a:r>
              <a:rPr lang="zh-CN" altLang="en-US" dirty="0">
                <a:latin typeface="微软雅黑" panose="020B0503020204020204" pitchFamily="34" charset="-122"/>
                <a:ea typeface="微软雅黑" panose="020B0503020204020204" pitchFamily="34" charset="-122"/>
              </a:rPr>
              <a:t>常量：</a:t>
            </a:r>
            <a:r>
              <a:rPr lang="en-US" altLang="zh-CN" dirty="0">
                <a:latin typeface="微软雅黑" panose="020B0503020204020204" pitchFamily="34" charset="-122"/>
                <a:ea typeface="微软雅黑" panose="020B0503020204020204" pitchFamily="34" charset="-122"/>
              </a:rPr>
              <a:t>5 </a:t>
            </a:r>
            <a:r>
              <a:rPr lang="zh-CN" altLang="en-US" dirty="0">
                <a:latin typeface="微软雅黑" panose="020B0503020204020204" pitchFamily="34" charset="-122"/>
                <a:ea typeface="微软雅黑" panose="020B0503020204020204" pitchFamily="34" charset="-122"/>
              </a:rPr>
              <a:t>和 </a:t>
            </a:r>
            <a:r>
              <a:rPr lang="en-US" altLang="zh-CN" dirty="0">
                <a:latin typeface="微软雅黑" panose="020B0503020204020204" pitchFamily="34" charset="-122"/>
                <a:ea typeface="微软雅黑" panose="020B0503020204020204" pitchFamily="34" charset="-122"/>
              </a:rPr>
              <a:t>9</a:t>
            </a:r>
            <a:r>
              <a:rPr lang="zh-CN" altLang="en-US" dirty="0">
                <a:latin typeface="微软雅黑" panose="020B0503020204020204" pitchFamily="34" charset="-122"/>
                <a:ea typeface="微软雅黑" panose="020B0503020204020204" pitchFamily="34" charset="-122"/>
              </a:rPr>
              <a:t>是整型常量（整数）</a:t>
            </a:r>
          </a:p>
          <a:p>
            <a:pPr lvl="1">
              <a:lnSpc>
                <a:spcPct val="120000"/>
              </a:lnSpc>
              <a:buClr>
                <a:schemeClr val="accent1"/>
              </a:buClr>
            </a:pPr>
            <a:r>
              <a:rPr lang="zh-CN" altLang="en-US" dirty="0">
                <a:latin typeface="微软雅黑" panose="020B0503020204020204" pitchFamily="34" charset="-122"/>
                <a:ea typeface="微软雅黑" panose="020B0503020204020204" pitchFamily="34" charset="-122"/>
              </a:rPr>
              <a:t>变量：在定义时指定</a:t>
            </a:r>
          </a:p>
        </p:txBody>
      </p:sp>
    </p:spTree>
    <p:extLst>
      <p:ext uri="{BB962C8B-B14F-4D97-AF65-F5344CB8AC3E}">
        <p14:creationId xmlns:p14="http://schemas.microsoft.com/office/powerpoint/2010/main" val="335138652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987824" y="2643758"/>
            <a:ext cx="5976664" cy="2529923"/>
          </a:xfrm>
          <a:prstGeom prst="rect">
            <a:avLst/>
          </a:prstGeom>
        </p:spPr>
        <p:txBody>
          <a:bodyPr wrap="square">
            <a:spAutoFit/>
          </a:bodyPr>
          <a:lstStyle/>
          <a:p>
            <a:pPr>
              <a:lnSpc>
                <a:spcPct val="120000"/>
              </a:lnSpc>
              <a:buClr>
                <a:schemeClr val="hlink"/>
              </a:buClr>
            </a:pPr>
            <a:r>
              <a:rPr lang="zh-CN" altLang="en-US" sz="2400" dirty="0">
                <a:solidFill>
                  <a:srgbClr val="984807"/>
                </a:solidFill>
                <a:latin typeface="方正粗倩简体" panose="03000509000000000000" pitchFamily="65" charset="-122"/>
                <a:ea typeface="方正粗倩简体" panose="03000509000000000000" pitchFamily="65" charset="-122"/>
              </a:rPr>
              <a:t>实型常量</a:t>
            </a:r>
            <a:r>
              <a:rPr lang="en-US" altLang="zh-CN" sz="2400" dirty="0">
                <a:solidFill>
                  <a:srgbClr val="984807"/>
                </a:solidFill>
                <a:latin typeface="方正粗倩简体" panose="03000509000000000000" pitchFamily="65" charset="-122"/>
                <a:ea typeface="方正粗倩简体" panose="03000509000000000000" pitchFamily="65" charset="-122"/>
              </a:rPr>
              <a:t>:    </a:t>
            </a:r>
            <a:r>
              <a:rPr lang="en-US" altLang="zh-CN" dirty="0">
                <a:latin typeface="微软雅黑" panose="020B0503020204020204" pitchFamily="34" charset="-122"/>
                <a:ea typeface="微软雅黑" panose="020B0503020204020204" pitchFamily="34" charset="-122"/>
              </a:rPr>
              <a:t>0.5, .3, 4.</a:t>
            </a:r>
          </a:p>
          <a:p>
            <a:pPr>
              <a:lnSpc>
                <a:spcPct val="120000"/>
              </a:lnSpc>
              <a:buClr>
                <a:schemeClr val="hlink"/>
              </a:buClr>
            </a:pPr>
            <a:r>
              <a:rPr lang="zh-CN" altLang="en-US" dirty="0">
                <a:latin typeface="微软雅黑" panose="020B0503020204020204" pitchFamily="34" charset="-122"/>
                <a:ea typeface="微软雅黑" panose="020B0503020204020204" pitchFamily="34" charset="-122"/>
              </a:rPr>
              <a:t>                       指数形式（也称为科学表示法）表示为尾数乘以</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的次方形式，由</a:t>
            </a:r>
            <a:r>
              <a:rPr lang="zh-CN" altLang="en-US" b="1" dirty="0">
                <a:solidFill>
                  <a:srgbClr val="984807"/>
                </a:solidFill>
                <a:latin typeface="微软雅黑" panose="020B0503020204020204" pitchFamily="34" charset="-122"/>
                <a:ea typeface="微软雅黑" panose="020B0503020204020204" pitchFamily="34" charset="-122"/>
              </a:rPr>
              <a:t>尾数、</a:t>
            </a:r>
            <a:r>
              <a:rPr lang="en-US" altLang="zh-CN" b="1" dirty="0">
                <a:solidFill>
                  <a:srgbClr val="984807"/>
                </a:solidFill>
                <a:latin typeface="微软雅黑" panose="020B0503020204020204" pitchFamily="34" charset="-122"/>
                <a:ea typeface="微软雅黑" panose="020B0503020204020204" pitchFamily="34" charset="-122"/>
              </a:rPr>
              <a:t>E</a:t>
            </a:r>
            <a:r>
              <a:rPr lang="zh-CN" altLang="en-US" b="1" dirty="0">
                <a:solidFill>
                  <a:srgbClr val="984807"/>
                </a:solidFill>
                <a:latin typeface="微软雅黑" panose="020B0503020204020204" pitchFamily="34" charset="-122"/>
                <a:ea typeface="微软雅黑" panose="020B0503020204020204" pitchFamily="34" charset="-122"/>
              </a:rPr>
              <a:t>或</a:t>
            </a:r>
            <a:r>
              <a:rPr lang="en-US" altLang="zh-CN" b="1" dirty="0">
                <a:solidFill>
                  <a:srgbClr val="984807"/>
                </a:solidFill>
                <a:latin typeface="微软雅黑" panose="020B0503020204020204" pitchFamily="34" charset="-122"/>
                <a:ea typeface="微软雅黑" panose="020B0503020204020204" pitchFamily="34" charset="-122"/>
              </a:rPr>
              <a:t>e</a:t>
            </a:r>
            <a:r>
              <a:rPr lang="zh-CN" altLang="en-US" b="1" dirty="0">
                <a:solidFill>
                  <a:srgbClr val="984807"/>
                </a:solidFill>
                <a:latin typeface="微软雅黑" panose="020B0503020204020204" pitchFamily="34" charset="-122"/>
                <a:ea typeface="微软雅黑" panose="020B0503020204020204" pitchFamily="34" charset="-122"/>
              </a:rPr>
              <a:t>和阶数</a:t>
            </a:r>
            <a:r>
              <a:rPr lang="zh-CN" altLang="en-US" dirty="0">
                <a:latin typeface="微软雅黑" panose="020B0503020204020204" pitchFamily="34" charset="-122"/>
                <a:ea typeface="微软雅黑" panose="020B0503020204020204" pitchFamily="34" charset="-122"/>
              </a:rPr>
              <a:t>组成。指数形式要求在</a:t>
            </a:r>
            <a:r>
              <a:rPr lang="en-US" altLang="zh-CN" dirty="0">
                <a:latin typeface="微软雅黑" panose="020B0503020204020204" pitchFamily="34" charset="-122"/>
                <a:ea typeface="微软雅黑" panose="020B0503020204020204" pitchFamily="34" charset="-122"/>
              </a:rPr>
              <a:t>E</a:t>
            </a:r>
            <a:r>
              <a:rPr lang="zh-CN" altLang="en-US" dirty="0">
                <a:latin typeface="微软雅黑" panose="020B0503020204020204" pitchFamily="34" charset="-122"/>
                <a:ea typeface="微软雅黑" panose="020B0503020204020204" pitchFamily="34" charset="-122"/>
              </a:rPr>
              <a:t>或</a:t>
            </a:r>
            <a:r>
              <a:rPr lang="en-US" altLang="zh-CN" dirty="0">
                <a:latin typeface="微软雅黑" panose="020B0503020204020204" pitchFamily="34" charset="-122"/>
                <a:ea typeface="微软雅黑" panose="020B0503020204020204" pitchFamily="34" charset="-122"/>
              </a:rPr>
              <a:t>e</a:t>
            </a:r>
            <a:r>
              <a:rPr lang="zh-CN" altLang="en-US" dirty="0">
                <a:latin typeface="微软雅黑" panose="020B0503020204020204" pitchFamily="34" charset="-122"/>
                <a:ea typeface="微软雅黑" panose="020B0503020204020204" pitchFamily="34" charset="-122"/>
              </a:rPr>
              <a:t>前面的</a:t>
            </a:r>
            <a:r>
              <a:rPr lang="zh-CN" altLang="en-US" b="1" dirty="0">
                <a:solidFill>
                  <a:srgbClr val="984807"/>
                </a:solidFill>
                <a:latin typeface="微软雅黑" panose="020B0503020204020204" pitchFamily="34" charset="-122"/>
                <a:ea typeface="微软雅黑" panose="020B0503020204020204" pitchFamily="34" charset="-122"/>
              </a:rPr>
              <a:t>尾数部分必须有数字</a:t>
            </a:r>
            <a:r>
              <a:rPr lang="zh-CN" altLang="en-US" dirty="0">
                <a:latin typeface="微软雅黑" panose="020B0503020204020204" pitchFamily="34" charset="-122"/>
                <a:ea typeface="微软雅黑" panose="020B0503020204020204" pitchFamily="34" charset="-122"/>
              </a:rPr>
              <a:t>，后面的</a:t>
            </a:r>
            <a:r>
              <a:rPr lang="zh-CN" altLang="en-US" b="1" dirty="0">
                <a:solidFill>
                  <a:srgbClr val="984807"/>
                </a:solidFill>
                <a:latin typeface="微软雅黑" panose="020B0503020204020204" pitchFamily="34" charset="-122"/>
                <a:ea typeface="微软雅黑" panose="020B0503020204020204" pitchFamily="34" charset="-122"/>
              </a:rPr>
              <a:t>指数</a:t>
            </a:r>
            <a:r>
              <a:rPr lang="zh-CN" altLang="en-US" dirty="0">
                <a:latin typeface="微软雅黑" panose="020B0503020204020204" pitchFamily="34" charset="-122"/>
                <a:ea typeface="微软雅黑" panose="020B0503020204020204" pitchFamily="34" charset="-122"/>
              </a:rPr>
              <a:t>部分必须为</a:t>
            </a:r>
            <a:r>
              <a:rPr lang="zh-CN" altLang="en-US" b="1" dirty="0">
                <a:solidFill>
                  <a:srgbClr val="984807"/>
                </a:solidFill>
                <a:latin typeface="微软雅黑" panose="020B0503020204020204" pitchFamily="34" charset="-122"/>
                <a:ea typeface="微软雅黑" panose="020B0503020204020204" pitchFamily="34" charset="-122"/>
              </a:rPr>
              <a:t>整数</a:t>
            </a:r>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a:lnSpc>
                <a:spcPct val="120000"/>
              </a:lnSpc>
              <a:buClr>
                <a:schemeClr val="hlink"/>
              </a:buClr>
            </a:pPr>
            <a:r>
              <a:rPr lang="zh-CN" altLang="en-US" dirty="0">
                <a:latin typeface="微软雅黑" panose="020B0503020204020204" pitchFamily="34" charset="-122"/>
                <a:ea typeface="微软雅黑" panose="020B0503020204020204" pitchFamily="34" charset="-122"/>
              </a:rPr>
              <a:t> </a:t>
            </a:r>
          </a:p>
          <a:p>
            <a:pPr>
              <a:lnSpc>
                <a:spcPct val="120000"/>
              </a:lnSpc>
              <a:buClr>
                <a:schemeClr val="hlink"/>
              </a:buClr>
            </a:pPr>
            <a:endParaRPr lang="zh-CN" altLang="en-US" dirty="0">
              <a:latin typeface="微软雅黑" panose="020B0503020204020204" pitchFamily="34" charset="-122"/>
              <a:ea typeface="微软雅黑" panose="020B0503020204020204" pitchFamily="34" charset="-122"/>
            </a:endParaRPr>
          </a:p>
        </p:txBody>
      </p:sp>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20895" y="2775353"/>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常量</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变量</a:t>
              </a:r>
            </a:p>
          </p:txBody>
        </p:sp>
        <p:pic>
          <p:nvPicPr>
            <p:cNvPr id="37" name="Picture 4" descr="G:\稻壳儿\5\miracomunicazione\shadow3.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3</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常量</a:t>
              </a:r>
            </a:p>
          </p:txBody>
        </p:sp>
        <p:pic>
          <p:nvPicPr>
            <p:cNvPr id="18" name="Picture 4" descr="G:\稻壳儿\5\miracomunicazione\shadow3.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矩形 5"/>
          <p:cNvSpPr/>
          <p:nvPr/>
        </p:nvSpPr>
        <p:spPr>
          <a:xfrm>
            <a:off x="2987824" y="1779662"/>
            <a:ext cx="5976664" cy="978729"/>
          </a:xfrm>
          <a:prstGeom prst="rect">
            <a:avLst/>
          </a:prstGeom>
        </p:spPr>
        <p:txBody>
          <a:bodyPr wrap="square">
            <a:spAutoFit/>
          </a:bodyPr>
          <a:lstStyle/>
          <a:p>
            <a:pPr>
              <a:lnSpc>
                <a:spcPct val="120000"/>
              </a:lnSpc>
              <a:buClr>
                <a:schemeClr val="hlink"/>
              </a:buClr>
            </a:pPr>
            <a:r>
              <a:rPr lang="zh-CN" altLang="en-US" sz="2400" dirty="0">
                <a:solidFill>
                  <a:srgbClr val="984807"/>
                </a:solidFill>
                <a:latin typeface="方正粗倩简体" panose="03000509000000000000" pitchFamily="65" charset="-122"/>
                <a:ea typeface="方正粗倩简体" panose="03000509000000000000" pitchFamily="65" charset="-122"/>
              </a:rPr>
              <a:t>整型常量：</a:t>
            </a:r>
            <a:r>
              <a:rPr lang="en-US" altLang="zh-CN" dirty="0">
                <a:latin typeface="微软雅黑" panose="020B0503020204020204" pitchFamily="34" charset="-122"/>
                <a:ea typeface="微软雅黑" panose="020B0503020204020204" pitchFamily="34" charset="-122"/>
              </a:rPr>
              <a:t>15</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-24</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013</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0xa5</a:t>
            </a:r>
          </a:p>
          <a:p>
            <a:pPr>
              <a:lnSpc>
                <a:spcPct val="120000"/>
              </a:lnSpc>
              <a:buClr>
                <a:schemeClr val="hlink"/>
              </a:buClr>
            </a:pPr>
            <a:r>
              <a:rPr lang="zh-CN" altLang="en-US" sz="2400" dirty="0">
                <a:solidFill>
                  <a:srgbClr val="984807"/>
                </a:solidFill>
                <a:latin typeface="方正粗倩简体" panose="03000509000000000000" pitchFamily="65" charset="-122"/>
                <a:ea typeface="方正粗倩简体" panose="03000509000000000000" pitchFamily="65" charset="-122"/>
              </a:rPr>
              <a:t>字符型常量：</a:t>
            </a:r>
            <a:r>
              <a:rPr lang="en-US" altLang="zh-CN" dirty="0">
                <a:latin typeface="微软雅黑" panose="020B0503020204020204" pitchFamily="34" charset="-122"/>
                <a:ea typeface="微软雅黑" panose="020B0503020204020204" pitchFamily="34" charset="-122"/>
              </a:rPr>
              <a:t>'a','0','@','\n','\t'</a:t>
            </a:r>
          </a:p>
        </p:txBody>
      </p:sp>
      <p:sp>
        <p:nvSpPr>
          <p:cNvPr id="15" name="Text Box 15"/>
          <p:cNvSpPr txBox="1">
            <a:spLocks noChangeArrowheads="1"/>
          </p:cNvSpPr>
          <p:nvPr/>
        </p:nvSpPr>
        <p:spPr bwMode="auto">
          <a:xfrm>
            <a:off x="2995471" y="4400426"/>
            <a:ext cx="1295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dirty="0">
                <a:latin typeface="微软雅黑" panose="020B0503020204020204" pitchFamily="34" charset="-122"/>
                <a:ea typeface="微软雅黑" panose="020B0503020204020204" pitchFamily="34" charset="-122"/>
              </a:rPr>
              <a:t>123E12</a:t>
            </a:r>
            <a:r>
              <a:rPr kumimoji="1" lang="en-US" altLang="zh-CN" dirty="0">
                <a:latin typeface="Times New Roman" panose="02020603050405020304" pitchFamily="18" charset="0"/>
                <a:ea typeface="宋体" panose="02010600030101010101" pitchFamily="2" charset="-122"/>
              </a:rPr>
              <a:t> </a:t>
            </a:r>
          </a:p>
        </p:txBody>
      </p:sp>
      <p:sp>
        <p:nvSpPr>
          <p:cNvPr id="16" name="Text Box 16"/>
          <p:cNvSpPr txBox="1">
            <a:spLocks noChangeArrowheads="1"/>
          </p:cNvSpPr>
          <p:nvPr/>
        </p:nvSpPr>
        <p:spPr bwMode="auto">
          <a:xfrm>
            <a:off x="7251700" y="4514198"/>
            <a:ext cx="1371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a:spcBef>
                <a:spcPct val="50000"/>
              </a:spcBef>
              <a:buClrTx/>
              <a:buSzTx/>
              <a:buNone/>
            </a:pPr>
            <a:r>
              <a:rPr lang="en-US" altLang="zh-CN" sz="1800" dirty="0">
                <a:latin typeface="微软雅黑" panose="020B0503020204020204" pitchFamily="34" charset="-122"/>
                <a:ea typeface="微软雅黑" panose="020B0503020204020204" pitchFamily="34" charset="-122"/>
              </a:rPr>
              <a:t>-.34e-2 </a:t>
            </a:r>
          </a:p>
        </p:txBody>
      </p:sp>
      <p:sp>
        <p:nvSpPr>
          <p:cNvPr id="17" name="Text Box 17"/>
          <p:cNvSpPr txBox="1">
            <a:spLocks noChangeArrowheads="1"/>
          </p:cNvSpPr>
          <p:nvPr/>
        </p:nvSpPr>
        <p:spPr bwMode="auto">
          <a:xfrm>
            <a:off x="6323770" y="4378643"/>
            <a:ext cx="83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dirty="0">
                <a:latin typeface="微软雅黑" panose="020B0503020204020204" pitchFamily="34" charset="-122"/>
                <a:ea typeface="微软雅黑" panose="020B0503020204020204" pitchFamily="34" charset="-122"/>
              </a:rPr>
              <a:t>E4</a:t>
            </a:r>
            <a:r>
              <a:rPr kumimoji="1" lang="en-US" altLang="zh-CN" dirty="0">
                <a:latin typeface="Times New Roman" panose="02020603050405020304" pitchFamily="18" charset="0"/>
                <a:ea typeface="宋体" panose="02010600030101010101" pitchFamily="2" charset="-122"/>
              </a:rPr>
              <a:t> </a:t>
            </a:r>
          </a:p>
        </p:txBody>
      </p:sp>
      <p:sp>
        <p:nvSpPr>
          <p:cNvPr id="19" name="Text Box 18"/>
          <p:cNvSpPr txBox="1">
            <a:spLocks noChangeArrowheads="1"/>
          </p:cNvSpPr>
          <p:nvPr/>
        </p:nvSpPr>
        <p:spPr bwMode="auto">
          <a:xfrm>
            <a:off x="4535993" y="4518535"/>
            <a:ext cx="3200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dirty="0">
                <a:latin typeface="微软雅黑" panose="020B0503020204020204" pitchFamily="34" charset="-122"/>
                <a:ea typeface="微软雅黑" panose="020B0503020204020204" pitchFamily="34" charset="-122"/>
              </a:rPr>
              <a:t>1.43E3.5 </a:t>
            </a:r>
          </a:p>
        </p:txBody>
      </p:sp>
      <p:sp>
        <p:nvSpPr>
          <p:cNvPr id="20" name="AutoShape 19"/>
          <p:cNvSpPr>
            <a:spLocks noChangeArrowheads="1"/>
          </p:cNvSpPr>
          <p:nvPr/>
        </p:nvSpPr>
        <p:spPr bwMode="auto">
          <a:xfrm>
            <a:off x="8470900" y="4514351"/>
            <a:ext cx="304800" cy="287338"/>
          </a:xfrm>
          <a:prstGeom prst="smileyFace">
            <a:avLst>
              <a:gd name="adj" fmla="val 4653"/>
            </a:avLst>
          </a:prstGeom>
          <a:solidFill>
            <a:srgbClr val="FFCC00"/>
          </a:solidFill>
          <a:ln w="9525">
            <a:solidFill>
              <a:schemeClr val="tx1"/>
            </a:solidFill>
            <a:miter lim="800000"/>
            <a:headEnd/>
            <a:tailEnd/>
          </a:ln>
        </p:spPr>
        <p:txBody>
          <a:bodyPr wrap="none" anchor="ct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0"/>
              </a:spcBef>
              <a:buClrTx/>
              <a:buSzTx/>
              <a:buFontTx/>
              <a:buNone/>
            </a:pPr>
            <a:endParaRPr lang="zh-CN" altLang="en-US" sz="1800">
              <a:ea typeface="宋体" panose="02010600030101010101" pitchFamily="2" charset="-122"/>
            </a:endParaRPr>
          </a:p>
        </p:txBody>
      </p:sp>
      <p:sp>
        <p:nvSpPr>
          <p:cNvPr id="21" name="AutoShape 20"/>
          <p:cNvSpPr>
            <a:spLocks noChangeArrowheads="1"/>
          </p:cNvSpPr>
          <p:nvPr/>
        </p:nvSpPr>
        <p:spPr bwMode="auto">
          <a:xfrm>
            <a:off x="4008359" y="4566826"/>
            <a:ext cx="304800" cy="304800"/>
          </a:xfrm>
          <a:prstGeom prst="smileyFace">
            <a:avLst>
              <a:gd name="adj" fmla="val 4653"/>
            </a:avLst>
          </a:prstGeom>
          <a:solidFill>
            <a:srgbClr val="FFCC00"/>
          </a:solidFill>
          <a:ln w="9525">
            <a:solidFill>
              <a:schemeClr val="tx1"/>
            </a:solidFill>
            <a:miter lim="800000"/>
            <a:headEnd/>
            <a:tailEnd/>
          </a:ln>
        </p:spPr>
        <p:txBody>
          <a:bodyPr wrap="none" anchor="ct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0"/>
              </a:spcBef>
              <a:buClrTx/>
              <a:buSzTx/>
              <a:buFontTx/>
              <a:buNone/>
            </a:pPr>
            <a:endParaRPr lang="zh-CN" altLang="en-US" sz="1800">
              <a:ea typeface="宋体" panose="02010600030101010101" pitchFamily="2" charset="-122"/>
            </a:endParaRPr>
          </a:p>
        </p:txBody>
      </p:sp>
      <p:sp>
        <p:nvSpPr>
          <p:cNvPr id="22" name="AutoShape 21"/>
          <p:cNvSpPr>
            <a:spLocks noChangeArrowheads="1"/>
          </p:cNvSpPr>
          <p:nvPr/>
        </p:nvSpPr>
        <p:spPr bwMode="auto">
          <a:xfrm>
            <a:off x="5796136" y="4550801"/>
            <a:ext cx="304800" cy="304800"/>
          </a:xfrm>
          <a:prstGeom prst="flowChartSummingJunction">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0"/>
              </a:spcBef>
              <a:buClrTx/>
              <a:buSzTx/>
              <a:buFontTx/>
              <a:buNone/>
            </a:pPr>
            <a:endParaRPr lang="zh-CN" altLang="en-US" sz="1800">
              <a:ea typeface="宋体" panose="02010600030101010101" pitchFamily="2" charset="-122"/>
            </a:endParaRPr>
          </a:p>
        </p:txBody>
      </p:sp>
      <p:sp>
        <p:nvSpPr>
          <p:cNvPr id="23" name="AutoShape 21"/>
          <p:cNvSpPr>
            <a:spLocks noChangeArrowheads="1"/>
          </p:cNvSpPr>
          <p:nvPr/>
        </p:nvSpPr>
        <p:spPr bwMode="auto">
          <a:xfrm>
            <a:off x="6857170" y="4550801"/>
            <a:ext cx="304800" cy="304800"/>
          </a:xfrm>
          <a:prstGeom prst="flowChartSummingJunction">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SzPct val="8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Char char="o"/>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o"/>
              <a:defRPr sz="2000">
                <a:solidFill>
                  <a:schemeClr val="tx1"/>
                </a:solidFill>
                <a:latin typeface="Arial" panose="020B0604020202020204" pitchFamily="34" charset="0"/>
              </a:defRPr>
            </a:lvl4pPr>
            <a:lvl5pPr marL="2057400" indent="-228600">
              <a:spcBef>
                <a:spcPct val="20000"/>
              </a:spcBef>
              <a:buClr>
                <a:schemeClr val="tx2"/>
              </a:buClr>
              <a:buSzPct val="60000"/>
              <a:buFont typeface="Wingdings" panose="05000000000000000000" pitchFamily="2" charset="2"/>
              <a:buChar char="o"/>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o"/>
              <a:defRPr sz="2000">
                <a:solidFill>
                  <a:schemeClr val="tx1"/>
                </a:solidFill>
                <a:latin typeface="Arial" panose="020B0604020202020204" pitchFamily="34" charset="0"/>
              </a:defRPr>
            </a:lvl9pPr>
          </a:lstStyle>
          <a:p>
            <a:pPr eaLnBrk="1" hangingPunct="1">
              <a:spcBef>
                <a:spcPct val="0"/>
              </a:spcBef>
              <a:buClrTx/>
              <a:buSzTx/>
              <a:buFontTx/>
              <a:buNone/>
            </a:pPr>
            <a:endParaRPr lang="zh-CN" altLang="en-US" sz="1800">
              <a:ea typeface="宋体" panose="02010600030101010101" pitchFamily="2" charset="-122"/>
            </a:endParaRPr>
          </a:p>
        </p:txBody>
      </p:sp>
    </p:spTree>
    <p:extLst>
      <p:ext uri="{BB962C8B-B14F-4D97-AF65-F5344CB8AC3E}">
        <p14:creationId xmlns:p14="http://schemas.microsoft.com/office/powerpoint/2010/main" val="21429567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1" presetClass="entr" presetSubtype="0" fill="hold" grpId="0" nodeType="afterEffect">
                                  <p:stCondLst>
                                    <p:cond delay="0"/>
                                  </p:stCondLst>
                                  <p:iterate type="lt">
                                    <p:tmAbs val="75"/>
                                  </p:iterate>
                                  <p:childTnLst>
                                    <p:set>
                                      <p:cBhvr>
                                        <p:cTn id="10" dur="1" fill="hold">
                                          <p:stCondLst>
                                            <p:cond delay="74"/>
                                          </p:stCondLst>
                                        </p:cTn>
                                        <p:tgtEl>
                                          <p:spTgt spid="15"/>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1"/>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4" name="chimes.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2"/>
                                        </p:tgtEl>
                                        <p:attrNameLst>
                                          <p:attrName>style.visibility</p:attrName>
                                        </p:attrNameLst>
                                      </p:cBhvr>
                                      <p:to>
                                        <p:strVal val="visible"/>
                                      </p:to>
                                    </p:set>
                                  </p:childTnLst>
                                  <p:subTnLst>
                                    <p:audio>
                                      <p:cMediaNode>
                                        <p:cTn display="0" masterRel="sameClick">
                                          <p:stCondLst>
                                            <p:cond evt="begin" delay="0">
                                              <p:tn val="21"/>
                                            </p:cond>
                                          </p:stCondLst>
                                          <p:endCondLst>
                                            <p:cond evt="onStopAudio" delay="0">
                                              <p:tgtEl>
                                                <p:sldTgt/>
                                              </p:tgtEl>
                                            </p:cond>
                                          </p:endCondLst>
                                        </p:cTn>
                                        <p:tgtEl>
                                          <p:sndTgt r:embed="rId5" name="glass.wav"/>
                                        </p:tgtEl>
                                      </p:cMediaNode>
                                    </p:audio>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subTnLst>
                                    <p:audio>
                                      <p:cMediaNode>
                                        <p:cTn display="0" masterRel="sameClick">
                                          <p:stCondLst>
                                            <p:cond evt="begin" delay="0">
                                              <p:tn val="25"/>
                                            </p:cond>
                                          </p:stCondLst>
                                          <p:endCondLst>
                                            <p:cond evt="onStopAudio" delay="0">
                                              <p:tgtEl>
                                                <p:sldTgt/>
                                              </p:tgtEl>
                                            </p:cond>
                                          </p:endCondLst>
                                        </p:cTn>
                                        <p:tgtEl>
                                          <p:sndTgt r:embed="rId6" name="click.wav"/>
                                        </p:tgtEl>
                                      </p:cMediaNode>
                                    </p:audio>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3"/>
                                        </p:tgtEl>
                                        <p:attrNameLst>
                                          <p:attrName>style.visibility</p:attrName>
                                        </p:attrNameLst>
                                      </p:cBhvr>
                                      <p:to>
                                        <p:strVal val="visible"/>
                                      </p:to>
                                    </p:set>
                                  </p:childTnLst>
                                  <p:subTnLst>
                                    <p:audio>
                                      <p:cMediaNode>
                                        <p:cTn display="0" masterRel="sameClick">
                                          <p:stCondLst>
                                            <p:cond evt="begin" delay="0">
                                              <p:tn val="29"/>
                                            </p:cond>
                                          </p:stCondLst>
                                          <p:endCondLst>
                                            <p:cond evt="onStopAudio" delay="0">
                                              <p:tgtEl>
                                                <p:sldTgt/>
                                              </p:tgtEl>
                                            </p:cond>
                                          </p:endCondLst>
                                        </p:cTn>
                                        <p:tgtEl>
                                          <p:sndTgt r:embed="rId5" name="glass.wav"/>
                                        </p:tgtEl>
                                      </p:cMediaNode>
                                    </p:audio>
                                  </p:subTnLst>
                                </p:cTn>
                              </p:par>
                            </p:childTnLst>
                          </p:cTn>
                        </p:par>
                        <p:par>
                          <p:cTn id="31" fill="hold">
                            <p:stCondLst>
                              <p:cond delay="500"/>
                            </p:stCondLst>
                            <p:childTnLst>
                              <p:par>
                                <p:cTn id="32" presetID="1" presetClass="entr" presetSubtype="0" fill="hold" grpId="0" nodeType="afterEffect">
                                  <p:stCondLst>
                                    <p:cond delay="0"/>
                                  </p:stCondLst>
                                  <p:iterate type="lt">
                                    <p:tmAbs val="75"/>
                                  </p:iterate>
                                  <p:childTnLst>
                                    <p:set>
                                      <p:cBhvr>
                                        <p:cTn id="33" dur="1" fill="hold">
                                          <p:stCondLst>
                                            <p:cond delay="74"/>
                                          </p:stCondLst>
                                        </p:cTn>
                                        <p:tgtEl>
                                          <p:spTgt spid="16"/>
                                        </p:tgtEl>
                                        <p:attrNameLst>
                                          <p:attrName>style.visibility</p:attrName>
                                        </p:attrNameLst>
                                      </p:cBhvr>
                                      <p:to>
                                        <p:strVal val="visible"/>
                                      </p:to>
                                    </p:set>
                                  </p:childTnLst>
                                  <p:subTnLst>
                                    <p:audio>
                                      <p:cMediaNode>
                                        <p:cTn display="0" masterRel="sameClick">
                                          <p:stCondLst>
                                            <p:cond evt="begin" delay="0">
                                              <p:tn val="32"/>
                                            </p:cond>
                                          </p:stCondLst>
                                          <p:endCondLst>
                                            <p:cond evt="onStopAudio" delay="0">
                                              <p:tgtEl>
                                                <p:sldTgt/>
                                              </p:tgtEl>
                                            </p:cond>
                                          </p:endCondLst>
                                        </p:cTn>
                                        <p:tgtEl>
                                          <p:sndTgt r:embed="rId3" name="type.wav"/>
                                        </p:tgtEl>
                                      </p:cMediaNode>
                                    </p:audio>
                                  </p:sub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20"/>
                                        </p:tgtEl>
                                        <p:attrNameLst>
                                          <p:attrName>style.visibility</p:attrName>
                                        </p:attrNameLst>
                                      </p:cBhvr>
                                      <p:to>
                                        <p:strVal val="visible"/>
                                      </p:to>
                                    </p:set>
                                  </p:childTnLst>
                                  <p:subTnLst>
                                    <p:audio>
                                      <p:cMediaNode>
                                        <p:cTn display="0" masterRel="sameClick">
                                          <p:stCondLst>
                                            <p:cond evt="begin" delay="0">
                                              <p:tn val="3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16" grpId="0" autoUpdateAnimBg="0"/>
      <p:bldP spid="17" grpId="0" autoUpdateAnimBg="0"/>
      <p:bldP spid="19" grpId="0" autoUpdateAnimBg="0"/>
      <p:bldP spid="20" grpId="0" animBg="1"/>
      <p:bldP spid="21" grpId="0" animBg="1"/>
      <p:bldP spid="22"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20895" y="2775353"/>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常量</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变量</a:t>
              </a:r>
            </a:p>
          </p:txBody>
        </p:sp>
        <p:pic>
          <p:nvPicPr>
            <p:cNvPr id="37" name="Picture 4" descr="G:\稻壳儿\5\miracomunicazione\shadow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3</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常变量</a:t>
              </a:r>
            </a:p>
          </p:txBody>
        </p:sp>
        <p:pic>
          <p:nvPicPr>
            <p:cNvPr id="18" name="Picture 4" descr="G:\稻壳儿\5\miracomunicazione\shadow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矩形 3"/>
          <p:cNvSpPr/>
          <p:nvPr/>
        </p:nvSpPr>
        <p:spPr>
          <a:xfrm>
            <a:off x="2640232" y="1775120"/>
            <a:ext cx="6479359" cy="3207032"/>
          </a:xfrm>
          <a:prstGeom prst="rect">
            <a:avLst/>
          </a:prstGeom>
        </p:spPr>
        <p:txBody>
          <a:bodyPr wrap="square">
            <a:spAutoFit/>
          </a:bodyPr>
          <a:lstStyle/>
          <a:p>
            <a:pPr>
              <a:lnSpc>
                <a:spcPct val="115000"/>
              </a:lnSpc>
              <a:spcBef>
                <a:spcPct val="0"/>
              </a:spcBef>
            </a:pPr>
            <a:r>
              <a:rPr lang="zh-CN" altLang="en-US" sz="2400" dirty="0">
                <a:solidFill>
                  <a:srgbClr val="984807"/>
                </a:solidFill>
                <a:latin typeface="方正粗倩简体" panose="03000509000000000000" pitchFamily="65" charset="-122"/>
                <a:ea typeface="方正粗倩简体" panose="03000509000000000000" pitchFamily="65" charset="-122"/>
              </a:rPr>
              <a:t>标识符常量：</a:t>
            </a:r>
          </a:p>
          <a:p>
            <a:pPr>
              <a:lnSpc>
                <a:spcPct val="115000"/>
              </a:lnSpc>
              <a:spcBef>
                <a:spcPct val="0"/>
              </a:spcBef>
            </a:pPr>
            <a:r>
              <a:rPr lang="zh-CN" altLang="en-US" dirty="0">
                <a:latin typeface="微软雅黑" panose="020B0503020204020204" pitchFamily="34" charset="-122"/>
                <a:ea typeface="微软雅黑" panose="020B0503020204020204" pitchFamily="34" charset="-122"/>
              </a:rPr>
              <a:t>用常量说明符</a:t>
            </a:r>
            <a:r>
              <a:rPr lang="en-US" altLang="zh-CN" sz="2000" dirty="0" err="1">
                <a:solidFill>
                  <a:srgbClr val="984807"/>
                </a:solidFill>
                <a:latin typeface="微软雅黑" panose="020B0503020204020204" pitchFamily="34" charset="-122"/>
                <a:ea typeface="微软雅黑" panose="020B0503020204020204" pitchFamily="34" charset="-122"/>
              </a:rPr>
              <a:t>const</a:t>
            </a:r>
            <a:r>
              <a:rPr lang="zh-CN" altLang="en-US" dirty="0">
                <a:latin typeface="微软雅黑" panose="020B0503020204020204" pitchFamily="34" charset="-122"/>
                <a:ea typeface="微软雅黑" panose="020B0503020204020204" pitchFamily="34" charset="-122"/>
              </a:rPr>
              <a:t>给文字常量起的名字（标识符），</a:t>
            </a:r>
            <a:r>
              <a:rPr lang="zh-CN" altLang="en-US" dirty="0">
                <a:solidFill>
                  <a:srgbClr val="000000"/>
                </a:solidFill>
                <a:latin typeface="微软雅黑" panose="020B0503020204020204" pitchFamily="34" charset="-122"/>
                <a:ea typeface="微软雅黑" panose="020B0503020204020204" pitchFamily="34" charset="-122"/>
              </a:rPr>
              <a:t>因为其说明和引用形式很像变量，所以也称</a:t>
            </a:r>
            <a:r>
              <a:rPr lang="zh-CN" altLang="en-US" sz="2000" dirty="0">
                <a:solidFill>
                  <a:srgbClr val="984807"/>
                </a:solidFill>
                <a:latin typeface="微软雅黑" panose="020B0503020204020204" pitchFamily="34" charset="-122"/>
                <a:ea typeface="微软雅黑" panose="020B0503020204020204" pitchFamily="34" charset="-122"/>
              </a:rPr>
              <a:t>常变量</a:t>
            </a:r>
            <a:r>
              <a:rPr lang="zh-CN" altLang="en-US" dirty="0">
                <a:latin typeface="微软雅黑" panose="020B0503020204020204" pitchFamily="34" charset="-122"/>
                <a:ea typeface="微软雅黑" panose="020B0503020204020204" pitchFamily="34" charset="-122"/>
              </a:rPr>
              <a:t>；</a:t>
            </a:r>
          </a:p>
          <a:p>
            <a:pPr>
              <a:lnSpc>
                <a:spcPct val="115000"/>
              </a:lnSpc>
              <a:spcBef>
                <a:spcPct val="0"/>
              </a:spcBef>
            </a:pPr>
            <a:r>
              <a:rPr lang="zh-CN" altLang="en-US" dirty="0">
                <a:latin typeface="微软雅黑" panose="020B0503020204020204" pitchFamily="34" charset="-122"/>
                <a:ea typeface="微软雅黑" panose="020B0503020204020204" pitchFamily="34" charset="-122"/>
              </a:rPr>
              <a:t>例如：</a:t>
            </a:r>
          </a:p>
          <a:p>
            <a:pPr>
              <a:lnSpc>
                <a:spcPct val="115000"/>
              </a:lnSpc>
              <a:spcBef>
                <a:spcPct val="0"/>
              </a:spcBef>
            </a:pPr>
            <a:r>
              <a:rPr lang="en-US" altLang="zh-CN" sz="2000" dirty="0" err="1">
                <a:solidFill>
                  <a:srgbClr val="984807"/>
                </a:solidFill>
                <a:latin typeface="微软雅黑" panose="020B0503020204020204" pitchFamily="34" charset="-122"/>
                <a:ea typeface="微软雅黑" panose="020B0503020204020204" pitchFamily="34" charset="-122"/>
              </a:rPr>
              <a:t>const</a:t>
            </a:r>
            <a:r>
              <a:rPr lang="en-US" altLang="zh-CN" sz="2000" dirty="0">
                <a:solidFill>
                  <a:srgbClr val="984807"/>
                </a:solidFill>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float  PI=3.14159;  </a:t>
            </a:r>
            <a:r>
              <a:rPr lang="en-US" altLang="zh-CN" dirty="0">
                <a:solidFill>
                  <a:srgbClr val="984807"/>
                </a:solidFill>
                <a:latin typeface="微软雅黑" panose="020B0503020204020204" pitchFamily="34" charset="-122"/>
                <a:ea typeface="微软雅黑" panose="020B0503020204020204" pitchFamily="34" charset="-122"/>
              </a:rPr>
              <a:t>//</a:t>
            </a:r>
            <a:r>
              <a:rPr lang="zh-CN" altLang="en-US" dirty="0">
                <a:solidFill>
                  <a:srgbClr val="984807"/>
                </a:solidFill>
                <a:latin typeface="微软雅黑" panose="020B0503020204020204" pitchFamily="34" charset="-122"/>
                <a:ea typeface="微软雅黑" panose="020B0503020204020204" pitchFamily="34" charset="-122"/>
              </a:rPr>
              <a:t>推荐用大写字母作为常变量名</a:t>
            </a:r>
          </a:p>
          <a:p>
            <a:pPr>
              <a:lnSpc>
                <a:spcPct val="115000"/>
              </a:lnSpc>
              <a:spcBef>
                <a:spcPct val="0"/>
              </a:spcBef>
            </a:pPr>
            <a:r>
              <a:rPr lang="en-US" altLang="zh-CN" sz="2000" dirty="0" err="1">
                <a:solidFill>
                  <a:srgbClr val="984807"/>
                </a:solidFill>
                <a:latin typeface="微软雅黑" panose="020B0503020204020204" pitchFamily="34" charset="-122"/>
                <a:ea typeface="微软雅黑" panose="020B0503020204020204" pitchFamily="34" charset="-122"/>
              </a:rPr>
              <a:t>const</a:t>
            </a:r>
            <a:r>
              <a:rPr lang="en-US" altLang="zh-CN" sz="2000" dirty="0">
                <a:solidFill>
                  <a:srgbClr val="984807"/>
                </a:solidFill>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int</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Number_of_Student</a:t>
            </a:r>
            <a:r>
              <a:rPr lang="en-US" altLang="zh-CN" dirty="0">
                <a:latin typeface="微软雅黑" panose="020B0503020204020204" pitchFamily="34" charset="-122"/>
                <a:ea typeface="微软雅黑" panose="020B0503020204020204" pitchFamily="34" charset="-122"/>
              </a:rPr>
              <a:t>=100;</a:t>
            </a:r>
          </a:p>
          <a:p>
            <a:pPr>
              <a:lnSpc>
                <a:spcPct val="115000"/>
              </a:lnSpc>
              <a:spcBef>
                <a:spcPct val="0"/>
              </a:spcBef>
              <a:buFontTx/>
              <a:buChar char="•"/>
            </a:pPr>
            <a:r>
              <a:rPr lang="zh-CN" altLang="en-US" dirty="0">
                <a:solidFill>
                  <a:srgbClr val="000000"/>
                </a:solidFill>
                <a:latin typeface="微软雅黑" panose="020B0503020204020204" pitchFamily="34" charset="-122"/>
                <a:ea typeface="微软雅黑" panose="020B0503020204020204" pitchFamily="34" charset="-122"/>
              </a:rPr>
              <a:t>常变量必须也只能在说明时进行初始化；</a:t>
            </a:r>
          </a:p>
          <a:p>
            <a:pPr>
              <a:lnSpc>
                <a:spcPct val="115000"/>
              </a:lnSpc>
              <a:spcBef>
                <a:spcPct val="0"/>
              </a:spcBef>
              <a:buFontTx/>
              <a:buChar char="•"/>
            </a:pPr>
            <a:r>
              <a:rPr lang="zh-CN" altLang="en-US" dirty="0">
                <a:solidFill>
                  <a:srgbClr val="000000"/>
                </a:solidFill>
                <a:latin typeface="微软雅黑" panose="020B0503020204020204" pitchFamily="34" charset="-122"/>
                <a:ea typeface="微软雅黑" panose="020B0503020204020204" pitchFamily="34" charset="-122"/>
              </a:rPr>
              <a:t>常变量初始化之后，不允许再被赋值；</a:t>
            </a:r>
          </a:p>
          <a:p>
            <a:pPr>
              <a:lnSpc>
                <a:spcPct val="115000"/>
              </a:lnSpc>
              <a:spcBef>
                <a:spcPct val="0"/>
              </a:spcBef>
              <a:buFontTx/>
              <a:buChar char="•"/>
            </a:pPr>
            <a:r>
              <a:rPr lang="zh-CN" altLang="en-US" dirty="0">
                <a:solidFill>
                  <a:srgbClr val="000000"/>
                </a:solidFill>
                <a:latin typeface="微软雅黑" panose="020B0503020204020204" pitchFamily="34" charset="-122"/>
                <a:ea typeface="微软雅黑" panose="020B0503020204020204" pitchFamily="34" charset="-122"/>
              </a:rPr>
              <a:t>常变量必须先说明后使用；</a:t>
            </a:r>
          </a:p>
        </p:txBody>
      </p:sp>
    </p:spTree>
    <p:extLst>
      <p:ext uri="{BB962C8B-B14F-4D97-AF65-F5344CB8AC3E}">
        <p14:creationId xmlns:p14="http://schemas.microsoft.com/office/powerpoint/2010/main" val="411690394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20895" y="2775353"/>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常量</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变量</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3</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变量的定义</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矩形 3"/>
          <p:cNvSpPr/>
          <p:nvPr/>
        </p:nvSpPr>
        <p:spPr>
          <a:xfrm>
            <a:off x="2987824" y="1720979"/>
            <a:ext cx="5904656" cy="3170099"/>
          </a:xfrm>
          <a:prstGeom prst="rect">
            <a:avLst/>
          </a:prstGeom>
        </p:spPr>
        <p:txBody>
          <a:bodyPr wrap="square">
            <a:spAutoFit/>
          </a:bodyPr>
          <a:lstStyle/>
          <a:p>
            <a:pPr>
              <a:lnSpc>
                <a:spcPct val="90000"/>
              </a:lnSpc>
            </a:pPr>
            <a:r>
              <a:rPr lang="zh-CN" altLang="en-US" dirty="0">
                <a:latin typeface="微软雅黑" panose="020B0503020204020204" pitchFamily="34" charset="-122"/>
                <a:ea typeface="微软雅黑" panose="020B0503020204020204" pitchFamily="34" charset="-122"/>
              </a:rPr>
              <a:t>变量定义的一般形式：</a:t>
            </a:r>
          </a:p>
          <a:p>
            <a:pPr lvl="1">
              <a:lnSpc>
                <a:spcPct val="120000"/>
              </a:lnSpc>
            </a:pPr>
            <a:r>
              <a:rPr lang="zh-CN" altLang="en-US" sz="2400" dirty="0">
                <a:solidFill>
                  <a:srgbClr val="984807"/>
                </a:solidFill>
                <a:latin typeface="方正粗倩简体" panose="03000509000000000000" pitchFamily="65" charset="-122"/>
                <a:ea typeface="方正粗倩简体" panose="03000509000000000000" pitchFamily="65" charset="-122"/>
              </a:rPr>
              <a:t>数据类型名    变量名表</a:t>
            </a:r>
            <a:r>
              <a:rPr lang="zh-CN" altLang="en-US" dirty="0">
                <a:solidFill>
                  <a:srgbClr val="000000"/>
                </a:solidFill>
                <a:latin typeface="方正粗倩简体" panose="03000509000000000000" pitchFamily="65" charset="-122"/>
                <a:ea typeface="方正粗倩简体" panose="03000509000000000000" pitchFamily="65" charset="-122"/>
              </a:rPr>
              <a:t>；</a:t>
            </a:r>
          </a:p>
          <a:p>
            <a:pPr>
              <a:lnSpc>
                <a:spcPct val="90000"/>
              </a:lnSpc>
            </a:pPr>
            <a:r>
              <a:rPr lang="zh-CN" altLang="en-US" dirty="0">
                <a:latin typeface="微软雅黑" panose="020B0503020204020204" pitchFamily="34" charset="-122"/>
                <a:ea typeface="微软雅黑" panose="020B0503020204020204" pitchFamily="34" charset="-122"/>
              </a:rPr>
              <a:t>例如：</a:t>
            </a:r>
          </a:p>
          <a:p>
            <a:pPr lvl="1">
              <a:lnSpc>
                <a:spcPct val="90000"/>
              </a:lnSpc>
              <a:spcBef>
                <a:spcPts val="600"/>
              </a:spcBef>
            </a:pPr>
            <a:r>
              <a:rPr lang="en-US" altLang="zh-CN" sz="2400" dirty="0">
                <a:solidFill>
                  <a:srgbClr val="984807"/>
                </a:solidFill>
                <a:latin typeface="方正粗倩简体" panose="03000509000000000000" pitchFamily="65" charset="-122"/>
                <a:ea typeface="方正粗倩简体" panose="03000509000000000000" pitchFamily="65" charset="-122"/>
              </a:rPr>
              <a:t>char</a:t>
            </a:r>
            <a:r>
              <a:rPr lang="en-US" altLang="zh-CN" dirty="0">
                <a:solidFill>
                  <a:srgbClr val="984807"/>
                </a:solidFill>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c;                          </a:t>
            </a:r>
            <a:r>
              <a:rPr lang="zh-CN" altLang="en-US" dirty="0">
                <a:solidFill>
                  <a:srgbClr val="000000"/>
                </a:solidFill>
                <a:latin typeface="微软雅黑" panose="020B0503020204020204" pitchFamily="34" charset="-122"/>
                <a:ea typeface="微软雅黑" panose="020B0503020204020204" pitchFamily="34" charset="-122"/>
              </a:rPr>
              <a:t>定义字符型变量</a:t>
            </a:r>
            <a:endParaRPr lang="en-US" altLang="zh-CN" dirty="0">
              <a:solidFill>
                <a:srgbClr val="000000"/>
              </a:solidFill>
              <a:latin typeface="微软雅黑" panose="020B0503020204020204" pitchFamily="34" charset="-122"/>
              <a:ea typeface="微软雅黑" panose="020B0503020204020204" pitchFamily="34" charset="-122"/>
            </a:endParaRPr>
          </a:p>
          <a:p>
            <a:pPr lvl="1">
              <a:lnSpc>
                <a:spcPct val="90000"/>
              </a:lnSpc>
              <a:spcBef>
                <a:spcPts val="600"/>
              </a:spcBef>
            </a:pPr>
            <a:r>
              <a:rPr lang="en-US" altLang="zh-CN" sz="2400" dirty="0" err="1">
                <a:solidFill>
                  <a:srgbClr val="984807"/>
                </a:solidFill>
                <a:latin typeface="方正粗倩简体" panose="03000509000000000000" pitchFamily="65" charset="-122"/>
                <a:ea typeface="方正粗倩简体" panose="03000509000000000000" pitchFamily="65" charset="-122"/>
              </a:rPr>
              <a:t>int</a:t>
            </a:r>
            <a:r>
              <a:rPr lang="en-US" altLang="zh-CN" sz="2400" dirty="0">
                <a:solidFill>
                  <a:srgbClr val="984807"/>
                </a:solidFill>
                <a:latin typeface="方正粗倩简体" panose="03000509000000000000" pitchFamily="65" charset="-122"/>
                <a:ea typeface="方正粗倩简体" panose="03000509000000000000" pitchFamily="65" charset="-122"/>
              </a:rPr>
              <a:t> </a:t>
            </a:r>
            <a:r>
              <a:rPr lang="en-US" altLang="zh-CN" dirty="0" err="1">
                <a:latin typeface="微软雅黑" panose="020B0503020204020204" pitchFamily="34" charset="-122"/>
                <a:ea typeface="微软雅黑" panose="020B0503020204020204" pitchFamily="34" charset="-122"/>
              </a:rPr>
              <a:t>celsius</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fahr</a:t>
            </a:r>
            <a:r>
              <a:rPr lang="en-US" altLang="zh-CN" dirty="0">
                <a:latin typeface="微软雅黑" panose="020B0503020204020204" pitchFamily="34" charset="-122"/>
                <a:ea typeface="微软雅黑" panose="020B0503020204020204" pitchFamily="34" charset="-122"/>
              </a:rPr>
              <a:t>;             </a:t>
            </a:r>
            <a:r>
              <a:rPr lang="zh-CN" altLang="en-US" dirty="0">
                <a:solidFill>
                  <a:srgbClr val="000000"/>
                </a:solidFill>
                <a:latin typeface="微软雅黑" panose="020B0503020204020204" pitchFamily="34" charset="-122"/>
                <a:ea typeface="微软雅黑" panose="020B0503020204020204" pitchFamily="34" charset="-122"/>
              </a:rPr>
              <a:t>定义整型变量</a:t>
            </a:r>
          </a:p>
          <a:p>
            <a:pPr lvl="1">
              <a:lnSpc>
                <a:spcPct val="90000"/>
              </a:lnSpc>
              <a:spcBef>
                <a:spcPts val="600"/>
              </a:spcBef>
            </a:pPr>
            <a:r>
              <a:rPr lang="en-US" altLang="zh-CN" sz="2400" dirty="0">
                <a:solidFill>
                  <a:srgbClr val="984807"/>
                </a:solidFill>
                <a:latin typeface="方正粗倩简体" panose="03000509000000000000" pitchFamily="65" charset="-122"/>
                <a:ea typeface="方正粗倩简体" panose="03000509000000000000" pitchFamily="65" charset="-122"/>
              </a:rPr>
              <a:t>float</a:t>
            </a:r>
            <a:r>
              <a:rPr lang="en-US" altLang="zh-CN" dirty="0">
                <a:latin typeface="微软雅黑" panose="020B0503020204020204" pitchFamily="34" charset="-122"/>
                <a:ea typeface="微软雅黑" panose="020B0503020204020204" pitchFamily="34" charset="-122"/>
              </a:rPr>
              <a:t> x;                          </a:t>
            </a:r>
            <a:r>
              <a:rPr lang="zh-CN" altLang="en-US" dirty="0">
                <a:solidFill>
                  <a:srgbClr val="000000"/>
                </a:solidFill>
                <a:latin typeface="微软雅黑" panose="020B0503020204020204" pitchFamily="34" charset="-122"/>
                <a:ea typeface="微软雅黑" panose="020B0503020204020204" pitchFamily="34" charset="-122"/>
              </a:rPr>
              <a:t>定义单精度浮点型变量</a:t>
            </a:r>
          </a:p>
          <a:p>
            <a:pPr lvl="1">
              <a:lnSpc>
                <a:spcPct val="90000"/>
              </a:lnSpc>
              <a:spcBef>
                <a:spcPts val="600"/>
              </a:spcBef>
            </a:pPr>
            <a:r>
              <a:rPr lang="en-US" altLang="zh-CN" sz="2400" dirty="0">
                <a:solidFill>
                  <a:srgbClr val="984807"/>
                </a:solidFill>
                <a:latin typeface="方正粗倩简体" panose="03000509000000000000" pitchFamily="65" charset="-122"/>
                <a:ea typeface="方正粗倩简体" panose="03000509000000000000" pitchFamily="65" charset="-122"/>
              </a:rPr>
              <a:t>double</a:t>
            </a:r>
            <a:r>
              <a:rPr lang="en-US" altLang="zh-CN" dirty="0">
                <a:latin typeface="微软雅黑" panose="020B0503020204020204" pitchFamily="34" charset="-122"/>
                <a:ea typeface="微软雅黑" panose="020B0503020204020204" pitchFamily="34" charset="-122"/>
              </a:rPr>
              <a:t> area, length;     </a:t>
            </a:r>
            <a:r>
              <a:rPr lang="zh-CN" altLang="en-US" dirty="0">
                <a:solidFill>
                  <a:srgbClr val="000000"/>
                </a:solidFill>
                <a:latin typeface="微软雅黑" panose="020B0503020204020204" pitchFamily="34" charset="-122"/>
                <a:ea typeface="微软雅黑" panose="020B0503020204020204" pitchFamily="34" charset="-122"/>
              </a:rPr>
              <a:t>定义双精度浮点型变量</a:t>
            </a:r>
          </a:p>
          <a:p>
            <a:pPr lvl="1">
              <a:lnSpc>
                <a:spcPct val="90000"/>
              </a:lnSpc>
            </a:pPr>
            <a:endParaRPr lang="zh-CN" altLang="en-US" dirty="0">
              <a:solidFill>
                <a:srgbClr val="000000"/>
              </a:solidFill>
              <a:latin typeface="微软雅黑" panose="020B0503020204020204" pitchFamily="34" charset="-122"/>
              <a:ea typeface="微软雅黑" panose="020B0503020204020204" pitchFamily="34" charset="-122"/>
            </a:endParaRPr>
          </a:p>
          <a:p>
            <a:pPr lvl="1">
              <a:lnSpc>
                <a:spcPct val="90000"/>
              </a:lnSpc>
            </a:pPr>
            <a:r>
              <a:rPr lang="en-US" altLang="zh-CN" dirty="0">
                <a:latin typeface="微软雅黑" panose="020B0503020204020204" pitchFamily="34" charset="-122"/>
                <a:ea typeface="微软雅黑" panose="020B0503020204020204" pitchFamily="34" charset="-122"/>
              </a:rPr>
              <a:t>double</a:t>
            </a:r>
            <a:r>
              <a:rPr lang="zh-CN" altLang="en-US" dirty="0">
                <a:latin typeface="微软雅黑" panose="020B0503020204020204" pitchFamily="34" charset="-122"/>
                <a:ea typeface="微软雅黑" panose="020B0503020204020204" pitchFamily="34" charset="-122"/>
              </a:rPr>
              <a:t>型数据比</a:t>
            </a:r>
            <a:r>
              <a:rPr lang="en-US" altLang="zh-CN" dirty="0">
                <a:latin typeface="微软雅黑" panose="020B0503020204020204" pitchFamily="34" charset="-122"/>
                <a:ea typeface="微软雅黑" panose="020B0503020204020204" pitchFamily="34" charset="-122"/>
              </a:rPr>
              <a:t>float</a:t>
            </a:r>
            <a:r>
              <a:rPr lang="zh-CN" altLang="en-US" dirty="0">
                <a:latin typeface="微软雅黑" panose="020B0503020204020204" pitchFamily="34" charset="-122"/>
                <a:ea typeface="微软雅黑" panose="020B0503020204020204" pitchFamily="34" charset="-122"/>
              </a:rPr>
              <a:t>型精度高，取值范围大 </a:t>
            </a:r>
          </a:p>
        </p:txBody>
      </p:sp>
    </p:spTree>
    <p:extLst>
      <p:ext uri="{BB962C8B-B14F-4D97-AF65-F5344CB8AC3E}">
        <p14:creationId xmlns:p14="http://schemas.microsoft.com/office/powerpoint/2010/main" val="27401027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20895" y="2775353"/>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常量</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变量</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3</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变量的特性</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矩形 6"/>
          <p:cNvSpPr/>
          <p:nvPr/>
        </p:nvSpPr>
        <p:spPr>
          <a:xfrm>
            <a:off x="2987824" y="1700812"/>
            <a:ext cx="4572000" cy="646331"/>
          </a:xfrm>
          <a:prstGeom prst="rect">
            <a:avLst/>
          </a:prstGeom>
        </p:spPr>
        <p:txBody>
          <a:bodyPr>
            <a:spAutoFit/>
          </a:bodyPr>
          <a:lstStyle/>
          <a:p>
            <a:r>
              <a:rPr lang="en-US" altLang="zh-CN" dirty="0">
                <a:latin typeface="微软雅黑" panose="020B0503020204020204" pitchFamily="34" charset="-122"/>
                <a:ea typeface="微软雅黑" panose="020B0503020204020204" pitchFamily="34" charset="-122"/>
              </a:rPr>
              <a:t>int a;</a:t>
            </a:r>
          </a:p>
          <a:p>
            <a:r>
              <a:rPr lang="en-US" altLang="zh-CN" dirty="0">
                <a:latin typeface="微软雅黑" panose="020B0503020204020204" pitchFamily="34" charset="-122"/>
                <a:ea typeface="微软雅黑" panose="020B0503020204020204" pitchFamily="34" charset="-122"/>
              </a:rPr>
              <a:t>int a=1</a:t>
            </a:r>
            <a:r>
              <a:rPr lang="zh-CN" altLang="en-US" dirty="0">
                <a:latin typeface="微软雅黑" panose="020B0503020204020204" pitchFamily="34" charset="-122"/>
                <a:ea typeface="微软雅黑" panose="020B0503020204020204" pitchFamily="34" charset="-122"/>
              </a:rPr>
              <a:t>；</a:t>
            </a:r>
            <a:r>
              <a:rPr lang="en-US" altLang="zh-CN" dirty="0">
                <a:solidFill>
                  <a:srgbClr val="984807"/>
                </a:solidFill>
                <a:latin typeface="方正粗倩简体" panose="03000509000000000000" pitchFamily="65" charset="-122"/>
                <a:ea typeface="方正粗倩简体" panose="03000509000000000000" pitchFamily="65" charset="-122"/>
              </a:rPr>
              <a:t>//</a:t>
            </a:r>
            <a:r>
              <a:rPr lang="zh-CN" altLang="en-US" dirty="0">
                <a:solidFill>
                  <a:srgbClr val="984807"/>
                </a:solidFill>
                <a:latin typeface="方正粗倩简体" panose="03000509000000000000" pitchFamily="65" charset="-122"/>
                <a:ea typeface="方正粗倩简体" panose="03000509000000000000" pitchFamily="65" charset="-122"/>
              </a:rPr>
              <a:t>变量的初始化</a:t>
            </a:r>
            <a:endParaRPr lang="en-US" altLang="zh-CN" dirty="0">
              <a:solidFill>
                <a:srgbClr val="984807"/>
              </a:solidFill>
              <a:latin typeface="方正粗倩简体" panose="03000509000000000000" pitchFamily="65" charset="-122"/>
              <a:ea typeface="方正粗倩简体" panose="03000509000000000000" pitchFamily="65" charset="-122"/>
            </a:endParaRPr>
          </a:p>
        </p:txBody>
      </p:sp>
      <p:sp>
        <p:nvSpPr>
          <p:cNvPr id="4" name="文本框 3"/>
          <p:cNvSpPr txBox="1"/>
          <p:nvPr/>
        </p:nvSpPr>
        <p:spPr>
          <a:xfrm>
            <a:off x="3059832" y="2888531"/>
            <a:ext cx="3240360" cy="46166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有一个明确的</a:t>
            </a:r>
            <a:r>
              <a:rPr lang="zh-CN" altLang="en-US" sz="2400" dirty="0">
                <a:solidFill>
                  <a:srgbClr val="984807"/>
                </a:solidFill>
                <a:latin typeface="方正粗倩简体" panose="03000509000000000000" pitchFamily="65" charset="-122"/>
                <a:ea typeface="方正粗倩简体" panose="03000509000000000000" pitchFamily="65" charset="-122"/>
              </a:rPr>
              <a:t>数据类型</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919897" y="2703865"/>
            <a:ext cx="2160240"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存储空间的大小</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能够进行哪些运算</a:t>
            </a:r>
          </a:p>
        </p:txBody>
      </p:sp>
      <p:sp>
        <p:nvSpPr>
          <p:cNvPr id="10" name="文本框 9"/>
          <p:cNvSpPr txBox="1"/>
          <p:nvPr/>
        </p:nvSpPr>
        <p:spPr>
          <a:xfrm>
            <a:off x="3085062" y="3339988"/>
            <a:ext cx="5328592" cy="46166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有一个按</a:t>
            </a:r>
            <a:r>
              <a:rPr lang="zh-CN" altLang="en-US" sz="2400" dirty="0">
                <a:solidFill>
                  <a:srgbClr val="984807"/>
                </a:solidFill>
                <a:latin typeface="方正粗倩简体" panose="03000509000000000000" pitchFamily="65" charset="-122"/>
                <a:ea typeface="方正粗倩简体" panose="03000509000000000000" pitchFamily="65" charset="-122"/>
              </a:rPr>
              <a:t>标识符命名规则</a:t>
            </a:r>
            <a:r>
              <a:rPr lang="zh-CN" altLang="en-US" dirty="0">
                <a:latin typeface="微软雅黑" panose="020B0503020204020204" pitchFamily="34" charset="-122"/>
                <a:ea typeface="微软雅黑" panose="020B0503020204020204" pitchFamily="34" charset="-122"/>
              </a:rPr>
              <a:t>命名的</a:t>
            </a:r>
            <a:r>
              <a:rPr lang="zh-CN" altLang="en-US" sz="2400" dirty="0">
                <a:solidFill>
                  <a:srgbClr val="984807"/>
                </a:solidFill>
                <a:latin typeface="方正粗倩简体" panose="03000509000000000000" pitchFamily="65" charset="-122"/>
                <a:ea typeface="方正粗倩简体" panose="03000509000000000000" pitchFamily="65" charset="-122"/>
              </a:rPr>
              <a:t>变量名</a:t>
            </a:r>
          </a:p>
        </p:txBody>
      </p:sp>
    </p:spTree>
    <p:extLst>
      <p:ext uri="{BB962C8B-B14F-4D97-AF65-F5344CB8AC3E}">
        <p14:creationId xmlns:p14="http://schemas.microsoft.com/office/powerpoint/2010/main" val="323753970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32086" y="2800673"/>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运算符</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表达式</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4</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运算符与表达式</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2915816" y="1779662"/>
            <a:ext cx="3168352" cy="2954655"/>
          </a:xfrm>
          <a:prstGeom prst="rect">
            <a:avLst/>
          </a:prstGeom>
          <a:noFill/>
        </p:spPr>
        <p:txBody>
          <a:bodyPr wrap="square" rtlCol="0">
            <a:spAutoFit/>
          </a:bodyPr>
          <a:lstStyle/>
          <a:p>
            <a:r>
              <a:rPr lang="zh-CN" altLang="en-US" sz="2400" dirty="0">
                <a:solidFill>
                  <a:srgbClr val="984807"/>
                </a:solidFill>
                <a:latin typeface="方正粗倩简体" panose="03000509000000000000" pitchFamily="65" charset="-122"/>
                <a:ea typeface="方正粗倩简体" panose="03000509000000000000" pitchFamily="65" charset="-122"/>
              </a:rPr>
              <a:t>八种运算符：</a:t>
            </a:r>
            <a:endParaRPr lang="en-US" altLang="zh-CN" sz="2400" dirty="0">
              <a:solidFill>
                <a:srgbClr val="984807"/>
              </a:solidFill>
              <a:latin typeface="方正粗倩简体" panose="03000509000000000000" pitchFamily="65" charset="-122"/>
              <a:ea typeface="方正粗倩简体" panose="03000509000000000000" pitchFamily="65" charset="-122"/>
            </a:endParaRPr>
          </a:p>
          <a:p>
            <a:r>
              <a:rPr lang="zh-CN" altLang="en-US" dirty="0">
                <a:latin typeface="微软雅黑" panose="020B0503020204020204" pitchFamily="34" charset="-122"/>
                <a:ea typeface="微软雅黑" panose="020B0503020204020204" pitchFamily="34" charset="-122"/>
              </a:rPr>
              <a:t>初等运算</a:t>
            </a:r>
            <a:r>
              <a:rPr lang="en-US" altLang="zh-CN"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dirty="0">
                <a:latin typeface="微软雅黑" panose="020B0503020204020204" pitchFamily="34" charset="-122"/>
                <a:ea typeface="微软雅黑" panose="020B0503020204020204" pitchFamily="34" charset="-122"/>
                <a:sym typeface="Wingdings" panose="05000000000000000000" pitchFamily="2" charset="2"/>
              </a:rPr>
              <a:t>，</a:t>
            </a:r>
            <a:r>
              <a:rPr lang="en-US" altLang="zh-CN"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dirty="0">
                <a:latin typeface="微软雅黑" panose="020B0503020204020204" pitchFamily="34" charset="-122"/>
                <a:ea typeface="微软雅黑" panose="020B0503020204020204" pitchFamily="34" charset="-122"/>
                <a:sym typeface="Wingdings" panose="05000000000000000000" pitchFamily="2" charset="2"/>
              </a:rPr>
              <a:t>，</a:t>
            </a:r>
            <a:r>
              <a:rPr lang="en-US" altLang="zh-CN" dirty="0">
                <a:latin typeface="微软雅黑" panose="020B0503020204020204" pitchFamily="34" charset="-122"/>
                <a:ea typeface="微软雅黑" panose="020B0503020204020204" pitchFamily="34" charset="-122"/>
                <a:sym typeface="Wingdings" panose="05000000000000000000" pitchFamily="2" charset="2"/>
              </a:rPr>
              <a:t>-</a:t>
            </a:r>
            <a:r>
              <a:rPr lang="zh-CN" altLang="en-US" dirty="0">
                <a:latin typeface="微软雅黑" panose="020B0503020204020204" pitchFamily="34" charset="-122"/>
                <a:ea typeface="微软雅黑" panose="020B0503020204020204" pitchFamily="34" charset="-122"/>
                <a:sym typeface="Wingdings" panose="05000000000000000000" pitchFamily="2" charset="2"/>
              </a:rPr>
              <a:t>，</a:t>
            </a:r>
            <a:r>
              <a:rPr lang="en-US" altLang="zh-CN" dirty="0">
                <a:latin typeface="微软雅黑" panose="020B0503020204020204" pitchFamily="34" charset="-122"/>
                <a:ea typeface="微软雅黑" panose="020B0503020204020204" pitchFamily="34" charset="-122"/>
                <a:sym typeface="Wingdings" panose="05000000000000000000" pitchFamily="2" charset="2"/>
              </a:rPr>
              <a:t>.</a:t>
            </a:r>
            <a:r>
              <a:rPr lang="zh-CN" altLang="en-US" dirty="0">
                <a:latin typeface="微软雅黑" panose="020B0503020204020204" pitchFamily="34" charset="-122"/>
                <a:ea typeface="微软雅黑" panose="020B0503020204020204" pitchFamily="34" charset="-122"/>
                <a:sym typeface="Wingdings" panose="05000000000000000000" pitchFamily="2" charset="2"/>
              </a:rPr>
              <a:t>，</a:t>
            </a:r>
            <a:r>
              <a:rPr lang="en-US" altLang="zh-CN" dirty="0">
                <a:latin typeface="微软雅黑" panose="020B0503020204020204" pitchFamily="34" charset="-122"/>
                <a:ea typeface="微软雅黑" panose="020B0503020204020204" pitchFamily="34" charset="-122"/>
                <a:sym typeface="Wingdings" panose="05000000000000000000" pitchFamily="2" charset="2"/>
              </a:rPr>
              <a:t>*</a:t>
            </a:r>
          </a:p>
          <a:p>
            <a:r>
              <a:rPr lang="zh-CN" altLang="en-US" dirty="0">
                <a:latin typeface="微软雅黑" panose="020B0503020204020204" pitchFamily="34" charset="-122"/>
                <a:ea typeface="微软雅黑" panose="020B0503020204020204" pitchFamily="34" charset="-122"/>
                <a:sym typeface="Wingdings" panose="05000000000000000000" pitchFamily="2" charset="2"/>
              </a:rPr>
              <a:t>增量运算：</a:t>
            </a:r>
            <a:r>
              <a:rPr lang="en-US" altLang="zh-CN" dirty="0">
                <a:latin typeface="微软雅黑" panose="020B0503020204020204" pitchFamily="34" charset="-122"/>
                <a:ea typeface="微软雅黑" panose="020B0503020204020204" pitchFamily="34" charset="-122"/>
                <a:sym typeface="Wingdings" panose="05000000000000000000" pitchFamily="2" charset="2"/>
              </a:rPr>
              <a:t>++</a:t>
            </a:r>
            <a:r>
              <a:rPr lang="zh-CN" altLang="en-US" dirty="0">
                <a:latin typeface="微软雅黑" panose="020B0503020204020204" pitchFamily="34" charset="-122"/>
                <a:ea typeface="微软雅黑" panose="020B0503020204020204" pitchFamily="34" charset="-122"/>
                <a:sym typeface="Wingdings" panose="05000000000000000000" pitchFamily="2" charset="2"/>
              </a:rPr>
              <a:t>，</a:t>
            </a:r>
            <a:r>
              <a:rPr lang="en-US" altLang="zh-CN"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dirty="0">
              <a:latin typeface="微软雅黑" panose="020B0503020204020204" pitchFamily="34" charset="-122"/>
              <a:ea typeface="微软雅黑" panose="020B0503020204020204" pitchFamily="34" charset="-122"/>
            </a:endParaRPr>
          </a:p>
          <a:p>
            <a:r>
              <a:rPr lang="zh-CN" altLang="en-US" dirty="0">
                <a:solidFill>
                  <a:srgbClr val="984807"/>
                </a:solidFill>
                <a:latin typeface="微软雅黑" panose="020B0503020204020204" pitchFamily="34" charset="-122"/>
                <a:ea typeface="微软雅黑" panose="020B0503020204020204" pitchFamily="34" charset="-122"/>
              </a:rPr>
              <a:t>算术运算：</a:t>
            </a:r>
            <a:r>
              <a:rPr lang="en-US" altLang="zh-CN" dirty="0">
                <a:solidFill>
                  <a:srgbClr val="984807"/>
                </a:solidFill>
                <a:latin typeface="微软雅黑" panose="020B0503020204020204" pitchFamily="34" charset="-122"/>
                <a:ea typeface="微软雅黑" panose="020B0503020204020204" pitchFamily="34" charset="-122"/>
              </a:rPr>
              <a:t>+,-,*,/,%</a:t>
            </a:r>
          </a:p>
          <a:p>
            <a:r>
              <a:rPr lang="zh-CN" altLang="en-US" dirty="0">
                <a:latin typeface="微软雅黑" panose="020B0503020204020204" pitchFamily="34" charset="-122"/>
                <a:ea typeface="微软雅黑" panose="020B0503020204020204" pitchFamily="34" charset="-122"/>
              </a:rPr>
              <a:t>关系运算：</a:t>
            </a:r>
            <a:r>
              <a:rPr lang="en-US" altLang="zh-CN" dirty="0">
                <a:latin typeface="微软雅黑" panose="020B0503020204020204" pitchFamily="34" charset="-122"/>
                <a:ea typeface="微软雅黑" panose="020B0503020204020204" pitchFamily="34" charset="-122"/>
              </a:rPr>
              <a:t>&gt;,&gt;=,&lt;,&lt;=,==,!=</a:t>
            </a:r>
          </a:p>
          <a:p>
            <a:r>
              <a:rPr lang="zh-CN" altLang="en-US" dirty="0">
                <a:latin typeface="微软雅黑" panose="020B0503020204020204" pitchFamily="34" charset="-122"/>
                <a:ea typeface="微软雅黑" panose="020B0503020204020204" pitchFamily="34" charset="-122"/>
              </a:rPr>
              <a:t>逻辑运算：</a:t>
            </a:r>
            <a:r>
              <a:rPr lang="en-US" altLang="zh-CN" dirty="0">
                <a:latin typeface="微软雅黑" panose="020B0503020204020204" pitchFamily="34" charset="-122"/>
                <a:ea typeface="微软雅黑" panose="020B0503020204020204" pitchFamily="34" charset="-122"/>
              </a:rPr>
              <a:t>&amp;&amp;</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zh-CN" altLang="en-US" dirty="0">
                <a:solidFill>
                  <a:srgbClr val="984807"/>
                </a:solidFill>
                <a:latin typeface="微软雅黑" panose="020B0503020204020204" pitchFamily="34" charset="-122"/>
                <a:ea typeface="微软雅黑" panose="020B0503020204020204" pitchFamily="34" charset="-122"/>
              </a:rPr>
              <a:t>赋值运算：</a:t>
            </a:r>
            <a:r>
              <a:rPr lang="en-US" altLang="zh-CN" dirty="0">
                <a:solidFill>
                  <a:srgbClr val="984807"/>
                </a:solidFill>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t>
            </a:r>
          </a:p>
          <a:p>
            <a:r>
              <a:rPr lang="zh-CN" altLang="en-US" dirty="0">
                <a:latin typeface="微软雅黑" panose="020B0503020204020204" pitchFamily="34" charset="-122"/>
                <a:ea typeface="微软雅黑" panose="020B0503020204020204" pitchFamily="34" charset="-122"/>
              </a:rPr>
              <a:t>条件运算：？：</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逗号运算： </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652120" y="1876017"/>
            <a:ext cx="3168352" cy="1292662"/>
          </a:xfrm>
          <a:prstGeom prst="rect">
            <a:avLst/>
          </a:prstGeom>
          <a:noFill/>
        </p:spPr>
        <p:txBody>
          <a:bodyPr wrap="square" rtlCol="0">
            <a:spAutoFit/>
          </a:bodyPr>
          <a:lstStyle/>
          <a:p>
            <a:r>
              <a:rPr lang="zh-CN" altLang="en-US" sz="2400" dirty="0">
                <a:solidFill>
                  <a:srgbClr val="984807"/>
                </a:solidFill>
                <a:latin typeface="方正粗倩简体" panose="03000509000000000000" pitchFamily="65" charset="-122"/>
                <a:ea typeface="方正粗倩简体" panose="03000509000000000000" pitchFamily="65" charset="-122"/>
              </a:rPr>
              <a:t>运算符的特性：</a:t>
            </a:r>
            <a:endParaRPr lang="en-US" altLang="zh-CN" sz="2400" dirty="0">
              <a:solidFill>
                <a:srgbClr val="984807"/>
              </a:solidFill>
              <a:latin typeface="方正粗倩简体" panose="03000509000000000000" pitchFamily="65" charset="-122"/>
              <a:ea typeface="方正粗倩简体" panose="03000509000000000000" pitchFamily="65" charset="-122"/>
            </a:endParaRPr>
          </a:p>
          <a:p>
            <a:r>
              <a:rPr lang="zh-CN" altLang="en-US" dirty="0">
                <a:latin typeface="微软雅黑" panose="020B0503020204020204" pitchFamily="34" charset="-122"/>
                <a:ea typeface="微软雅黑" panose="020B0503020204020204" pitchFamily="34" charset="-122"/>
              </a:rPr>
              <a:t>它所需要的运算量的个数：目</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它对运算量的要求</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它的优先级和结合方向</a:t>
            </a:r>
          </a:p>
        </p:txBody>
      </p:sp>
    </p:spTree>
    <p:extLst>
      <p:ext uri="{BB962C8B-B14F-4D97-AF65-F5344CB8AC3E}">
        <p14:creationId xmlns:p14="http://schemas.microsoft.com/office/powerpoint/2010/main" val="44535324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32086" y="2800673"/>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运算符</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表达式</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4</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算术运算符</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文本框 5"/>
          <p:cNvSpPr txBox="1"/>
          <p:nvPr/>
        </p:nvSpPr>
        <p:spPr>
          <a:xfrm>
            <a:off x="2951816" y="1686460"/>
            <a:ext cx="5292592" cy="1569660"/>
          </a:xfrm>
          <a:prstGeom prst="rect">
            <a:avLst/>
          </a:prstGeom>
          <a:noFill/>
        </p:spPr>
        <p:txBody>
          <a:bodyPr wrap="square" rtlCol="0">
            <a:spAutoFit/>
          </a:bodyPr>
          <a:lstStyle/>
          <a:p>
            <a:r>
              <a:rPr lang="zh-CN" altLang="en-US" sz="2400" dirty="0">
                <a:solidFill>
                  <a:srgbClr val="984807"/>
                </a:solidFill>
                <a:latin typeface="方正粗倩简体" panose="03000509000000000000" pitchFamily="65" charset="-122"/>
                <a:ea typeface="方正粗倩简体" panose="03000509000000000000" pitchFamily="65" charset="-122"/>
              </a:rPr>
              <a:t>运算符的特性：</a:t>
            </a:r>
            <a:endParaRPr lang="en-US" altLang="zh-CN" sz="2400" dirty="0">
              <a:solidFill>
                <a:srgbClr val="984807"/>
              </a:solidFill>
              <a:latin typeface="方正粗倩简体" panose="03000509000000000000" pitchFamily="65" charset="-122"/>
              <a:ea typeface="方正粗倩简体" panose="03000509000000000000" pitchFamily="65" charset="-122"/>
            </a:endParaRPr>
          </a:p>
          <a:p>
            <a:r>
              <a:rPr lang="zh-CN" altLang="en-US" dirty="0">
                <a:latin typeface="微软雅黑" panose="020B0503020204020204" pitchFamily="34" charset="-122"/>
                <a:ea typeface="微软雅黑" panose="020B0503020204020204" pitchFamily="34" charset="-122"/>
              </a:rPr>
              <a:t>它所需要的运算量的个数：</a:t>
            </a:r>
            <a:r>
              <a:rPr lang="en-US" altLang="zh-CN" dirty="0">
                <a:latin typeface="微软雅黑" panose="020B0503020204020204" pitchFamily="34" charset="-122"/>
                <a:ea typeface="微软雅黑" panose="020B0503020204020204" pitchFamily="34" charset="-122"/>
              </a:rPr>
              <a:t>2</a:t>
            </a:r>
          </a:p>
          <a:p>
            <a:r>
              <a:rPr lang="zh-CN" altLang="en-US" dirty="0">
                <a:latin typeface="微软雅黑" panose="020B0503020204020204" pitchFamily="34" charset="-122"/>
                <a:ea typeface="微软雅黑" panose="020B0503020204020204" pitchFamily="34" charset="-122"/>
              </a:rPr>
              <a:t>它对运算量的要求：</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要求两边为整型</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它的优先级：在增量运算和</a:t>
            </a:r>
            <a:r>
              <a:rPr lang="zh-CN" altLang="en-US" dirty="0">
                <a:latin typeface="微软雅黑" panose="020B0503020204020204" pitchFamily="34" charset="-122"/>
                <a:ea typeface="微软雅黑" panose="020B0503020204020204" pitchFamily="34" charset="-122"/>
                <a:sym typeface="Lato Light" charset="0"/>
              </a:rPr>
              <a:t>逻辑非</a:t>
            </a:r>
            <a:r>
              <a:rPr lang="en-US" altLang="zh-CN" dirty="0">
                <a:latin typeface="微软雅黑" panose="020B0503020204020204" pitchFamily="34" charset="-122"/>
                <a:ea typeface="微软雅黑" panose="020B0503020204020204" pitchFamily="34" charset="-122"/>
                <a:sym typeface="Lato Light" charset="0"/>
              </a:rPr>
              <a:t>(!)</a:t>
            </a:r>
            <a:r>
              <a:rPr lang="zh-CN" altLang="en-US" dirty="0">
                <a:latin typeface="微软雅黑" panose="020B0503020204020204" pitchFamily="34" charset="-122"/>
                <a:ea typeface="微软雅黑" panose="020B0503020204020204" pitchFamily="34" charset="-122"/>
                <a:sym typeface="Lato Light" charset="0"/>
              </a:rPr>
              <a:t>运算</a:t>
            </a:r>
            <a:r>
              <a:rPr lang="zh-CN" altLang="en-US" dirty="0">
                <a:latin typeface="微软雅黑" panose="020B0503020204020204" pitchFamily="34" charset="-122"/>
                <a:ea typeface="微软雅黑" panose="020B0503020204020204" pitchFamily="34" charset="-122"/>
              </a:rPr>
              <a:t>之后</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它的结合方向：从左至右</a:t>
            </a:r>
          </a:p>
        </p:txBody>
      </p:sp>
      <p:sp>
        <p:nvSpPr>
          <p:cNvPr id="7" name="文本框 6"/>
          <p:cNvSpPr txBox="1"/>
          <p:nvPr/>
        </p:nvSpPr>
        <p:spPr>
          <a:xfrm>
            <a:off x="2987824" y="3675677"/>
            <a:ext cx="5328592" cy="1200329"/>
          </a:xfrm>
          <a:prstGeom prst="rect">
            <a:avLst/>
          </a:prstGeom>
          <a:noFill/>
        </p:spPr>
        <p:txBody>
          <a:bodyPr wrap="square" rtlCol="0">
            <a:spAutoFit/>
          </a:bodyPr>
          <a:lstStyle/>
          <a:p>
            <a:r>
              <a:rPr lang="zh-CN" altLang="en-US" sz="2400" dirty="0">
                <a:solidFill>
                  <a:srgbClr val="984807"/>
                </a:solidFill>
                <a:latin typeface="方正粗倩简体" panose="03000509000000000000" pitchFamily="65" charset="-122"/>
                <a:ea typeface="方正粗倩简体" panose="03000509000000000000" pitchFamily="65" charset="-122"/>
              </a:rPr>
              <a:t>截断取整：</a:t>
            </a:r>
            <a:r>
              <a:rPr lang="zh-CN" altLang="en-US" dirty="0">
                <a:latin typeface="微软雅黑" panose="020B0503020204020204" pitchFamily="34" charset="-122"/>
                <a:ea typeface="微软雅黑" panose="020B0503020204020204" pitchFamily="34" charset="-122"/>
              </a:rPr>
              <a:t>两个整数的算术运算结果为整数</a:t>
            </a:r>
            <a:endParaRPr lang="en-US" altLang="zh-CN" dirty="0">
              <a:latin typeface="微软雅黑" panose="020B0503020204020204" pitchFamily="34" charset="-122"/>
              <a:ea typeface="微软雅黑" panose="020B0503020204020204" pitchFamily="34" charset="-122"/>
            </a:endParaRPr>
          </a:p>
          <a:p>
            <a:r>
              <a:rPr lang="zh-CN" altLang="en-US" sz="2400" dirty="0">
                <a:solidFill>
                  <a:srgbClr val="984807"/>
                </a:solidFill>
                <a:latin typeface="方正粗倩简体" panose="03000509000000000000" pitchFamily="65" charset="-122"/>
                <a:ea typeface="方正粗倩简体" panose="03000509000000000000" pitchFamily="65" charset="-122"/>
              </a:rPr>
              <a:t>自动类型转换：</a:t>
            </a:r>
            <a:r>
              <a:rPr lang="zh-CN" altLang="en-US" dirty="0">
                <a:latin typeface="微软雅黑" panose="020B0503020204020204" pitchFamily="34" charset="-122"/>
                <a:ea typeface="微软雅黑" panose="020B0503020204020204" pitchFamily="34" charset="-122"/>
              </a:rPr>
              <a:t>向高看齐，逐步转换</a:t>
            </a:r>
            <a:endParaRPr lang="en-US" altLang="zh-CN" dirty="0">
              <a:latin typeface="微软雅黑" panose="020B0503020204020204" pitchFamily="34" charset="-122"/>
              <a:ea typeface="微软雅黑" panose="020B0503020204020204" pitchFamily="34" charset="-122"/>
            </a:endParaRPr>
          </a:p>
          <a:p>
            <a:r>
              <a:rPr lang="zh-CN" altLang="en-US" sz="2400" dirty="0">
                <a:solidFill>
                  <a:srgbClr val="984807"/>
                </a:solidFill>
                <a:latin typeface="方正粗倩简体" panose="03000509000000000000" pitchFamily="65" charset="-122"/>
                <a:ea typeface="方正粗倩简体" panose="03000509000000000000" pitchFamily="65" charset="-122"/>
              </a:rPr>
              <a:t>从低到高：</a:t>
            </a:r>
            <a:r>
              <a:rPr lang="en-US" altLang="zh-CN" dirty="0">
                <a:latin typeface="微软雅黑" panose="020B0503020204020204" pitchFamily="34" charset="-122"/>
                <a:ea typeface="微软雅黑" panose="020B0503020204020204" pitchFamily="34" charset="-122"/>
              </a:rPr>
              <a:t>char-&gt;</a:t>
            </a:r>
            <a:r>
              <a:rPr lang="en-US" altLang="zh-CN" dirty="0" err="1">
                <a:latin typeface="微软雅黑" panose="020B0503020204020204" pitchFamily="34" charset="-122"/>
                <a:ea typeface="微软雅黑" panose="020B0503020204020204" pitchFamily="34" charset="-122"/>
              </a:rPr>
              <a:t>int</a:t>
            </a:r>
            <a:r>
              <a:rPr lang="en-US" altLang="zh-CN" dirty="0">
                <a:latin typeface="微软雅黑" panose="020B0503020204020204" pitchFamily="34" charset="-122"/>
                <a:ea typeface="微软雅黑" panose="020B0503020204020204" pitchFamily="34" charset="-122"/>
              </a:rPr>
              <a:t>-&gt;float-&gt;double</a:t>
            </a:r>
            <a:endParaRPr lang="zh-CN" altLang="en-US" dirty="0">
              <a:latin typeface="微软雅黑" panose="020B0503020204020204" pitchFamily="34" charset="-122"/>
              <a:ea typeface="微软雅黑" panose="020B0503020204020204" pitchFamily="34" charset="-122"/>
            </a:endParaRPr>
          </a:p>
        </p:txBody>
      </p:sp>
      <p:sp>
        <p:nvSpPr>
          <p:cNvPr id="4" name="TextBox 3"/>
          <p:cNvSpPr txBox="1"/>
          <p:nvPr/>
        </p:nvSpPr>
        <p:spPr>
          <a:xfrm>
            <a:off x="3059832" y="3287460"/>
            <a:ext cx="5400600" cy="369332"/>
          </a:xfrm>
          <a:prstGeom prst="rect">
            <a:avLst/>
          </a:prstGeom>
          <a:noFill/>
        </p:spPr>
        <p:txBody>
          <a:bodyPr wrap="square" rtlCol="0">
            <a:spAutoFit/>
          </a:bodyPr>
          <a:lstStyle/>
          <a:p>
            <a:r>
              <a:rPr lang="en-US" altLang="zh-CN" dirty="0"/>
              <a:t>3+5</a:t>
            </a:r>
            <a:r>
              <a:rPr lang="zh-CN" altLang="en-US" dirty="0"/>
              <a:t>，</a:t>
            </a:r>
            <a:r>
              <a:rPr lang="en-US" altLang="zh-CN" dirty="0"/>
              <a:t>3/5</a:t>
            </a:r>
            <a:r>
              <a:rPr lang="zh-CN" altLang="en-US" dirty="0"/>
              <a:t>，</a:t>
            </a:r>
            <a:r>
              <a:rPr lang="en-US" altLang="zh-CN" dirty="0"/>
              <a:t>5.5/4</a:t>
            </a:r>
            <a:r>
              <a:rPr lang="zh-CN" altLang="en-US" dirty="0"/>
              <a:t>，</a:t>
            </a:r>
            <a:r>
              <a:rPr lang="en-US" altLang="zh-CN" dirty="0"/>
              <a:t>5.5%4</a:t>
            </a:r>
          </a:p>
        </p:txBody>
      </p:sp>
    </p:spTree>
    <p:extLst>
      <p:ext uri="{BB962C8B-B14F-4D97-AF65-F5344CB8AC3E}">
        <p14:creationId xmlns:p14="http://schemas.microsoft.com/office/powerpoint/2010/main" val="8144371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40365"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32086" y="2800673"/>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运算符</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表达式</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4</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赋值运算符</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文本框 5"/>
          <p:cNvSpPr txBox="1"/>
          <p:nvPr/>
        </p:nvSpPr>
        <p:spPr>
          <a:xfrm>
            <a:off x="2951816" y="1686460"/>
            <a:ext cx="4860543" cy="1569660"/>
          </a:xfrm>
          <a:prstGeom prst="rect">
            <a:avLst/>
          </a:prstGeom>
          <a:noFill/>
        </p:spPr>
        <p:txBody>
          <a:bodyPr wrap="square" rtlCol="0">
            <a:spAutoFit/>
          </a:bodyPr>
          <a:lstStyle/>
          <a:p>
            <a:r>
              <a:rPr lang="zh-CN" altLang="en-US" sz="2400" dirty="0">
                <a:solidFill>
                  <a:srgbClr val="984807"/>
                </a:solidFill>
                <a:latin typeface="方正粗倩简体" panose="03000509000000000000" pitchFamily="65" charset="-122"/>
                <a:ea typeface="方正粗倩简体" panose="03000509000000000000" pitchFamily="65" charset="-122"/>
              </a:rPr>
              <a:t>运算符的特性：</a:t>
            </a:r>
            <a:endParaRPr lang="en-US" altLang="zh-CN" sz="2400" dirty="0">
              <a:solidFill>
                <a:srgbClr val="984807"/>
              </a:solidFill>
              <a:latin typeface="方正粗倩简体" panose="03000509000000000000" pitchFamily="65" charset="-122"/>
              <a:ea typeface="方正粗倩简体" panose="03000509000000000000" pitchFamily="65" charset="-122"/>
            </a:endParaRPr>
          </a:p>
          <a:p>
            <a:r>
              <a:rPr lang="zh-CN" altLang="en-US" dirty="0">
                <a:latin typeface="微软雅黑" panose="020B0503020204020204" pitchFamily="34" charset="-122"/>
                <a:ea typeface="微软雅黑" panose="020B0503020204020204" pitchFamily="34" charset="-122"/>
              </a:rPr>
              <a:t>它所需要的运算量的个数：</a:t>
            </a:r>
            <a:r>
              <a:rPr lang="en-US" altLang="zh-CN" dirty="0">
                <a:latin typeface="微软雅黑" panose="020B0503020204020204" pitchFamily="34" charset="-122"/>
                <a:ea typeface="微软雅黑" panose="020B0503020204020204" pitchFamily="34" charset="-122"/>
              </a:rPr>
              <a:t>2</a:t>
            </a:r>
          </a:p>
          <a:p>
            <a:r>
              <a:rPr lang="zh-CN" altLang="en-US" dirty="0">
                <a:latin typeface="微软雅黑" panose="020B0503020204020204" pitchFamily="34" charset="-122"/>
                <a:ea typeface="微软雅黑" panose="020B0503020204020204" pitchFamily="34" charset="-122"/>
              </a:rPr>
              <a:t>它对运算量的要求：左边必须是变量</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它的优先级：在逻辑运算之后</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它的结合方向：从右至左</a:t>
            </a:r>
          </a:p>
        </p:txBody>
      </p:sp>
      <p:sp>
        <p:nvSpPr>
          <p:cNvPr id="7" name="文本框 6"/>
          <p:cNvSpPr txBox="1"/>
          <p:nvPr/>
        </p:nvSpPr>
        <p:spPr>
          <a:xfrm>
            <a:off x="2987824" y="3363838"/>
            <a:ext cx="5328592" cy="1846659"/>
          </a:xfrm>
          <a:prstGeom prst="rect">
            <a:avLst/>
          </a:prstGeom>
          <a:noFill/>
        </p:spPr>
        <p:txBody>
          <a:bodyPr wrap="square" rtlCol="0">
            <a:spAutoFit/>
          </a:bodyPr>
          <a:lstStyle/>
          <a:p>
            <a:r>
              <a:rPr lang="en-US" altLang="zh-CN" dirty="0"/>
              <a:t>A=</a:t>
            </a:r>
            <a:r>
              <a:rPr lang="en-US" altLang="zh-CN" dirty="0" err="1"/>
              <a:t>b+c;x</a:t>
            </a:r>
            <a:r>
              <a:rPr lang="en-US" altLang="zh-CN" dirty="0"/>
              <a:t>=x+1;a+b=c; </a:t>
            </a:r>
          </a:p>
          <a:p>
            <a:r>
              <a:rPr lang="en-US" altLang="zh-CN" dirty="0"/>
              <a:t>int x;</a:t>
            </a:r>
          </a:p>
          <a:p>
            <a:r>
              <a:rPr lang="en-US" altLang="zh-CN" dirty="0"/>
              <a:t>double y=5.5;</a:t>
            </a:r>
          </a:p>
          <a:p>
            <a:r>
              <a:rPr lang="en-US" altLang="zh-CN" dirty="0"/>
              <a:t>x=y+1;</a:t>
            </a:r>
          </a:p>
          <a:p>
            <a:r>
              <a:rPr lang="zh-CN" altLang="en-US" sz="2400" dirty="0">
                <a:solidFill>
                  <a:srgbClr val="984807"/>
                </a:solidFill>
                <a:latin typeface="方正粗倩简体" panose="03000509000000000000" pitchFamily="65" charset="-122"/>
                <a:ea typeface="方正粗倩简体" panose="03000509000000000000" pitchFamily="65" charset="-122"/>
              </a:rPr>
              <a:t>自动类型转换：</a:t>
            </a:r>
            <a:r>
              <a:rPr lang="zh-CN" altLang="en-US" dirty="0">
                <a:latin typeface="微软雅黑" panose="020B0503020204020204" pitchFamily="34" charset="-122"/>
                <a:ea typeface="微软雅黑" panose="020B0503020204020204" pitchFamily="34" charset="-122"/>
              </a:rPr>
              <a:t>向左看齐</a:t>
            </a:r>
            <a:endParaRPr lang="en-US" altLang="zh-CN" dirty="0">
              <a:latin typeface="微软雅黑" panose="020B0503020204020204" pitchFamily="34" charset="-122"/>
              <a:ea typeface="微软雅黑" panose="020B0503020204020204" pitchFamily="34" charset="-122"/>
            </a:endParaRPr>
          </a:p>
          <a:p>
            <a:r>
              <a:rPr lang="zh-CN" altLang="en-US" b="1" dirty="0">
                <a:solidFill>
                  <a:srgbClr val="984807"/>
                </a:solidFill>
                <a:latin typeface="微软雅黑" panose="020B0503020204020204" pitchFamily="34" charset="-122"/>
                <a:ea typeface="微软雅黑" panose="020B0503020204020204" pitchFamily="34" charset="-122"/>
              </a:rPr>
              <a:t>赋值表达式的值是左边变量被赋值后的值</a:t>
            </a:r>
          </a:p>
        </p:txBody>
      </p:sp>
      <p:sp>
        <p:nvSpPr>
          <p:cNvPr id="14" name="动作按钮: 自定义 25">
            <a:hlinkClick r:id="rId3" action="ppaction://program" highlightClick="1"/>
            <a:extLst>
              <a:ext uri="{FF2B5EF4-FFF2-40B4-BE49-F238E27FC236}">
                <a16:creationId xmlns:a16="http://schemas.microsoft.com/office/drawing/2014/main" id="{455C05B8-75A0-407C-911E-B494365652C7}"/>
              </a:ext>
            </a:extLst>
          </p:cNvPr>
          <p:cNvSpPr/>
          <p:nvPr/>
        </p:nvSpPr>
        <p:spPr>
          <a:xfrm>
            <a:off x="5940152" y="3283554"/>
            <a:ext cx="2547997" cy="667657"/>
          </a:xfrm>
          <a:prstGeom prst="actionButtonBlan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例  子</a:t>
            </a:r>
            <a:r>
              <a:rPr lang="en-US" altLang="zh-CN" sz="2400" dirty="0"/>
              <a:t>2_2</a:t>
            </a:r>
            <a:endParaRPr lang="zh-CN" altLang="en-US" sz="2400" dirty="0"/>
          </a:p>
        </p:txBody>
      </p:sp>
    </p:spTree>
    <p:extLst>
      <p:ext uri="{BB962C8B-B14F-4D97-AF65-F5344CB8AC3E}">
        <p14:creationId xmlns:p14="http://schemas.microsoft.com/office/powerpoint/2010/main" val="25812857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40365"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32086" y="2800673"/>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运算符</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表达式</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4</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en-US" altLang="zh-CN" sz="2400" dirty="0" err="1">
                  <a:latin typeface="方正粗倩简体" panose="03000509000000000000" pitchFamily="65" charset="-122"/>
                  <a:ea typeface="方正粗倩简体" panose="03000509000000000000" pitchFamily="65" charset="-122"/>
                </a:rPr>
                <a:t>sizeof</a:t>
              </a:r>
              <a:r>
                <a:rPr lang="zh-CN" altLang="en-US" sz="2400" dirty="0">
                  <a:latin typeface="方正粗倩简体" panose="03000509000000000000" pitchFamily="65" charset="-122"/>
                  <a:ea typeface="方正粗倩简体" panose="03000509000000000000" pitchFamily="65" charset="-122"/>
                </a:rPr>
                <a:t>运算符</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文本框 5"/>
          <p:cNvSpPr txBox="1"/>
          <p:nvPr/>
        </p:nvSpPr>
        <p:spPr>
          <a:xfrm>
            <a:off x="2951816" y="1686460"/>
            <a:ext cx="4860543" cy="1292662"/>
          </a:xfrm>
          <a:prstGeom prst="rect">
            <a:avLst/>
          </a:prstGeom>
          <a:noFill/>
        </p:spPr>
        <p:txBody>
          <a:bodyPr wrap="square" rtlCol="0">
            <a:spAutoFit/>
          </a:bodyPr>
          <a:lstStyle/>
          <a:p>
            <a:r>
              <a:rPr lang="zh-CN" altLang="en-US" sz="2400" dirty="0">
                <a:solidFill>
                  <a:srgbClr val="984807"/>
                </a:solidFill>
                <a:latin typeface="方正粗倩简体" panose="03000509000000000000" pitchFamily="65" charset="-122"/>
                <a:ea typeface="方正粗倩简体" panose="03000509000000000000" pitchFamily="65" charset="-122"/>
              </a:rPr>
              <a:t>运算符的特性：</a:t>
            </a:r>
            <a:endParaRPr lang="en-US" altLang="zh-CN" sz="2400" dirty="0">
              <a:solidFill>
                <a:srgbClr val="984807"/>
              </a:solidFill>
              <a:latin typeface="方正粗倩简体" panose="03000509000000000000" pitchFamily="65" charset="-122"/>
              <a:ea typeface="方正粗倩简体" panose="03000509000000000000" pitchFamily="65" charset="-122"/>
            </a:endParaRPr>
          </a:p>
          <a:p>
            <a:r>
              <a:rPr lang="zh-CN" altLang="en-US" dirty="0">
                <a:latin typeface="微软雅黑" panose="020B0503020204020204" pitchFamily="34" charset="-122"/>
                <a:ea typeface="微软雅黑" panose="020B0503020204020204" pitchFamily="34" charset="-122"/>
              </a:rPr>
              <a:t>它所需要的运算量的个数：</a:t>
            </a:r>
            <a:r>
              <a:rPr lang="en-US" altLang="zh-CN" dirty="0">
                <a:latin typeface="微软雅黑" panose="020B0503020204020204" pitchFamily="34" charset="-122"/>
                <a:ea typeface="微软雅黑" panose="020B0503020204020204" pitchFamily="34" charset="-122"/>
              </a:rPr>
              <a:t>1</a:t>
            </a:r>
          </a:p>
          <a:p>
            <a:r>
              <a:rPr lang="zh-CN" altLang="en-US" dirty="0">
                <a:latin typeface="微软雅黑" panose="020B0503020204020204" pitchFamily="34" charset="-122"/>
                <a:ea typeface="微软雅黑" panose="020B0503020204020204" pitchFamily="34" charset="-122"/>
              </a:rPr>
              <a:t>它的优先级：单目运算类</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它的结合方向：从右至左</a:t>
            </a:r>
          </a:p>
        </p:txBody>
      </p:sp>
      <p:sp>
        <p:nvSpPr>
          <p:cNvPr id="7" name="文本框 6"/>
          <p:cNvSpPr txBox="1"/>
          <p:nvPr/>
        </p:nvSpPr>
        <p:spPr>
          <a:xfrm>
            <a:off x="2987824" y="3363838"/>
            <a:ext cx="5328592" cy="1015663"/>
          </a:xfrm>
          <a:prstGeom prst="rect">
            <a:avLst/>
          </a:prstGeom>
          <a:noFill/>
        </p:spPr>
        <p:txBody>
          <a:bodyPr wrap="square" rtlCol="0">
            <a:spAutoFit/>
          </a:bodyPr>
          <a:lstStyle/>
          <a:p>
            <a:r>
              <a:rPr lang="zh-CN" altLang="en-US" sz="2400" dirty="0">
                <a:solidFill>
                  <a:srgbClr val="984807"/>
                </a:solidFill>
                <a:latin typeface="方正粗倩简体" panose="03000509000000000000" pitchFamily="65" charset="-122"/>
                <a:ea typeface="方正粗倩简体" panose="03000509000000000000" pitchFamily="65" charset="-122"/>
              </a:rPr>
              <a:t>两种使用方式：</a:t>
            </a:r>
            <a:endParaRPr lang="en-US" altLang="zh-CN" sz="2400" dirty="0">
              <a:solidFill>
                <a:srgbClr val="984807"/>
              </a:solidFill>
              <a:latin typeface="方正粗倩简体" panose="03000509000000000000" pitchFamily="65" charset="-122"/>
              <a:ea typeface="方正粗倩简体" panose="03000509000000000000" pitchFamily="65" charset="-122"/>
            </a:endParaRPr>
          </a:p>
          <a:p>
            <a:r>
              <a:rPr lang="en-US" altLang="zh-CN" dirty="0" err="1">
                <a:latin typeface="微软雅黑" panose="020B0503020204020204" pitchFamily="34" charset="-122"/>
                <a:ea typeface="微软雅黑" panose="020B0503020204020204" pitchFamily="34" charset="-122"/>
              </a:rPr>
              <a:t>sizeof</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类型</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例如 </a:t>
            </a:r>
            <a:r>
              <a:rPr lang="en-US" altLang="zh-CN" dirty="0" err="1">
                <a:latin typeface="微软雅黑" panose="020B0503020204020204" pitchFamily="34" charset="-122"/>
                <a:ea typeface="微软雅黑" panose="020B0503020204020204" pitchFamily="34" charset="-122"/>
              </a:rPr>
              <a:t>sizeof</a:t>
            </a:r>
            <a:r>
              <a:rPr lang="en-US" altLang="zh-CN" dirty="0">
                <a:latin typeface="微软雅黑" panose="020B0503020204020204" pitchFamily="34" charset="-122"/>
                <a:ea typeface="微软雅黑" panose="020B0503020204020204" pitchFamily="34" charset="-122"/>
              </a:rPr>
              <a:t>(int) </a:t>
            </a:r>
            <a:r>
              <a:rPr lang="zh-CN" altLang="en-US" dirty="0">
                <a:latin typeface="微软雅黑" panose="020B0503020204020204" pitchFamily="34" charset="-122"/>
                <a:ea typeface="微软雅黑" panose="020B0503020204020204" pitchFamily="34" charset="-122"/>
              </a:rPr>
              <a:t>结果为</a:t>
            </a:r>
            <a:r>
              <a:rPr lang="en-US" altLang="zh-CN" dirty="0">
                <a:latin typeface="微软雅黑" panose="020B0503020204020204" pitchFamily="34" charset="-122"/>
                <a:ea typeface="微软雅黑" panose="020B0503020204020204" pitchFamily="34" charset="-122"/>
              </a:rPr>
              <a:t>4</a:t>
            </a:r>
          </a:p>
          <a:p>
            <a:r>
              <a:rPr lang="en-US" altLang="zh-CN" dirty="0" err="1">
                <a:latin typeface="微软雅黑" panose="020B0503020204020204" pitchFamily="34" charset="-122"/>
                <a:ea typeface="微软雅黑" panose="020B0503020204020204" pitchFamily="34" charset="-122"/>
              </a:rPr>
              <a:t>sizeof</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表达式</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sizeof</a:t>
            </a:r>
            <a:r>
              <a:rPr lang="en-US" altLang="zh-CN" dirty="0">
                <a:latin typeface="微软雅黑" panose="020B0503020204020204" pitchFamily="34" charset="-122"/>
                <a:ea typeface="微软雅黑" panose="020B0503020204020204" pitchFamily="34" charset="-122"/>
              </a:rPr>
              <a:t>(4.5)</a:t>
            </a:r>
            <a:r>
              <a:rPr lang="zh-CN" altLang="en-US" dirty="0">
                <a:latin typeface="微软雅黑" panose="020B0503020204020204" pitchFamily="34" charset="-122"/>
                <a:ea typeface="微软雅黑" panose="020B0503020204020204" pitchFamily="34" charset="-122"/>
              </a:rPr>
              <a:t>结果为</a:t>
            </a:r>
            <a:r>
              <a:rPr lang="en-US" altLang="zh-CN" dirty="0">
                <a:latin typeface="微软雅黑" panose="020B0503020204020204" pitchFamily="34" charset="-122"/>
                <a:ea typeface="微软雅黑" panose="020B0503020204020204" pitchFamily="34" charset="-122"/>
              </a:rPr>
              <a:t>8</a:t>
            </a:r>
          </a:p>
        </p:txBody>
      </p:sp>
    </p:spTree>
    <p:extLst>
      <p:ext uri="{BB962C8B-B14F-4D97-AF65-F5344CB8AC3E}">
        <p14:creationId xmlns:p14="http://schemas.microsoft.com/office/powerpoint/2010/main" val="353865625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40632" y="2838515"/>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输入</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输出</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5</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输入输出</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3131840" y="1686460"/>
            <a:ext cx="5688632" cy="2862322"/>
          </a:xfrm>
          <a:prstGeom prst="rect">
            <a:avLst/>
          </a:prstGeom>
          <a:noFill/>
        </p:spPr>
        <p:txBody>
          <a:bodyPr wrap="square" rtlCol="0">
            <a:spAutoFit/>
          </a:bodyPr>
          <a:lstStyle/>
          <a:p>
            <a:r>
              <a:rPr lang="en-US" altLang="zh-CN" sz="2400" dirty="0">
                <a:solidFill>
                  <a:srgbClr val="984807"/>
                </a:solidFill>
                <a:latin typeface="方正粗倩简体" panose="03000509000000000000" pitchFamily="65" charset="-122"/>
                <a:ea typeface="方正粗倩简体" panose="03000509000000000000" pitchFamily="65" charset="-122"/>
              </a:rPr>
              <a:t>#include&lt;</a:t>
            </a:r>
            <a:r>
              <a:rPr lang="en-US" altLang="zh-CN" sz="2400" dirty="0" err="1">
                <a:solidFill>
                  <a:srgbClr val="984807"/>
                </a:solidFill>
                <a:latin typeface="方正粗倩简体" panose="03000509000000000000" pitchFamily="65" charset="-122"/>
                <a:ea typeface="方正粗倩简体" panose="03000509000000000000" pitchFamily="65" charset="-122"/>
              </a:rPr>
              <a:t>stdio.h</a:t>
            </a:r>
            <a:r>
              <a:rPr lang="en-US" altLang="zh-CN" sz="2400" dirty="0">
                <a:solidFill>
                  <a:srgbClr val="984807"/>
                </a:solidFill>
                <a:latin typeface="方正粗倩简体" panose="03000509000000000000" pitchFamily="65" charset="-122"/>
                <a:ea typeface="方正粗倩简体" panose="03000509000000000000" pitchFamily="65" charset="-122"/>
              </a:rPr>
              <a:t>&gt;</a:t>
            </a:r>
          </a:p>
          <a:p>
            <a:r>
              <a:rPr lang="en-US" altLang="zh-CN" dirty="0"/>
              <a:t>int main()</a:t>
            </a:r>
          </a:p>
          <a:p>
            <a:r>
              <a:rPr lang="en-US" altLang="zh-CN" dirty="0"/>
              <a:t>{</a:t>
            </a:r>
          </a:p>
          <a:p>
            <a:r>
              <a:rPr lang="en-US" altLang="zh-CN" dirty="0"/>
              <a:t>      </a:t>
            </a:r>
            <a:r>
              <a:rPr lang="en-US" altLang="zh-CN" dirty="0" err="1"/>
              <a:t>int</a:t>
            </a:r>
            <a:r>
              <a:rPr lang="en-US" altLang="zh-CN" dirty="0"/>
              <a:t> </a:t>
            </a:r>
            <a:r>
              <a:rPr lang="en-US" altLang="zh-CN" dirty="0" err="1"/>
              <a:t>x,y</a:t>
            </a:r>
            <a:r>
              <a:rPr lang="en-US" altLang="zh-CN" dirty="0"/>
              <a:t>;</a:t>
            </a:r>
          </a:p>
          <a:p>
            <a:r>
              <a:rPr lang="en-US" altLang="zh-CN" dirty="0"/>
              <a:t>      </a:t>
            </a:r>
            <a:r>
              <a:rPr lang="en-US" altLang="zh-CN" sz="2400" dirty="0" err="1">
                <a:solidFill>
                  <a:srgbClr val="984807"/>
                </a:solidFill>
                <a:latin typeface="方正粗倩简体" panose="03000509000000000000" pitchFamily="65" charset="-122"/>
                <a:ea typeface="方正粗倩简体" panose="03000509000000000000" pitchFamily="65" charset="-122"/>
              </a:rPr>
              <a:t>scanf</a:t>
            </a:r>
            <a:r>
              <a:rPr lang="en-US" altLang="zh-CN" dirty="0"/>
              <a:t>(“%</a:t>
            </a:r>
            <a:r>
              <a:rPr lang="en-US" altLang="zh-CN" dirty="0" err="1"/>
              <a:t>d”,</a:t>
            </a:r>
            <a:r>
              <a:rPr lang="en-US" altLang="zh-CN" dirty="0" err="1">
                <a:solidFill>
                  <a:srgbClr val="984807"/>
                </a:solidFill>
              </a:rPr>
              <a:t>&amp;</a:t>
            </a:r>
            <a:r>
              <a:rPr lang="en-US" altLang="zh-CN" dirty="0" err="1"/>
              <a:t>x</a:t>
            </a:r>
            <a:r>
              <a:rPr lang="en-US" altLang="zh-CN" dirty="0"/>
              <a:t>);</a:t>
            </a:r>
          </a:p>
          <a:p>
            <a:r>
              <a:rPr lang="en-US" altLang="zh-CN" dirty="0"/>
              <a:t>      y=x*x;</a:t>
            </a:r>
          </a:p>
          <a:p>
            <a:r>
              <a:rPr lang="en-US" altLang="zh-CN" sz="2400" dirty="0">
                <a:solidFill>
                  <a:srgbClr val="984807"/>
                </a:solidFill>
                <a:latin typeface="方正粗倩简体" panose="03000509000000000000" pitchFamily="65" charset="-122"/>
                <a:ea typeface="方正粗倩简体" panose="03000509000000000000" pitchFamily="65" charset="-122"/>
              </a:rPr>
              <a:t>   </a:t>
            </a:r>
            <a:r>
              <a:rPr lang="en-US" altLang="zh-CN" sz="2400" dirty="0" err="1">
                <a:solidFill>
                  <a:srgbClr val="984807"/>
                </a:solidFill>
                <a:latin typeface="方正粗倩简体" panose="03000509000000000000" pitchFamily="65" charset="-122"/>
                <a:ea typeface="方正粗倩简体" panose="03000509000000000000" pitchFamily="65" charset="-122"/>
              </a:rPr>
              <a:t>printf</a:t>
            </a:r>
            <a:r>
              <a:rPr lang="en-US" altLang="zh-CN" dirty="0"/>
              <a:t>(“y=%d”, y);</a:t>
            </a:r>
          </a:p>
          <a:p>
            <a:r>
              <a:rPr lang="en-US" altLang="zh-CN" dirty="0"/>
              <a:t>     return 0;</a:t>
            </a:r>
          </a:p>
          <a:p>
            <a:r>
              <a:rPr lang="en-US" altLang="zh-CN" dirty="0"/>
              <a:t>}</a:t>
            </a:r>
            <a:endParaRPr lang="zh-CN" altLang="en-US" dirty="0"/>
          </a:p>
        </p:txBody>
      </p:sp>
      <p:sp>
        <p:nvSpPr>
          <p:cNvPr id="6" name="文本框 5">
            <a:extLst>
              <a:ext uri="{FF2B5EF4-FFF2-40B4-BE49-F238E27FC236}">
                <a16:creationId xmlns:a16="http://schemas.microsoft.com/office/drawing/2014/main" id="{DE8ACCD4-D23D-458A-2454-5FE0694C765D}"/>
              </a:ext>
            </a:extLst>
          </p:cNvPr>
          <p:cNvSpPr txBox="1"/>
          <p:nvPr/>
        </p:nvSpPr>
        <p:spPr>
          <a:xfrm>
            <a:off x="5940152" y="1851672"/>
            <a:ext cx="2952328" cy="1477328"/>
          </a:xfrm>
          <a:prstGeom prst="rect">
            <a:avLst/>
          </a:prstGeom>
          <a:noFill/>
        </p:spPr>
        <p:txBody>
          <a:bodyPr wrap="square" rtlCol="0">
            <a:spAutoFit/>
          </a:bodyPr>
          <a:lstStyle/>
          <a:p>
            <a:r>
              <a:rPr lang="zh-CN" altLang="en-US" dirty="0"/>
              <a:t>文件包含：</a:t>
            </a:r>
            <a:endParaRPr lang="en-US" altLang="zh-CN" dirty="0"/>
          </a:p>
          <a:p>
            <a:r>
              <a:rPr lang="en-US" altLang="zh-CN" dirty="0" err="1"/>
              <a:t>scanf</a:t>
            </a:r>
            <a:r>
              <a:rPr lang="zh-CN" altLang="en-US" dirty="0"/>
              <a:t>和</a:t>
            </a:r>
            <a:r>
              <a:rPr lang="en-US" altLang="zh-CN" dirty="0" err="1"/>
              <a:t>printf</a:t>
            </a:r>
            <a:r>
              <a:rPr lang="zh-CN" altLang="en-US" dirty="0"/>
              <a:t>函数的声明在</a:t>
            </a:r>
            <a:endParaRPr lang="en-US" altLang="zh-CN" dirty="0"/>
          </a:p>
          <a:p>
            <a:r>
              <a:rPr lang="zh-CN" altLang="en-US" dirty="0"/>
              <a:t>文件</a:t>
            </a:r>
            <a:r>
              <a:rPr lang="en-US" altLang="zh-CN" dirty="0" err="1"/>
              <a:t>stdio.h</a:t>
            </a:r>
            <a:r>
              <a:rPr lang="zh-CN" altLang="en-US" dirty="0"/>
              <a:t>里面，只有包含了该文件，编译器才能认识</a:t>
            </a:r>
            <a:endParaRPr lang="en-US" altLang="zh-CN" dirty="0"/>
          </a:p>
          <a:p>
            <a:r>
              <a:rPr lang="en-US" altLang="zh-CN" dirty="0" err="1"/>
              <a:t>scanf</a:t>
            </a:r>
            <a:r>
              <a:rPr lang="zh-CN" altLang="en-US" dirty="0"/>
              <a:t>和</a:t>
            </a:r>
            <a:r>
              <a:rPr lang="en-US" altLang="zh-CN" dirty="0" err="1"/>
              <a:t>printf</a:t>
            </a:r>
            <a:endParaRPr lang="en-US" altLang="zh-CN" dirty="0"/>
          </a:p>
        </p:txBody>
      </p:sp>
    </p:spTree>
    <p:extLst>
      <p:ext uri="{BB962C8B-B14F-4D97-AF65-F5344CB8AC3E}">
        <p14:creationId xmlns:p14="http://schemas.microsoft.com/office/powerpoint/2010/main" val="14410666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40632" y="2838515"/>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输入</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输出</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5</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输入输出</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2771800" y="1897062"/>
            <a:ext cx="5688632" cy="2308324"/>
          </a:xfrm>
          <a:prstGeom prst="rect">
            <a:avLst/>
          </a:prstGeom>
          <a:noFill/>
        </p:spPr>
        <p:txBody>
          <a:bodyPr wrap="square" rtlCol="0">
            <a:spAutoFit/>
          </a:bodyPr>
          <a:lstStyle/>
          <a:p>
            <a:r>
              <a:rPr lang="zh-CN" altLang="en-US" sz="2400" dirty="0">
                <a:latin typeface="华文仿宋" panose="02010600040101010101" pitchFamily="2" charset="-122"/>
                <a:ea typeface="华文仿宋" panose="02010600040101010101" pitchFamily="2" charset="-122"/>
              </a:rPr>
              <a:t>一个完整的计算机程序常常要求具备输入输出功能。</a:t>
            </a:r>
            <a:endParaRPr lang="en-US" altLang="zh-CN" sz="2400" dirty="0">
              <a:latin typeface="华文仿宋" panose="02010600040101010101" pitchFamily="2" charset="-122"/>
              <a:ea typeface="华文仿宋" panose="02010600040101010101" pitchFamily="2" charset="-122"/>
            </a:endParaRPr>
          </a:p>
          <a:p>
            <a:r>
              <a:rPr lang="zh-CN" altLang="en-US" sz="2400" dirty="0">
                <a:latin typeface="华文仿宋" panose="02010600040101010101" pitchFamily="2" charset="-122"/>
                <a:ea typeface="华文仿宋" panose="02010600040101010101" pitchFamily="2" charset="-122"/>
              </a:rPr>
              <a:t>几个常用的</a:t>
            </a:r>
            <a:r>
              <a:rPr lang="en-US" altLang="zh-CN" sz="2400" dirty="0">
                <a:latin typeface="华文仿宋" panose="02010600040101010101" pitchFamily="2" charset="-122"/>
                <a:ea typeface="华文仿宋" panose="02010600040101010101" pitchFamily="2" charset="-122"/>
              </a:rPr>
              <a:t>C</a:t>
            </a:r>
            <a:r>
              <a:rPr lang="zh-CN" altLang="en-US" sz="2400" dirty="0">
                <a:latin typeface="华文仿宋" panose="02010600040101010101" pitchFamily="2" charset="-122"/>
                <a:ea typeface="华文仿宋" panose="02010600040101010101" pitchFamily="2" charset="-122"/>
              </a:rPr>
              <a:t>语言输入输出函数：</a:t>
            </a:r>
            <a:endParaRPr lang="en-US" altLang="zh-CN" sz="2400" dirty="0">
              <a:latin typeface="华文仿宋" panose="02010600040101010101" pitchFamily="2" charset="-122"/>
              <a:ea typeface="华文仿宋" panose="02010600040101010101" pitchFamily="2" charset="-122"/>
            </a:endParaRPr>
          </a:p>
          <a:p>
            <a:r>
              <a:rPr lang="en-US" altLang="zh-CN" sz="2400" dirty="0">
                <a:solidFill>
                  <a:srgbClr val="984807"/>
                </a:solidFill>
                <a:latin typeface="方正粗倩简体" panose="03000509000000000000" pitchFamily="65" charset="-122"/>
                <a:ea typeface="方正粗倩简体" panose="03000509000000000000" pitchFamily="65" charset="-122"/>
              </a:rPr>
              <a:t>	</a:t>
            </a:r>
            <a:r>
              <a:rPr lang="en-US" altLang="zh-CN" sz="2400" dirty="0" err="1">
                <a:solidFill>
                  <a:srgbClr val="984807"/>
                </a:solidFill>
                <a:latin typeface="方正粗倩简体" panose="03000509000000000000" pitchFamily="65" charset="-122"/>
                <a:ea typeface="方正粗倩简体" panose="03000509000000000000" pitchFamily="65" charset="-122"/>
              </a:rPr>
              <a:t>printf</a:t>
            </a:r>
            <a:r>
              <a:rPr lang="zh-CN" altLang="en-US" sz="2400" dirty="0">
                <a:solidFill>
                  <a:srgbClr val="984807"/>
                </a:solidFill>
                <a:latin typeface="方正粗倩简体" panose="03000509000000000000" pitchFamily="65" charset="-122"/>
                <a:ea typeface="方正粗倩简体" panose="03000509000000000000" pitchFamily="65" charset="-122"/>
              </a:rPr>
              <a:t>函数</a:t>
            </a:r>
            <a:endParaRPr lang="en-US" altLang="zh-CN" sz="2400" dirty="0">
              <a:solidFill>
                <a:srgbClr val="984807"/>
              </a:solidFill>
              <a:latin typeface="方正粗倩简体" panose="03000509000000000000" pitchFamily="65" charset="-122"/>
              <a:ea typeface="方正粗倩简体" panose="03000509000000000000" pitchFamily="65" charset="-122"/>
            </a:endParaRPr>
          </a:p>
          <a:p>
            <a:r>
              <a:rPr lang="en-US" altLang="zh-CN" sz="2400" dirty="0">
                <a:solidFill>
                  <a:srgbClr val="984807"/>
                </a:solidFill>
                <a:latin typeface="方正粗倩简体" panose="03000509000000000000" pitchFamily="65" charset="-122"/>
                <a:ea typeface="方正粗倩简体" panose="03000509000000000000" pitchFamily="65" charset="-122"/>
              </a:rPr>
              <a:t>	</a:t>
            </a:r>
            <a:r>
              <a:rPr lang="en-US" altLang="zh-CN" sz="2400" dirty="0" err="1">
                <a:solidFill>
                  <a:srgbClr val="984807"/>
                </a:solidFill>
                <a:latin typeface="方正粗倩简体" panose="03000509000000000000" pitchFamily="65" charset="-122"/>
                <a:ea typeface="方正粗倩简体" panose="03000509000000000000" pitchFamily="65" charset="-122"/>
              </a:rPr>
              <a:t>scanf</a:t>
            </a:r>
            <a:r>
              <a:rPr lang="zh-CN" altLang="en-US" sz="2400" dirty="0">
                <a:solidFill>
                  <a:srgbClr val="984807"/>
                </a:solidFill>
                <a:latin typeface="方正粗倩简体" panose="03000509000000000000" pitchFamily="65" charset="-122"/>
                <a:ea typeface="方正粗倩简体" panose="03000509000000000000" pitchFamily="65" charset="-122"/>
              </a:rPr>
              <a:t>函数</a:t>
            </a:r>
          </a:p>
          <a:p>
            <a:r>
              <a:rPr lang="en-US" altLang="zh-CN" sz="2400" dirty="0">
                <a:solidFill>
                  <a:srgbClr val="984807"/>
                </a:solidFill>
                <a:latin typeface="方正粗倩简体" panose="03000509000000000000" pitchFamily="65" charset="-122"/>
                <a:ea typeface="方正粗倩简体" panose="03000509000000000000" pitchFamily="65" charset="-122"/>
              </a:rPr>
              <a:t>	</a:t>
            </a:r>
          </a:p>
        </p:txBody>
      </p:sp>
    </p:spTree>
    <p:extLst>
      <p:ext uri="{BB962C8B-B14F-4D97-AF65-F5344CB8AC3E}">
        <p14:creationId xmlns:p14="http://schemas.microsoft.com/office/powerpoint/2010/main" val="8199562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40632" y="2838515"/>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输入</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输出</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5</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格式化输出</a:t>
              </a:r>
              <a:r>
                <a:rPr lang="en-US" altLang="zh-CN" sz="2400" dirty="0" err="1">
                  <a:latin typeface="方正粗倩简体" panose="03000509000000000000" pitchFamily="65" charset="-122"/>
                  <a:ea typeface="方正粗倩简体" panose="03000509000000000000" pitchFamily="65" charset="-122"/>
                </a:rPr>
                <a:t>printf</a:t>
              </a:r>
              <a:r>
                <a:rPr lang="zh-CN" altLang="en-US" sz="2400" dirty="0">
                  <a:latin typeface="方正粗倩简体" panose="03000509000000000000" pitchFamily="65" charset="-122"/>
                  <a:ea typeface="方正粗倩简体" panose="03000509000000000000" pitchFamily="65" charset="-122"/>
                </a:rPr>
                <a:t>函数</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2771800" y="1897062"/>
            <a:ext cx="5688632" cy="369332"/>
          </a:xfrm>
          <a:prstGeom prst="rect">
            <a:avLst/>
          </a:prstGeom>
          <a:noFill/>
        </p:spPr>
        <p:txBody>
          <a:bodyPr wrap="square" rtlCol="0">
            <a:spAutoFit/>
          </a:bodyPr>
          <a:lstStyle/>
          <a:p>
            <a:r>
              <a:rPr lang="zh-CN" altLang="en-US" dirty="0">
                <a:solidFill>
                  <a:srgbClr val="984807"/>
                </a:solidFill>
                <a:latin typeface="方正粗倩简体" panose="03000509000000000000" pitchFamily="65" charset="-122"/>
                <a:ea typeface="方正粗倩简体" panose="03000509000000000000" pitchFamily="65" charset="-122"/>
              </a:rPr>
              <a:t>一般使用形式：</a:t>
            </a:r>
            <a:r>
              <a:rPr lang="en-US" altLang="zh-CN" dirty="0" err="1">
                <a:solidFill>
                  <a:srgbClr val="984807"/>
                </a:solidFill>
                <a:latin typeface="方正粗倩简体" panose="03000509000000000000" pitchFamily="65" charset="-122"/>
                <a:ea typeface="方正粗倩简体" panose="03000509000000000000" pitchFamily="65" charset="-122"/>
              </a:rPr>
              <a:t>printf</a:t>
            </a:r>
            <a:r>
              <a:rPr lang="en-US" altLang="zh-CN" dirty="0">
                <a:solidFill>
                  <a:srgbClr val="984807"/>
                </a:solidFill>
                <a:latin typeface="方正粗倩简体" panose="03000509000000000000" pitchFamily="65" charset="-122"/>
                <a:ea typeface="方正粗倩简体" panose="03000509000000000000" pitchFamily="65" charset="-122"/>
              </a:rPr>
              <a:t>(“</a:t>
            </a:r>
            <a:r>
              <a:rPr lang="zh-CN" altLang="en-US" dirty="0">
                <a:solidFill>
                  <a:srgbClr val="984807"/>
                </a:solidFill>
                <a:latin typeface="方正粗倩简体" panose="03000509000000000000" pitchFamily="65" charset="-122"/>
                <a:ea typeface="方正粗倩简体" panose="03000509000000000000" pitchFamily="65" charset="-122"/>
              </a:rPr>
              <a:t>输出格式</a:t>
            </a:r>
            <a:r>
              <a:rPr lang="en-US" altLang="zh-CN" dirty="0">
                <a:solidFill>
                  <a:srgbClr val="984807"/>
                </a:solidFill>
                <a:latin typeface="方正粗倩简体" panose="03000509000000000000" pitchFamily="65" charset="-122"/>
                <a:ea typeface="方正粗倩简体" panose="03000509000000000000" pitchFamily="65" charset="-122"/>
              </a:rPr>
              <a:t>”</a:t>
            </a:r>
            <a:r>
              <a:rPr lang="zh-CN" altLang="en-US" dirty="0">
                <a:solidFill>
                  <a:srgbClr val="984807"/>
                </a:solidFill>
                <a:latin typeface="方正粗倩简体" panose="03000509000000000000" pitchFamily="65" charset="-122"/>
                <a:ea typeface="方正粗倩简体" panose="03000509000000000000" pitchFamily="65" charset="-122"/>
              </a:rPr>
              <a:t>，输出项系列</a:t>
            </a:r>
            <a:r>
              <a:rPr lang="en-US" altLang="zh-CN" dirty="0">
                <a:solidFill>
                  <a:srgbClr val="984807"/>
                </a:solidFill>
                <a:latin typeface="方正粗倩简体" panose="03000509000000000000" pitchFamily="65" charset="-122"/>
                <a:ea typeface="方正粗倩简体" panose="03000509000000000000" pitchFamily="65" charset="-122"/>
              </a:rPr>
              <a:t>)</a:t>
            </a:r>
          </a:p>
        </p:txBody>
      </p:sp>
      <p:sp>
        <p:nvSpPr>
          <p:cNvPr id="6" name="文本框 5">
            <a:extLst>
              <a:ext uri="{FF2B5EF4-FFF2-40B4-BE49-F238E27FC236}">
                <a16:creationId xmlns:a16="http://schemas.microsoft.com/office/drawing/2014/main" id="{489A2783-748E-47DA-911F-84DC7E32FAE8}"/>
              </a:ext>
            </a:extLst>
          </p:cNvPr>
          <p:cNvSpPr txBox="1"/>
          <p:nvPr/>
        </p:nvSpPr>
        <p:spPr>
          <a:xfrm>
            <a:off x="2721581" y="2654625"/>
            <a:ext cx="2520280" cy="1569660"/>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常用输出格式转换说明符：</a:t>
            </a:r>
            <a:endParaRPr lang="en-US" altLang="zh-CN" sz="1600" dirty="0">
              <a:latin typeface="微软雅黑" panose="020B0503020204020204" pitchFamily="34" charset="-122"/>
              <a:ea typeface="微软雅黑" panose="020B0503020204020204" pitchFamily="34" charset="-122"/>
            </a:endParaRPr>
          </a:p>
          <a:p>
            <a:r>
              <a:rPr lang="en-US" altLang="zh-CN" sz="1600" dirty="0">
                <a:solidFill>
                  <a:srgbClr val="0070C0"/>
                </a:solidFill>
                <a:latin typeface="微软雅黑" panose="020B0503020204020204" pitchFamily="34" charset="-122"/>
                <a:ea typeface="微软雅黑" panose="020B0503020204020204" pitchFamily="34" charset="-122"/>
              </a:rPr>
              <a:t>%d</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十进制整数</a:t>
            </a:r>
            <a:endParaRPr lang="en-US" altLang="zh-CN" sz="1600" dirty="0">
              <a:latin typeface="微软雅黑" panose="020B0503020204020204" pitchFamily="34" charset="-122"/>
              <a:ea typeface="微软雅黑" panose="020B0503020204020204" pitchFamily="34" charset="-122"/>
            </a:endParaRPr>
          </a:p>
          <a:p>
            <a:r>
              <a:rPr lang="en-US" altLang="zh-CN" sz="1600" dirty="0">
                <a:solidFill>
                  <a:srgbClr val="0070C0"/>
                </a:solidFill>
                <a:latin typeface="微软雅黑" panose="020B0503020204020204" pitchFamily="34" charset="-122"/>
                <a:ea typeface="微软雅黑" panose="020B0503020204020204" pitchFamily="34" charset="-122"/>
              </a:rPr>
              <a:t>%f,%</a:t>
            </a:r>
            <a:r>
              <a:rPr lang="en-US" altLang="zh-CN" sz="1600" dirty="0" err="1">
                <a:solidFill>
                  <a:srgbClr val="0070C0"/>
                </a:solidFill>
                <a:latin typeface="微软雅黑" panose="020B0503020204020204" pitchFamily="34" charset="-122"/>
                <a:ea typeface="微软雅黑" panose="020B0503020204020204" pitchFamily="34" charset="-122"/>
              </a:rPr>
              <a:t>lf</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浮点小数   </a:t>
            </a:r>
            <a:endParaRPr lang="en-US" altLang="zh-CN" sz="1600" dirty="0">
              <a:latin typeface="微软雅黑" panose="020B0503020204020204" pitchFamily="34" charset="-122"/>
              <a:ea typeface="微软雅黑" panose="020B0503020204020204" pitchFamily="34" charset="-122"/>
            </a:endParaRPr>
          </a:p>
          <a:p>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float,double</a:t>
            </a:r>
            <a:r>
              <a:rPr lang="en-US" altLang="zh-CN" sz="1600" dirty="0">
                <a:latin typeface="微软雅黑" panose="020B0503020204020204" pitchFamily="34" charset="-122"/>
                <a:ea typeface="微软雅黑" panose="020B0503020204020204" pitchFamily="34" charset="-122"/>
              </a:rPr>
              <a:t>)</a:t>
            </a:r>
          </a:p>
          <a:p>
            <a:r>
              <a:rPr lang="en-US" altLang="zh-CN" sz="1600" dirty="0">
                <a:solidFill>
                  <a:srgbClr val="0070C0"/>
                </a:solidFill>
                <a:latin typeface="微软雅黑" panose="020B0503020204020204" pitchFamily="34" charset="-122"/>
                <a:ea typeface="微软雅黑" panose="020B0503020204020204" pitchFamily="34" charset="-122"/>
              </a:rPr>
              <a:t>%c</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单一字符</a:t>
            </a:r>
            <a:endParaRPr lang="en-US" altLang="zh-CN" sz="1600" dirty="0">
              <a:latin typeface="微软雅黑" panose="020B0503020204020204" pitchFamily="34" charset="-122"/>
              <a:ea typeface="微软雅黑" panose="020B0503020204020204" pitchFamily="34" charset="-122"/>
            </a:endParaRPr>
          </a:p>
          <a:p>
            <a:r>
              <a:rPr lang="en-US" altLang="zh-CN" sz="1600" dirty="0">
                <a:solidFill>
                  <a:srgbClr val="0070C0"/>
                </a:solidFill>
                <a:latin typeface="微软雅黑" panose="020B0503020204020204" pitchFamily="34" charset="-122"/>
                <a:ea typeface="微软雅黑" panose="020B0503020204020204" pitchFamily="34" charset="-122"/>
              </a:rPr>
              <a:t>%s</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字符串</a:t>
            </a:r>
          </a:p>
        </p:txBody>
      </p:sp>
      <p:sp>
        <p:nvSpPr>
          <p:cNvPr id="14" name="文本框 13">
            <a:extLst>
              <a:ext uri="{FF2B5EF4-FFF2-40B4-BE49-F238E27FC236}">
                <a16:creationId xmlns:a16="http://schemas.microsoft.com/office/drawing/2014/main" id="{E15D4450-23A0-4DB3-89D3-3C8D76B36DC5}"/>
              </a:ext>
            </a:extLst>
          </p:cNvPr>
          <p:cNvSpPr txBox="1"/>
          <p:nvPr/>
        </p:nvSpPr>
        <p:spPr>
          <a:xfrm>
            <a:off x="5241861" y="2654625"/>
            <a:ext cx="3722627" cy="1569660"/>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如：</a:t>
            </a:r>
            <a:r>
              <a:rPr lang="en-US" altLang="zh-CN" sz="1600" dirty="0" err="1">
                <a:solidFill>
                  <a:srgbClr val="0070C0"/>
                </a:solidFill>
                <a:latin typeface="微软雅黑" panose="020B0503020204020204" pitchFamily="34" charset="-122"/>
                <a:ea typeface="微软雅黑" panose="020B0503020204020204" pitchFamily="34" charset="-122"/>
              </a:rPr>
              <a:t>printf</a:t>
            </a:r>
            <a:r>
              <a:rPr lang="en-US" altLang="zh-CN" sz="1600" dirty="0">
                <a:solidFill>
                  <a:srgbClr val="0070C0"/>
                </a:solidFill>
                <a:latin typeface="微软雅黑" panose="020B0503020204020204" pitchFamily="34" charset="-122"/>
                <a:ea typeface="微软雅黑" panose="020B0503020204020204" pitchFamily="34" charset="-122"/>
              </a:rPr>
              <a:t>(“v=%f\</a:t>
            </a:r>
            <a:r>
              <a:rPr lang="en-US" altLang="zh-CN" sz="1600" dirty="0" err="1">
                <a:solidFill>
                  <a:srgbClr val="0070C0"/>
                </a:solidFill>
                <a:latin typeface="微软雅黑" panose="020B0503020204020204" pitchFamily="34" charset="-122"/>
                <a:ea typeface="微软雅黑" panose="020B0503020204020204" pitchFamily="34" charset="-122"/>
              </a:rPr>
              <a:t>n”,v</a:t>
            </a:r>
            <a:r>
              <a:rPr lang="en-US" altLang="zh-CN" sz="1600" dirty="0">
                <a:solidFill>
                  <a:srgbClr val="0070C0"/>
                </a:solidFill>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把输出项</a:t>
            </a:r>
            <a:r>
              <a:rPr lang="en-US" altLang="zh-CN" sz="1600" dirty="0">
                <a:latin typeface="微软雅黑" panose="020B0503020204020204" pitchFamily="34" charset="-122"/>
                <a:ea typeface="微软雅黑" panose="020B0503020204020204" pitchFamily="34" charset="-122"/>
              </a:rPr>
              <a:t>v</a:t>
            </a:r>
            <a:r>
              <a:rPr lang="zh-CN" altLang="en-US" sz="1600" dirty="0">
                <a:latin typeface="微软雅黑" panose="020B0503020204020204" pitchFamily="34" charset="-122"/>
                <a:ea typeface="微软雅黑" panose="020B0503020204020204" pitchFamily="34" charset="-122"/>
              </a:rPr>
              <a:t>的值按</a:t>
            </a:r>
            <a:r>
              <a:rPr lang="en-US" altLang="zh-CN" sz="1600" dirty="0">
                <a:latin typeface="微软雅黑" panose="020B0503020204020204" pitchFamily="34" charset="-122"/>
                <a:ea typeface="微软雅黑" panose="020B0503020204020204" pitchFamily="34" charset="-122"/>
              </a:rPr>
              <a:t>%f</a:t>
            </a:r>
            <a:r>
              <a:rPr lang="zh-CN" altLang="en-US" sz="1600" dirty="0">
                <a:latin typeface="微软雅黑" panose="020B0503020204020204" pitchFamily="34" charset="-122"/>
                <a:ea typeface="微软雅黑" panose="020B0503020204020204" pitchFamily="34" charset="-122"/>
              </a:rPr>
              <a:t>规定的浮点小数形式输出。</a:t>
            </a:r>
            <a:endParaRPr lang="en-US" altLang="zh-CN" sz="1600" dirty="0">
              <a:latin typeface="微软雅黑" panose="020B0503020204020204" pitchFamily="34" charset="-122"/>
              <a:ea typeface="微软雅黑" panose="020B0503020204020204" pitchFamily="34" charset="-122"/>
            </a:endParaRPr>
          </a:p>
          <a:p>
            <a:r>
              <a:rPr lang="zh-CN" altLang="en-US" sz="1600" dirty="0">
                <a:latin typeface="微软雅黑" panose="020B0503020204020204" pitchFamily="34" charset="-122"/>
                <a:ea typeface="微软雅黑" panose="020B0503020204020204" pitchFamily="34" charset="-122"/>
              </a:rPr>
              <a:t>如：</a:t>
            </a:r>
            <a:r>
              <a:rPr lang="en-US" altLang="zh-CN" sz="1600" dirty="0" err="1">
                <a:solidFill>
                  <a:srgbClr val="0070C0"/>
                </a:solidFill>
                <a:latin typeface="微软雅黑" panose="020B0503020204020204" pitchFamily="34" charset="-122"/>
                <a:ea typeface="微软雅黑" panose="020B0503020204020204" pitchFamily="34" charset="-122"/>
              </a:rPr>
              <a:t>printf</a:t>
            </a:r>
            <a:r>
              <a:rPr lang="en-US" altLang="zh-CN" sz="1600" dirty="0">
                <a:solidFill>
                  <a:srgbClr val="0070C0"/>
                </a:solidFill>
                <a:latin typeface="微软雅黑" panose="020B0503020204020204" pitchFamily="34" charset="-122"/>
                <a:ea typeface="微软雅黑" panose="020B0503020204020204" pitchFamily="34" charset="-122"/>
              </a:rPr>
              <a:t>(“h=%d\</a:t>
            </a:r>
            <a:r>
              <a:rPr lang="en-US" altLang="zh-CN" sz="1600" dirty="0" err="1">
                <a:solidFill>
                  <a:srgbClr val="0070C0"/>
                </a:solidFill>
                <a:latin typeface="微软雅黑" panose="020B0503020204020204" pitchFamily="34" charset="-122"/>
                <a:ea typeface="微软雅黑" panose="020B0503020204020204" pitchFamily="34" charset="-122"/>
              </a:rPr>
              <a:t>n”,h</a:t>
            </a:r>
            <a:r>
              <a:rPr lang="en-US" altLang="zh-CN" sz="1600" dirty="0">
                <a:solidFill>
                  <a:srgbClr val="0070C0"/>
                </a:solidFill>
                <a:latin typeface="微软雅黑" panose="020B0503020204020204" pitchFamily="34" charset="-122"/>
                <a:ea typeface="微软雅黑" panose="020B0503020204020204" pitchFamily="34" charset="-122"/>
              </a:rPr>
              <a:t>);</a:t>
            </a:r>
          </a:p>
          <a:p>
            <a:r>
              <a:rPr lang="zh-CN" altLang="en-US" sz="1600" dirty="0">
                <a:latin typeface="微软雅黑" panose="020B0503020204020204" pitchFamily="34" charset="-122"/>
                <a:ea typeface="微软雅黑" panose="020B0503020204020204" pitchFamily="34" charset="-122"/>
              </a:rPr>
              <a:t>  把输出项</a:t>
            </a:r>
            <a:r>
              <a:rPr lang="en-US" altLang="zh-CN" sz="1600" dirty="0">
                <a:latin typeface="微软雅黑" panose="020B0503020204020204" pitchFamily="34" charset="-122"/>
                <a:ea typeface="微软雅黑" panose="020B0503020204020204" pitchFamily="34" charset="-122"/>
              </a:rPr>
              <a:t>h</a:t>
            </a:r>
            <a:r>
              <a:rPr lang="zh-CN" altLang="en-US" sz="1600" dirty="0">
                <a:latin typeface="微软雅黑" panose="020B0503020204020204" pitchFamily="34" charset="-122"/>
                <a:ea typeface="微软雅黑" panose="020B0503020204020204" pitchFamily="34" charset="-122"/>
              </a:rPr>
              <a:t>按照</a:t>
            </a:r>
            <a:r>
              <a:rPr lang="en-US" altLang="zh-CN" sz="1600" dirty="0">
                <a:latin typeface="微软雅黑" panose="020B0503020204020204" pitchFamily="34" charset="-122"/>
                <a:ea typeface="微软雅黑" panose="020B0503020204020204" pitchFamily="34" charset="-122"/>
              </a:rPr>
              <a:t>%d</a:t>
            </a:r>
            <a:r>
              <a:rPr lang="zh-CN" altLang="en-US" sz="1600" dirty="0">
                <a:latin typeface="微软雅黑" panose="020B0503020204020204" pitchFamily="34" charset="-122"/>
                <a:ea typeface="微软雅黑" panose="020B0503020204020204" pitchFamily="34" charset="-122"/>
              </a:rPr>
              <a:t>规定的十进制整数形式输出</a:t>
            </a:r>
          </a:p>
        </p:txBody>
      </p:sp>
      <p:sp>
        <p:nvSpPr>
          <p:cNvPr id="7" name="文本框 6">
            <a:extLst>
              <a:ext uri="{FF2B5EF4-FFF2-40B4-BE49-F238E27FC236}">
                <a16:creationId xmlns:a16="http://schemas.microsoft.com/office/drawing/2014/main" id="{1D80DC99-A71D-4D16-9DAD-49A0E057E3E1}"/>
              </a:ext>
            </a:extLst>
          </p:cNvPr>
          <p:cNvSpPr txBox="1"/>
          <p:nvPr/>
        </p:nvSpPr>
        <p:spPr>
          <a:xfrm>
            <a:off x="2915816" y="4299942"/>
            <a:ext cx="5688632" cy="369332"/>
          </a:xfrm>
          <a:prstGeom prst="rect">
            <a:avLst/>
          </a:prstGeom>
          <a:noFill/>
        </p:spPr>
        <p:txBody>
          <a:bodyPr wrap="square" rtlCol="0">
            <a:spAutoFit/>
          </a:bodyPr>
          <a:lstStyle/>
          <a:p>
            <a:r>
              <a:rPr lang="zh-CN" altLang="en-US" b="1" dirty="0">
                <a:solidFill>
                  <a:srgbClr val="984807"/>
                </a:solidFill>
              </a:rPr>
              <a:t>要求输出格式与输出项的个数必须相同，且一一对应。</a:t>
            </a:r>
          </a:p>
        </p:txBody>
      </p:sp>
    </p:spTree>
    <p:extLst>
      <p:ext uri="{BB962C8B-B14F-4D97-AF65-F5344CB8AC3E}">
        <p14:creationId xmlns:p14="http://schemas.microsoft.com/office/powerpoint/2010/main" val="15820451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40632" y="2838515"/>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输入</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输出</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5</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en-US" altLang="zh-CN" sz="2400" dirty="0" err="1">
                  <a:latin typeface="方正粗倩简体" panose="03000509000000000000" pitchFamily="65" charset="-122"/>
                  <a:ea typeface="方正粗倩简体" panose="03000509000000000000" pitchFamily="65" charset="-122"/>
                </a:rPr>
                <a:t>printf</a:t>
              </a:r>
              <a:r>
                <a:rPr lang="zh-CN" altLang="en-US" sz="2400" dirty="0">
                  <a:latin typeface="方正粗倩简体" panose="03000509000000000000" pitchFamily="65" charset="-122"/>
                  <a:ea typeface="方正粗倩简体" panose="03000509000000000000" pitchFamily="65" charset="-122"/>
                </a:rPr>
                <a:t>函数</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1475656" y="1674250"/>
            <a:ext cx="7200800" cy="523220"/>
          </a:xfrm>
          <a:prstGeom prst="rect">
            <a:avLst/>
          </a:prstGeom>
          <a:noFill/>
        </p:spPr>
        <p:txBody>
          <a:bodyPr wrap="square" rtlCol="0">
            <a:spAutoFit/>
          </a:bodyPr>
          <a:lstStyle/>
          <a:p>
            <a:r>
              <a:rPr lang="en-US" altLang="zh-CN" sz="1400" dirty="0">
                <a:solidFill>
                  <a:srgbClr val="984807"/>
                </a:solidFill>
                <a:latin typeface="方正粗倩简体" panose="03000509000000000000" pitchFamily="65" charset="-122"/>
                <a:ea typeface="方正粗倩简体" panose="03000509000000000000" pitchFamily="65" charset="-122"/>
              </a:rPr>
              <a:t>1.</a:t>
            </a:r>
            <a:r>
              <a:rPr lang="zh-CN" altLang="en-US" sz="1400" dirty="0">
                <a:solidFill>
                  <a:srgbClr val="984807"/>
                </a:solidFill>
                <a:latin typeface="方正粗倩简体" panose="03000509000000000000" pitchFamily="65" charset="-122"/>
                <a:ea typeface="方正粗倩简体" panose="03000509000000000000" pitchFamily="65" charset="-122"/>
              </a:rPr>
              <a:t>输出格式中除转换说明符以外的其他字符都原封不动地输出到标准输出设备</a:t>
            </a:r>
            <a:endParaRPr lang="en-US" altLang="zh-CN" sz="1400" dirty="0">
              <a:solidFill>
                <a:srgbClr val="984807"/>
              </a:solidFill>
              <a:latin typeface="方正粗倩简体" panose="03000509000000000000" pitchFamily="65" charset="-122"/>
              <a:ea typeface="方正粗倩简体" panose="03000509000000000000" pitchFamily="65" charset="-122"/>
            </a:endParaRPr>
          </a:p>
          <a:p>
            <a:r>
              <a:rPr lang="en-US" altLang="zh-CN" sz="1400" dirty="0">
                <a:solidFill>
                  <a:srgbClr val="984807"/>
                </a:solidFill>
                <a:latin typeface="方正粗倩简体" panose="03000509000000000000" pitchFamily="65" charset="-122"/>
                <a:ea typeface="方正粗倩简体" panose="03000509000000000000" pitchFamily="65" charset="-122"/>
              </a:rPr>
              <a:t>2.</a:t>
            </a:r>
            <a:r>
              <a:rPr lang="zh-CN" altLang="en-US" sz="1400" dirty="0">
                <a:solidFill>
                  <a:srgbClr val="984807"/>
                </a:solidFill>
                <a:latin typeface="方正粗倩简体" panose="03000509000000000000" pitchFamily="65" charset="-122"/>
                <a:ea typeface="方正粗倩简体" panose="03000509000000000000" pitchFamily="65" charset="-122"/>
              </a:rPr>
              <a:t>其中以‘</a:t>
            </a:r>
            <a:r>
              <a:rPr lang="en-US" altLang="zh-CN" sz="1400" dirty="0">
                <a:solidFill>
                  <a:srgbClr val="984807"/>
                </a:solidFill>
                <a:latin typeface="方正粗倩简体" panose="03000509000000000000" pitchFamily="65" charset="-122"/>
                <a:ea typeface="方正粗倩简体" panose="03000509000000000000" pitchFamily="65" charset="-122"/>
              </a:rPr>
              <a:t>\</a:t>
            </a:r>
            <a:r>
              <a:rPr lang="zh-CN" altLang="en-US" sz="1400" dirty="0">
                <a:solidFill>
                  <a:srgbClr val="984807"/>
                </a:solidFill>
                <a:latin typeface="方正粗倩简体" panose="03000509000000000000" pitchFamily="65" charset="-122"/>
                <a:ea typeface="方正粗倩简体" panose="03000509000000000000" pitchFamily="65" charset="-122"/>
              </a:rPr>
              <a:t>’打头后跟一个字母或数字的部分称为转义字符</a:t>
            </a:r>
            <a:endParaRPr lang="en-US" altLang="zh-CN" sz="1400" dirty="0">
              <a:solidFill>
                <a:srgbClr val="984807"/>
              </a:solidFill>
              <a:latin typeface="方正粗倩简体" panose="03000509000000000000" pitchFamily="65" charset="-122"/>
              <a:ea typeface="方正粗倩简体" panose="03000509000000000000" pitchFamily="65" charset="-122"/>
            </a:endParaRPr>
          </a:p>
        </p:txBody>
      </p:sp>
      <p:graphicFrame>
        <p:nvGraphicFramePr>
          <p:cNvPr id="8" name="表格 7">
            <a:extLst>
              <a:ext uri="{FF2B5EF4-FFF2-40B4-BE49-F238E27FC236}">
                <a16:creationId xmlns:a16="http://schemas.microsoft.com/office/drawing/2014/main" id="{04CCAC30-372A-4D3E-8770-392BAF0B3434}"/>
              </a:ext>
            </a:extLst>
          </p:cNvPr>
          <p:cNvGraphicFramePr>
            <a:graphicFrameLocks noGrp="1"/>
          </p:cNvGraphicFramePr>
          <p:nvPr>
            <p:extLst>
              <p:ext uri="{D42A27DB-BD31-4B8C-83A1-F6EECF244321}">
                <p14:modId xmlns:p14="http://schemas.microsoft.com/office/powerpoint/2010/main" val="1518207775"/>
              </p:ext>
            </p:extLst>
          </p:nvPr>
        </p:nvGraphicFramePr>
        <p:xfrm>
          <a:off x="2699792" y="2386030"/>
          <a:ext cx="6408712" cy="1151176"/>
        </p:xfrm>
        <a:graphic>
          <a:graphicData uri="http://schemas.openxmlformats.org/drawingml/2006/table">
            <a:tbl>
              <a:tblPr firstRow="1" bandRow="1">
                <a:tableStyleId>{5C22544A-7EE6-4342-B048-85BDC9FD1C3A}</a:tableStyleId>
              </a:tblPr>
              <a:tblGrid>
                <a:gridCol w="887371">
                  <a:extLst>
                    <a:ext uri="{9D8B030D-6E8A-4147-A177-3AD203B41FA5}">
                      <a16:colId xmlns:a16="http://schemas.microsoft.com/office/drawing/2014/main" val="1981662530"/>
                    </a:ext>
                  </a:extLst>
                </a:gridCol>
                <a:gridCol w="873843">
                  <a:extLst>
                    <a:ext uri="{9D8B030D-6E8A-4147-A177-3AD203B41FA5}">
                      <a16:colId xmlns:a16="http://schemas.microsoft.com/office/drawing/2014/main" val="3268607353"/>
                    </a:ext>
                  </a:extLst>
                </a:gridCol>
                <a:gridCol w="873843">
                  <a:extLst>
                    <a:ext uri="{9D8B030D-6E8A-4147-A177-3AD203B41FA5}">
                      <a16:colId xmlns:a16="http://schemas.microsoft.com/office/drawing/2014/main" val="837138874"/>
                    </a:ext>
                  </a:extLst>
                </a:gridCol>
                <a:gridCol w="873843">
                  <a:extLst>
                    <a:ext uri="{9D8B030D-6E8A-4147-A177-3AD203B41FA5}">
                      <a16:colId xmlns:a16="http://schemas.microsoft.com/office/drawing/2014/main" val="4218077113"/>
                    </a:ext>
                  </a:extLst>
                </a:gridCol>
                <a:gridCol w="2899812">
                  <a:extLst>
                    <a:ext uri="{9D8B030D-6E8A-4147-A177-3AD203B41FA5}">
                      <a16:colId xmlns:a16="http://schemas.microsoft.com/office/drawing/2014/main" val="2804524518"/>
                    </a:ext>
                  </a:extLst>
                </a:gridCol>
              </a:tblGrid>
              <a:tr h="287794">
                <a:tc>
                  <a:txBody>
                    <a:bodyPr/>
                    <a:lstStyle/>
                    <a:p>
                      <a:r>
                        <a:rPr lang="zh-CN" altLang="en-US" sz="1200" dirty="0"/>
                        <a:t>字符类型</a:t>
                      </a:r>
                    </a:p>
                  </a:txBody>
                  <a:tcPr/>
                </a:tc>
                <a:tc>
                  <a:txBody>
                    <a:bodyPr/>
                    <a:lstStyle/>
                    <a:p>
                      <a:r>
                        <a:rPr lang="zh-CN" altLang="en-US" sz="1200" dirty="0"/>
                        <a:t>字符表示</a:t>
                      </a:r>
                    </a:p>
                  </a:txBody>
                  <a:tcPr/>
                </a:tc>
                <a:tc>
                  <a:txBody>
                    <a:bodyPr/>
                    <a:lstStyle/>
                    <a:p>
                      <a:r>
                        <a:rPr lang="zh-CN" altLang="en-US" sz="1200" dirty="0"/>
                        <a:t>字符含义</a:t>
                      </a:r>
                    </a:p>
                  </a:txBody>
                  <a:tcPr/>
                </a:tc>
                <a:tc>
                  <a:txBody>
                    <a:bodyPr/>
                    <a:lstStyle/>
                    <a:p>
                      <a:r>
                        <a:rPr lang="en-US" altLang="zh-CN" sz="1200" dirty="0"/>
                        <a:t>ASCII</a:t>
                      </a:r>
                      <a:r>
                        <a:rPr lang="zh-CN" altLang="en-US" sz="1200" dirty="0"/>
                        <a:t>码值</a:t>
                      </a:r>
                    </a:p>
                  </a:txBody>
                  <a:tcPr/>
                </a:tc>
                <a:tc>
                  <a:txBody>
                    <a:bodyPr/>
                    <a:lstStyle/>
                    <a:p>
                      <a:r>
                        <a:rPr lang="zh-CN" altLang="en-US" sz="1200" dirty="0"/>
                        <a:t>作用</a:t>
                      </a:r>
                    </a:p>
                  </a:txBody>
                  <a:tcPr/>
                </a:tc>
                <a:extLst>
                  <a:ext uri="{0D108BD9-81ED-4DB2-BD59-A6C34878D82A}">
                    <a16:rowId xmlns:a16="http://schemas.microsoft.com/office/drawing/2014/main" val="350160873"/>
                  </a:ext>
                </a:extLst>
              </a:tr>
              <a:tr h="287794">
                <a:tc rowSpan="3">
                  <a:txBody>
                    <a:bodyPr/>
                    <a:lstStyle/>
                    <a:p>
                      <a:endParaRPr lang="en-US" altLang="zh-CN" sz="1200" dirty="0"/>
                    </a:p>
                    <a:p>
                      <a:r>
                        <a:rPr lang="zh-CN" altLang="en-US" sz="1200" dirty="0"/>
                        <a:t>部分转义字符</a:t>
                      </a:r>
                    </a:p>
                  </a:txBody>
                  <a:tcPr/>
                </a:tc>
                <a:tc>
                  <a:txBody>
                    <a:bodyPr/>
                    <a:lstStyle/>
                    <a:p>
                      <a:r>
                        <a:rPr lang="en-US" altLang="zh-CN" sz="1200" dirty="0"/>
                        <a:t>‘\n’</a:t>
                      </a:r>
                      <a:endParaRPr lang="zh-CN" altLang="en-US" sz="1200" dirty="0"/>
                    </a:p>
                  </a:txBody>
                  <a:tcPr/>
                </a:tc>
                <a:tc>
                  <a:txBody>
                    <a:bodyPr/>
                    <a:lstStyle/>
                    <a:p>
                      <a:r>
                        <a:rPr lang="zh-CN" altLang="en-US" sz="1200" dirty="0"/>
                        <a:t>回车换行</a:t>
                      </a:r>
                      <a:endParaRPr lang="en-US" altLang="zh-CN" sz="1200" dirty="0"/>
                    </a:p>
                  </a:txBody>
                  <a:tcPr/>
                </a:tc>
                <a:tc>
                  <a:txBody>
                    <a:bodyPr/>
                    <a:lstStyle/>
                    <a:p>
                      <a:r>
                        <a:rPr lang="en-US" altLang="zh-CN" sz="1200" dirty="0"/>
                        <a:t>10</a:t>
                      </a:r>
                      <a:endParaRPr lang="zh-CN" altLang="en-US" sz="1200" dirty="0"/>
                    </a:p>
                  </a:txBody>
                  <a:tcPr/>
                </a:tc>
                <a:tc>
                  <a:txBody>
                    <a:bodyPr/>
                    <a:lstStyle/>
                    <a:p>
                      <a:r>
                        <a:rPr lang="zh-CN" altLang="en-US" sz="1200" dirty="0"/>
                        <a:t>相当于在键盘上按 </a:t>
                      </a:r>
                      <a:r>
                        <a:rPr lang="en-US" altLang="zh-CN" sz="1200" dirty="0"/>
                        <a:t>“Enter”</a:t>
                      </a:r>
                      <a:r>
                        <a:rPr lang="zh-CN" altLang="en-US" sz="1200" dirty="0"/>
                        <a:t>键</a:t>
                      </a:r>
                    </a:p>
                  </a:txBody>
                  <a:tcPr/>
                </a:tc>
                <a:extLst>
                  <a:ext uri="{0D108BD9-81ED-4DB2-BD59-A6C34878D82A}">
                    <a16:rowId xmlns:a16="http://schemas.microsoft.com/office/drawing/2014/main" val="865569083"/>
                  </a:ext>
                </a:extLst>
              </a:tr>
              <a:tr h="287794">
                <a:tc vMerge="1">
                  <a:txBody>
                    <a:bodyPr/>
                    <a:lstStyle/>
                    <a:p>
                      <a:endParaRPr lang="zh-CN" altLang="en-US" sz="1200"/>
                    </a:p>
                  </a:txBody>
                  <a:tcPr/>
                </a:tc>
                <a:tc>
                  <a:txBody>
                    <a:bodyPr/>
                    <a:lstStyle/>
                    <a:p>
                      <a:r>
                        <a:rPr lang="en-US" altLang="zh-CN" sz="1200" dirty="0"/>
                        <a:t>‘\t’</a:t>
                      </a:r>
                      <a:endParaRPr lang="zh-CN" altLang="en-US" sz="1200" dirty="0"/>
                    </a:p>
                  </a:txBody>
                  <a:tcPr/>
                </a:tc>
                <a:tc>
                  <a:txBody>
                    <a:bodyPr/>
                    <a:lstStyle/>
                    <a:p>
                      <a:r>
                        <a:rPr lang="zh-CN" altLang="en-US" sz="1200" dirty="0"/>
                        <a:t>制表符</a:t>
                      </a:r>
                    </a:p>
                  </a:txBody>
                  <a:tcPr/>
                </a:tc>
                <a:tc>
                  <a:txBody>
                    <a:bodyPr/>
                    <a:lstStyle/>
                    <a:p>
                      <a:r>
                        <a:rPr lang="en-US" altLang="zh-CN" sz="1200" dirty="0"/>
                        <a:t>9</a:t>
                      </a:r>
                      <a:endParaRPr lang="zh-CN" altLang="en-US" sz="1200" dirty="0"/>
                    </a:p>
                  </a:txBody>
                  <a:tcPr/>
                </a:tc>
                <a:tc>
                  <a:txBody>
                    <a:bodyPr/>
                    <a:lstStyle/>
                    <a:p>
                      <a:r>
                        <a:rPr lang="zh-CN" altLang="en-US" sz="1200" dirty="0"/>
                        <a:t>相当于在键盘上按</a:t>
                      </a:r>
                      <a:r>
                        <a:rPr lang="en-US" altLang="zh-CN" sz="1200" dirty="0"/>
                        <a:t>”Tab”</a:t>
                      </a:r>
                      <a:r>
                        <a:rPr lang="zh-CN" altLang="en-US" sz="1200" dirty="0"/>
                        <a:t>键盘</a:t>
                      </a:r>
                    </a:p>
                  </a:txBody>
                  <a:tcPr/>
                </a:tc>
                <a:extLst>
                  <a:ext uri="{0D108BD9-81ED-4DB2-BD59-A6C34878D82A}">
                    <a16:rowId xmlns:a16="http://schemas.microsoft.com/office/drawing/2014/main" val="2542252900"/>
                  </a:ext>
                </a:extLst>
              </a:tr>
              <a:tr h="287794">
                <a:tc vMerge="1">
                  <a:txBody>
                    <a:bodyPr/>
                    <a:lstStyle/>
                    <a:p>
                      <a:endParaRPr lang="zh-CN" altLang="en-US" sz="1200"/>
                    </a:p>
                  </a:txBody>
                  <a:tcPr/>
                </a:tc>
                <a:tc>
                  <a:txBody>
                    <a:bodyPr/>
                    <a:lstStyle/>
                    <a:p>
                      <a:r>
                        <a:rPr lang="en-US" altLang="zh-CN" sz="1200" dirty="0"/>
                        <a:t>‘\0’</a:t>
                      </a:r>
                      <a:endParaRPr lang="zh-CN" altLang="en-US" sz="1200" dirty="0"/>
                    </a:p>
                  </a:txBody>
                  <a:tcPr/>
                </a:tc>
                <a:tc>
                  <a:txBody>
                    <a:bodyPr/>
                    <a:lstStyle/>
                    <a:p>
                      <a:r>
                        <a:rPr lang="zh-CN" altLang="en-US" sz="1200" dirty="0"/>
                        <a:t>空字符</a:t>
                      </a:r>
                    </a:p>
                  </a:txBody>
                  <a:tcPr/>
                </a:tc>
                <a:tc>
                  <a:txBody>
                    <a:bodyPr/>
                    <a:lstStyle/>
                    <a:p>
                      <a:r>
                        <a:rPr lang="en-US" altLang="zh-CN" sz="1200" dirty="0"/>
                        <a:t>0</a:t>
                      </a:r>
                      <a:endParaRPr lang="zh-CN" altLang="en-US" sz="1200" dirty="0"/>
                    </a:p>
                  </a:txBody>
                  <a:tcPr/>
                </a:tc>
                <a:tc>
                  <a:txBody>
                    <a:bodyPr/>
                    <a:lstStyle/>
                    <a:p>
                      <a:r>
                        <a:rPr lang="zh-CN" altLang="en-US" sz="1200" dirty="0"/>
                        <a:t>字符串的结束标志</a:t>
                      </a:r>
                    </a:p>
                  </a:txBody>
                  <a:tcPr/>
                </a:tc>
                <a:extLst>
                  <a:ext uri="{0D108BD9-81ED-4DB2-BD59-A6C34878D82A}">
                    <a16:rowId xmlns:a16="http://schemas.microsoft.com/office/drawing/2014/main" val="3353637932"/>
                  </a:ext>
                </a:extLst>
              </a:tr>
            </a:tbl>
          </a:graphicData>
        </a:graphic>
      </p:graphicFrame>
      <p:sp>
        <p:nvSpPr>
          <p:cNvPr id="6" name="文本框 5">
            <a:extLst>
              <a:ext uri="{FF2B5EF4-FFF2-40B4-BE49-F238E27FC236}">
                <a16:creationId xmlns:a16="http://schemas.microsoft.com/office/drawing/2014/main" id="{0916551E-60A0-6125-4184-68358688D61F}"/>
              </a:ext>
            </a:extLst>
          </p:cNvPr>
          <p:cNvSpPr txBox="1"/>
          <p:nvPr/>
        </p:nvSpPr>
        <p:spPr>
          <a:xfrm>
            <a:off x="2771800" y="3759673"/>
            <a:ext cx="5976664" cy="1138773"/>
          </a:xfrm>
          <a:prstGeom prst="rect">
            <a:avLst/>
          </a:prstGeom>
          <a:noFill/>
        </p:spPr>
        <p:txBody>
          <a:bodyPr wrap="square" rtlCol="0">
            <a:spAutoFit/>
          </a:bodyPr>
          <a:lstStyle/>
          <a:p>
            <a:r>
              <a:rPr lang="zh-CN" altLang="en-US" sz="1400" dirty="0">
                <a:solidFill>
                  <a:srgbClr val="984807"/>
                </a:solidFill>
                <a:latin typeface="方正粗倩简体" panose="03000509000000000000" pitchFamily="65" charset="-122"/>
                <a:ea typeface="方正粗倩简体" panose="03000509000000000000" pitchFamily="65" charset="-122"/>
              </a:rPr>
              <a:t>请注意区分程序代码中的</a:t>
            </a:r>
            <a:endParaRPr lang="en-US" altLang="zh-CN" sz="1400" dirty="0">
              <a:solidFill>
                <a:srgbClr val="984807"/>
              </a:solidFill>
              <a:latin typeface="方正粗倩简体" panose="03000509000000000000" pitchFamily="65" charset="-122"/>
              <a:ea typeface="方正粗倩简体" panose="03000509000000000000" pitchFamily="65" charset="-122"/>
            </a:endParaRPr>
          </a:p>
          <a:p>
            <a:r>
              <a:rPr lang="en-US" altLang="zh-CN" dirty="0"/>
              <a:t>a:</a:t>
            </a:r>
            <a:r>
              <a:rPr lang="zh-CN" altLang="en-US" dirty="0"/>
              <a:t>编译器认为是一个标识符</a:t>
            </a:r>
            <a:endParaRPr lang="en-US" altLang="zh-CN" dirty="0"/>
          </a:p>
          <a:p>
            <a:r>
              <a:rPr lang="en-US" altLang="zh-CN" dirty="0"/>
              <a:t>’a’</a:t>
            </a:r>
            <a:r>
              <a:rPr lang="zh-CN" altLang="en-US" dirty="0"/>
              <a:t>：编译器认为是一个字符常量，占一个字节</a:t>
            </a:r>
            <a:endParaRPr lang="en-US" altLang="zh-CN" dirty="0"/>
          </a:p>
          <a:p>
            <a:r>
              <a:rPr lang="en-US" altLang="zh-CN" dirty="0"/>
              <a:t>”a”</a:t>
            </a:r>
            <a:r>
              <a:rPr lang="zh-CN" altLang="en-US" dirty="0"/>
              <a:t>：编译器认为是一个字符串常量，占两个字节</a:t>
            </a:r>
          </a:p>
        </p:txBody>
      </p:sp>
    </p:spTree>
    <p:extLst>
      <p:ext uri="{BB962C8B-B14F-4D97-AF65-F5344CB8AC3E}">
        <p14:creationId xmlns:p14="http://schemas.microsoft.com/office/powerpoint/2010/main" val="37148517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40632" y="2838515"/>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输入</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输出</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5</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格式化输入</a:t>
              </a:r>
              <a:r>
                <a:rPr lang="en-US" altLang="zh-CN" sz="2400" dirty="0" err="1">
                  <a:latin typeface="方正粗倩简体" panose="03000509000000000000" pitchFamily="65" charset="-122"/>
                  <a:ea typeface="方正粗倩简体" panose="03000509000000000000" pitchFamily="65" charset="-122"/>
                </a:rPr>
                <a:t>scanf</a:t>
              </a:r>
              <a:r>
                <a:rPr lang="zh-CN" altLang="en-US" sz="2400" dirty="0">
                  <a:latin typeface="方正粗倩简体" panose="03000509000000000000" pitchFamily="65" charset="-122"/>
                  <a:ea typeface="方正粗倩简体" panose="03000509000000000000" pitchFamily="65" charset="-122"/>
                </a:rPr>
                <a:t>函数</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1979712" y="1649553"/>
            <a:ext cx="5688632" cy="646331"/>
          </a:xfrm>
          <a:prstGeom prst="rect">
            <a:avLst/>
          </a:prstGeom>
          <a:noFill/>
        </p:spPr>
        <p:txBody>
          <a:bodyPr wrap="square" rtlCol="0">
            <a:spAutoFit/>
          </a:bodyPr>
          <a:lstStyle/>
          <a:p>
            <a:r>
              <a:rPr lang="en-US" altLang="zh-CN" dirty="0">
                <a:solidFill>
                  <a:srgbClr val="984807"/>
                </a:solidFill>
                <a:latin typeface="方正粗倩简体" panose="03000509000000000000" pitchFamily="65" charset="-122"/>
                <a:ea typeface="方正粗倩简体" panose="03000509000000000000" pitchFamily="65" charset="-122"/>
              </a:rPr>
              <a:t>1.</a:t>
            </a:r>
            <a:r>
              <a:rPr lang="zh-CN" altLang="en-US" dirty="0">
                <a:solidFill>
                  <a:srgbClr val="984807"/>
                </a:solidFill>
                <a:latin typeface="方正粗倩简体" panose="03000509000000000000" pitchFamily="65" charset="-122"/>
                <a:ea typeface="方正粗倩简体" panose="03000509000000000000" pitchFamily="65" charset="-122"/>
              </a:rPr>
              <a:t>一般使用形式：</a:t>
            </a:r>
            <a:r>
              <a:rPr lang="en-US" altLang="zh-CN" dirty="0" err="1">
                <a:solidFill>
                  <a:srgbClr val="984807"/>
                </a:solidFill>
                <a:latin typeface="方正粗倩简体" panose="03000509000000000000" pitchFamily="65" charset="-122"/>
                <a:ea typeface="方正粗倩简体" panose="03000509000000000000" pitchFamily="65" charset="-122"/>
              </a:rPr>
              <a:t>scanf</a:t>
            </a:r>
            <a:r>
              <a:rPr lang="en-US" altLang="zh-CN" dirty="0">
                <a:solidFill>
                  <a:srgbClr val="984807"/>
                </a:solidFill>
                <a:latin typeface="方正粗倩简体" panose="03000509000000000000" pitchFamily="65" charset="-122"/>
                <a:ea typeface="方正粗倩简体" panose="03000509000000000000" pitchFamily="65" charset="-122"/>
              </a:rPr>
              <a:t>(“</a:t>
            </a:r>
            <a:r>
              <a:rPr lang="zh-CN" altLang="en-US" dirty="0">
                <a:solidFill>
                  <a:srgbClr val="984807"/>
                </a:solidFill>
                <a:latin typeface="方正粗倩简体" panose="03000509000000000000" pitchFamily="65" charset="-122"/>
                <a:ea typeface="方正粗倩简体" panose="03000509000000000000" pitchFamily="65" charset="-122"/>
              </a:rPr>
              <a:t>输入格式</a:t>
            </a:r>
            <a:r>
              <a:rPr lang="en-US" altLang="zh-CN" dirty="0">
                <a:solidFill>
                  <a:srgbClr val="984807"/>
                </a:solidFill>
                <a:latin typeface="方正粗倩简体" panose="03000509000000000000" pitchFamily="65" charset="-122"/>
                <a:ea typeface="方正粗倩简体" panose="03000509000000000000" pitchFamily="65" charset="-122"/>
              </a:rPr>
              <a:t>”</a:t>
            </a:r>
            <a:r>
              <a:rPr lang="zh-CN" altLang="en-US" dirty="0">
                <a:solidFill>
                  <a:srgbClr val="984807"/>
                </a:solidFill>
                <a:latin typeface="方正粗倩简体" panose="03000509000000000000" pitchFamily="65" charset="-122"/>
                <a:ea typeface="方正粗倩简体" panose="03000509000000000000" pitchFamily="65" charset="-122"/>
              </a:rPr>
              <a:t>，输入项系列</a:t>
            </a:r>
            <a:r>
              <a:rPr lang="en-US" altLang="zh-CN" dirty="0">
                <a:solidFill>
                  <a:srgbClr val="984807"/>
                </a:solidFill>
                <a:latin typeface="方正粗倩简体" panose="03000509000000000000" pitchFamily="65" charset="-122"/>
                <a:ea typeface="方正粗倩简体" panose="03000509000000000000" pitchFamily="65" charset="-122"/>
              </a:rPr>
              <a:t>)</a:t>
            </a:r>
          </a:p>
          <a:p>
            <a:r>
              <a:rPr lang="en-US" altLang="zh-CN" dirty="0">
                <a:solidFill>
                  <a:srgbClr val="984807"/>
                </a:solidFill>
                <a:latin typeface="方正粗倩简体" panose="03000509000000000000" pitchFamily="65" charset="-122"/>
                <a:ea typeface="方正粗倩简体" panose="03000509000000000000" pitchFamily="65" charset="-122"/>
              </a:rPr>
              <a:t>2.</a:t>
            </a:r>
            <a:r>
              <a:rPr lang="zh-CN" altLang="en-US" dirty="0">
                <a:solidFill>
                  <a:srgbClr val="984807"/>
                </a:solidFill>
                <a:latin typeface="方正粗倩简体" panose="03000509000000000000" pitchFamily="65" charset="-122"/>
                <a:ea typeface="方正粗倩简体" panose="03000509000000000000" pitchFamily="65" charset="-122"/>
              </a:rPr>
              <a:t>输入项必须是地址量</a:t>
            </a:r>
            <a:endParaRPr lang="en-US" altLang="zh-CN" dirty="0">
              <a:solidFill>
                <a:srgbClr val="984807"/>
              </a:solidFill>
              <a:latin typeface="方正粗倩简体" panose="03000509000000000000" pitchFamily="65" charset="-122"/>
              <a:ea typeface="方正粗倩简体" panose="03000509000000000000" pitchFamily="65" charset="-122"/>
            </a:endParaRPr>
          </a:p>
        </p:txBody>
      </p:sp>
      <p:sp>
        <p:nvSpPr>
          <p:cNvPr id="6" name="文本框 5">
            <a:extLst>
              <a:ext uri="{FF2B5EF4-FFF2-40B4-BE49-F238E27FC236}">
                <a16:creationId xmlns:a16="http://schemas.microsoft.com/office/drawing/2014/main" id="{489A2783-748E-47DA-911F-84DC7E32FAE8}"/>
              </a:ext>
            </a:extLst>
          </p:cNvPr>
          <p:cNvSpPr txBox="1"/>
          <p:nvPr/>
        </p:nvSpPr>
        <p:spPr>
          <a:xfrm>
            <a:off x="2612802" y="2724435"/>
            <a:ext cx="3111326" cy="1384995"/>
          </a:xfrm>
          <a:prstGeom prst="rect">
            <a:avLst/>
          </a:prstGeom>
          <a:noFill/>
        </p:spPr>
        <p:txBody>
          <a:bodyPr wrap="square" rtlCol="0">
            <a:spAutoFit/>
          </a:bodyPr>
          <a:lstStyle/>
          <a:p>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）常规输入例：</a:t>
            </a:r>
            <a:endParaRPr lang="en-US" altLang="zh-CN" sz="1400" dirty="0">
              <a:latin typeface="微软雅黑" panose="020B0503020204020204" pitchFamily="34" charset="-122"/>
              <a:ea typeface="微软雅黑" panose="020B0503020204020204" pitchFamily="34" charset="-122"/>
            </a:endParaRPr>
          </a:p>
          <a:p>
            <a:r>
              <a:rPr lang="en-US" altLang="zh-CN" sz="1400" dirty="0" err="1">
                <a:solidFill>
                  <a:srgbClr val="0070C0"/>
                </a:solidFill>
                <a:latin typeface="微软雅黑" panose="020B0503020204020204" pitchFamily="34" charset="-122"/>
                <a:ea typeface="微软雅黑" panose="020B0503020204020204" pitchFamily="34" charset="-122"/>
              </a:rPr>
              <a:t>scanf</a:t>
            </a:r>
            <a:r>
              <a:rPr lang="en-US" altLang="zh-CN" sz="1400" dirty="0">
                <a:solidFill>
                  <a:srgbClr val="0070C0"/>
                </a:solidFill>
                <a:latin typeface="微软雅黑" panose="020B0503020204020204" pitchFamily="34" charset="-122"/>
                <a:ea typeface="微软雅黑" panose="020B0503020204020204" pitchFamily="34" charset="-122"/>
              </a:rPr>
              <a:t>(“%d”, &amp;a);</a:t>
            </a:r>
          </a:p>
          <a:p>
            <a:r>
              <a:rPr lang="zh-CN" altLang="en-US" sz="1400" dirty="0">
                <a:latin typeface="微软雅黑" panose="020B0503020204020204" pitchFamily="34" charset="-122"/>
                <a:ea typeface="微软雅黑" panose="020B0503020204020204" pitchFamily="34" charset="-122"/>
              </a:rPr>
              <a:t>输入：</a:t>
            </a:r>
            <a:r>
              <a:rPr lang="en-US" altLang="zh-CN" sz="1400" dirty="0">
                <a:latin typeface="微软雅黑" panose="020B0503020204020204" pitchFamily="34" charset="-122"/>
                <a:ea typeface="微软雅黑" panose="020B0503020204020204" pitchFamily="34" charset="-122"/>
              </a:rPr>
              <a:t>10</a:t>
            </a:r>
          </a:p>
          <a:p>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）输入中有分隔符：</a:t>
            </a:r>
            <a:endParaRPr lang="en-US" altLang="zh-CN" sz="1400" dirty="0">
              <a:latin typeface="微软雅黑" panose="020B0503020204020204" pitchFamily="34" charset="-122"/>
              <a:ea typeface="微软雅黑" panose="020B0503020204020204" pitchFamily="34" charset="-122"/>
            </a:endParaRPr>
          </a:p>
          <a:p>
            <a:r>
              <a:rPr lang="en-US" altLang="zh-CN" sz="1400" dirty="0" err="1">
                <a:solidFill>
                  <a:srgbClr val="0070C0"/>
                </a:solidFill>
                <a:latin typeface="微软雅黑" panose="020B0503020204020204" pitchFamily="34" charset="-122"/>
                <a:ea typeface="微软雅黑" panose="020B0503020204020204" pitchFamily="34" charset="-122"/>
              </a:rPr>
              <a:t>scanf</a:t>
            </a:r>
            <a:r>
              <a:rPr lang="en-US" altLang="zh-CN" sz="1400" dirty="0">
                <a:solidFill>
                  <a:srgbClr val="0070C0"/>
                </a:solidFill>
                <a:latin typeface="微软雅黑" panose="020B0503020204020204" pitchFamily="34" charset="-122"/>
                <a:ea typeface="微软雅黑" panose="020B0503020204020204" pitchFamily="34" charset="-122"/>
              </a:rPr>
              <a:t>(“%</a:t>
            </a:r>
            <a:r>
              <a:rPr lang="en-US" altLang="zh-CN" sz="1400" dirty="0" err="1">
                <a:solidFill>
                  <a:srgbClr val="0070C0"/>
                </a:solidFill>
                <a:latin typeface="微软雅黑" panose="020B0503020204020204" pitchFamily="34" charset="-122"/>
                <a:ea typeface="微软雅黑" panose="020B0503020204020204" pitchFamily="34" charset="-122"/>
              </a:rPr>
              <a:t>d,%d”,&amp;a,&amp;b</a:t>
            </a:r>
            <a:r>
              <a:rPr lang="en-US" altLang="zh-CN" sz="1400" dirty="0">
                <a:solidFill>
                  <a:srgbClr val="0070C0"/>
                </a:solidFill>
                <a:latin typeface="微软雅黑" panose="020B0503020204020204" pitchFamily="34" charset="-122"/>
                <a:ea typeface="微软雅黑" panose="020B0503020204020204" pitchFamily="34" charset="-122"/>
              </a:rPr>
              <a:t>);</a:t>
            </a:r>
          </a:p>
          <a:p>
            <a:r>
              <a:rPr lang="zh-CN" altLang="en-US" sz="1400" dirty="0">
                <a:latin typeface="微软雅黑" panose="020B0503020204020204" pitchFamily="34" charset="-122"/>
                <a:ea typeface="微软雅黑" panose="020B0503020204020204" pitchFamily="34" charset="-122"/>
              </a:rPr>
              <a:t>输入：</a:t>
            </a:r>
            <a:r>
              <a:rPr lang="en-US" altLang="zh-CN" sz="1400" dirty="0">
                <a:latin typeface="微软雅黑" panose="020B0503020204020204" pitchFamily="34" charset="-122"/>
                <a:ea typeface="微软雅黑" panose="020B0503020204020204" pitchFamily="34" charset="-122"/>
              </a:rPr>
              <a:t>3</a:t>
            </a:r>
            <a:r>
              <a:rPr lang="en-US" altLang="zh-CN" sz="1400" dirty="0">
                <a:solidFill>
                  <a:srgbClr val="0070C0"/>
                </a:solidFill>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5</a:t>
            </a:r>
            <a:endParaRPr lang="zh-CN" altLang="en-US" sz="140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1D80DC99-A71D-4D16-9DAD-49A0E057E3E1}"/>
              </a:ext>
            </a:extLst>
          </p:cNvPr>
          <p:cNvSpPr txBox="1"/>
          <p:nvPr/>
        </p:nvSpPr>
        <p:spPr>
          <a:xfrm>
            <a:off x="2915816" y="4299942"/>
            <a:ext cx="5688632" cy="369332"/>
          </a:xfrm>
          <a:prstGeom prst="rect">
            <a:avLst/>
          </a:prstGeom>
          <a:noFill/>
        </p:spPr>
        <p:txBody>
          <a:bodyPr wrap="square" rtlCol="0">
            <a:spAutoFit/>
          </a:bodyPr>
          <a:lstStyle/>
          <a:p>
            <a:r>
              <a:rPr lang="zh-CN" altLang="en-US" dirty="0">
                <a:solidFill>
                  <a:srgbClr val="984807"/>
                </a:solidFill>
                <a:latin typeface="方正粗倩简体" panose="03000509000000000000" pitchFamily="65" charset="-122"/>
                <a:ea typeface="方正粗倩简体" panose="03000509000000000000" pitchFamily="65" charset="-122"/>
              </a:rPr>
              <a:t>要求输入格式与输入项的个数必须相同，且一一对应。</a:t>
            </a:r>
          </a:p>
        </p:txBody>
      </p:sp>
      <p:sp>
        <p:nvSpPr>
          <p:cNvPr id="17" name="文本框 16">
            <a:extLst>
              <a:ext uri="{FF2B5EF4-FFF2-40B4-BE49-F238E27FC236}">
                <a16:creationId xmlns:a16="http://schemas.microsoft.com/office/drawing/2014/main" id="{3D8F0838-2247-430B-968A-B04BEEBD1054}"/>
              </a:ext>
            </a:extLst>
          </p:cNvPr>
          <p:cNvSpPr txBox="1"/>
          <p:nvPr/>
        </p:nvSpPr>
        <p:spPr>
          <a:xfrm>
            <a:off x="5220072" y="3052890"/>
            <a:ext cx="3859919" cy="738664"/>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输入数据时，遇到以下情况时认为该数据结束：</a:t>
            </a:r>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a.</a:t>
            </a:r>
            <a:r>
              <a:rPr lang="zh-CN" altLang="en-US" sz="1400" dirty="0">
                <a:latin typeface="微软雅黑" panose="020B0503020204020204" pitchFamily="34" charset="-122"/>
                <a:ea typeface="微软雅黑" panose="020B0503020204020204" pitchFamily="34" charset="-122"/>
              </a:rPr>
              <a:t>遇到空格或者回车或者</a:t>
            </a:r>
            <a:r>
              <a:rPr lang="en-US" altLang="zh-CN" sz="1400" dirty="0">
                <a:latin typeface="微软雅黑" panose="020B0503020204020204" pitchFamily="34" charset="-122"/>
                <a:ea typeface="微软雅黑" panose="020B0503020204020204" pitchFamily="34" charset="-122"/>
              </a:rPr>
              <a:t>tab</a:t>
            </a:r>
            <a:r>
              <a:rPr lang="zh-CN" altLang="en-US" sz="1400" dirty="0">
                <a:latin typeface="微软雅黑" panose="020B0503020204020204" pitchFamily="34" charset="-122"/>
                <a:ea typeface="微软雅黑" panose="020B0503020204020204" pitchFamily="34" charset="-122"/>
              </a:rPr>
              <a:t>键</a:t>
            </a:r>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b.</a:t>
            </a:r>
            <a:r>
              <a:rPr lang="zh-CN" altLang="en-US" sz="1400" dirty="0">
                <a:latin typeface="微软雅黑" panose="020B0503020204020204" pitchFamily="34" charset="-122"/>
                <a:ea typeface="微软雅黑" panose="020B0503020204020204" pitchFamily="34" charset="-122"/>
              </a:rPr>
              <a:t>遇到宽度结束，如“</a:t>
            </a:r>
            <a:r>
              <a:rPr lang="en-US" altLang="zh-CN" sz="1400" dirty="0">
                <a:latin typeface="微软雅黑" panose="020B0503020204020204" pitchFamily="34" charset="-122"/>
                <a:ea typeface="微软雅黑" panose="020B0503020204020204" pitchFamily="34" charset="-122"/>
              </a:rPr>
              <a:t>%3d</a:t>
            </a:r>
            <a:r>
              <a:rPr lang="zh-CN" altLang="en-US" sz="1400" dirty="0">
                <a:latin typeface="微软雅黑" panose="020B0503020204020204" pitchFamily="34" charset="-122"/>
                <a:ea typeface="微软雅黑" panose="020B0503020204020204" pitchFamily="34" charset="-122"/>
              </a:rPr>
              <a:t>”只取输入前三列</a:t>
            </a:r>
          </a:p>
        </p:txBody>
      </p:sp>
      <p:sp>
        <p:nvSpPr>
          <p:cNvPr id="8" name="动作按钮: 自定义 25">
            <a:hlinkClick r:id="rId3" action="ppaction://program" highlightClick="1"/>
            <a:extLst>
              <a:ext uri="{FF2B5EF4-FFF2-40B4-BE49-F238E27FC236}">
                <a16:creationId xmlns:a16="http://schemas.microsoft.com/office/drawing/2014/main" id="{E6C098C8-4611-2F17-A7E3-35FFB482FAAF}"/>
              </a:ext>
            </a:extLst>
          </p:cNvPr>
          <p:cNvSpPr/>
          <p:nvPr/>
        </p:nvSpPr>
        <p:spPr>
          <a:xfrm>
            <a:off x="5310316" y="2090359"/>
            <a:ext cx="2547997" cy="667657"/>
          </a:xfrm>
          <a:prstGeom prst="actionButtonBlan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例  子</a:t>
            </a:r>
            <a:r>
              <a:rPr lang="en-US" altLang="zh-CN" sz="2400" dirty="0"/>
              <a:t>2_2</a:t>
            </a:r>
            <a:endParaRPr lang="zh-CN" altLang="en-US" sz="2400" dirty="0"/>
          </a:p>
        </p:txBody>
      </p:sp>
    </p:spTree>
    <p:extLst>
      <p:ext uri="{BB962C8B-B14F-4D97-AF65-F5344CB8AC3E}">
        <p14:creationId xmlns:p14="http://schemas.microsoft.com/office/powerpoint/2010/main" val="172742155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40632" y="2838515"/>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输入</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输出</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5</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字符输入</a:t>
              </a:r>
              <a:r>
                <a:rPr lang="en-US" altLang="zh-CN" sz="2400" dirty="0" err="1">
                  <a:latin typeface="方正粗倩简体" panose="03000509000000000000" pitchFamily="65" charset="-122"/>
                  <a:ea typeface="方正粗倩简体" panose="03000509000000000000" pitchFamily="65" charset="-122"/>
                </a:rPr>
                <a:t>getchar</a:t>
              </a:r>
              <a:r>
                <a:rPr lang="zh-CN" altLang="en-US" sz="2400" dirty="0">
                  <a:latin typeface="方正粗倩简体" panose="03000509000000000000" pitchFamily="65" charset="-122"/>
                  <a:ea typeface="方正粗倩简体" panose="03000509000000000000" pitchFamily="65" charset="-122"/>
                </a:rPr>
                <a:t>函数</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2555774" y="1797918"/>
            <a:ext cx="6048674" cy="1200329"/>
          </a:xfrm>
          <a:prstGeom prst="rect">
            <a:avLst/>
          </a:prstGeom>
          <a:noFill/>
        </p:spPr>
        <p:txBody>
          <a:bodyPr wrap="square" rtlCol="0">
            <a:spAutoFit/>
          </a:bodyPr>
          <a:lstStyle/>
          <a:p>
            <a:r>
              <a:rPr lang="en-US" altLang="zh-CN" dirty="0" err="1">
                <a:latin typeface="华文仿宋" panose="02010600040101010101" pitchFamily="2" charset="-122"/>
                <a:ea typeface="华文仿宋" panose="02010600040101010101" pitchFamily="2" charset="-122"/>
              </a:rPr>
              <a:t>getchar</a:t>
            </a:r>
            <a:r>
              <a:rPr lang="zh-CN" altLang="en-US" dirty="0">
                <a:latin typeface="华文仿宋" panose="02010600040101010101" pitchFamily="2" charset="-122"/>
                <a:ea typeface="华文仿宋" panose="02010600040101010101" pitchFamily="2" charset="-122"/>
              </a:rPr>
              <a:t>函数的功能是从键盘读入一个字节的代码值。在程序中必须用一个对应的变量接受读取的代码值，如下所示：</a:t>
            </a:r>
            <a:endParaRPr lang="en-US" altLang="zh-CN" dirty="0">
              <a:latin typeface="华文仿宋" panose="02010600040101010101" pitchFamily="2" charset="-122"/>
              <a:ea typeface="华文仿宋" panose="02010600040101010101" pitchFamily="2" charset="-122"/>
            </a:endParaRPr>
          </a:p>
          <a:p>
            <a:r>
              <a:rPr lang="en-US" altLang="zh-CN" dirty="0">
                <a:solidFill>
                  <a:srgbClr val="984807"/>
                </a:solidFill>
                <a:latin typeface="方正粗倩简体" panose="03000509000000000000" pitchFamily="65" charset="-122"/>
                <a:ea typeface="方正粗倩简体" panose="03000509000000000000" pitchFamily="65" charset="-122"/>
              </a:rPr>
              <a:t>	</a:t>
            </a:r>
            <a:r>
              <a:rPr lang="en-US" altLang="zh-CN" dirty="0">
                <a:solidFill>
                  <a:srgbClr val="0070C0"/>
                </a:solidFill>
                <a:latin typeface="方正粗倩简体" panose="03000509000000000000" pitchFamily="65" charset="-122"/>
                <a:ea typeface="方正粗倩简体" panose="03000509000000000000" pitchFamily="65" charset="-122"/>
              </a:rPr>
              <a:t>     c = </a:t>
            </a:r>
            <a:r>
              <a:rPr lang="en-US" altLang="zh-CN" dirty="0" err="1">
                <a:solidFill>
                  <a:srgbClr val="0070C0"/>
                </a:solidFill>
                <a:latin typeface="方正粗倩简体" panose="03000509000000000000" pitchFamily="65" charset="-122"/>
                <a:ea typeface="方正粗倩简体" panose="03000509000000000000" pitchFamily="65" charset="-122"/>
              </a:rPr>
              <a:t>getchar</a:t>
            </a:r>
            <a:r>
              <a:rPr lang="en-US" altLang="zh-CN" dirty="0">
                <a:solidFill>
                  <a:srgbClr val="0070C0"/>
                </a:solidFill>
                <a:latin typeface="方正粗倩简体" panose="03000509000000000000" pitchFamily="65" charset="-122"/>
                <a:ea typeface="方正粗倩简体" panose="03000509000000000000" pitchFamily="65" charset="-122"/>
              </a:rPr>
              <a:t>();</a:t>
            </a:r>
          </a:p>
          <a:p>
            <a:r>
              <a:rPr lang="zh-CN" altLang="en-US" dirty="0">
                <a:latin typeface="华文仿宋" panose="02010600040101010101" pitchFamily="2" charset="-122"/>
                <a:ea typeface="华文仿宋" panose="02010600040101010101" pitchFamily="2" charset="-122"/>
              </a:rPr>
              <a:t>执行上面语句，变量</a:t>
            </a:r>
            <a:r>
              <a:rPr lang="en-US" altLang="zh-CN" dirty="0">
                <a:latin typeface="华文仿宋" panose="02010600040101010101" pitchFamily="2" charset="-122"/>
                <a:ea typeface="华文仿宋" panose="02010600040101010101" pitchFamily="2" charset="-122"/>
              </a:rPr>
              <a:t>c</a:t>
            </a:r>
            <a:r>
              <a:rPr lang="zh-CN" altLang="en-US" dirty="0">
                <a:latin typeface="华文仿宋" panose="02010600040101010101" pitchFamily="2" charset="-122"/>
                <a:ea typeface="华文仿宋" panose="02010600040101010101" pitchFamily="2" charset="-122"/>
              </a:rPr>
              <a:t>就得到了读取的代码值。</a:t>
            </a:r>
            <a:endParaRPr lang="en-US" altLang="zh-CN"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2368747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40632" y="2838515"/>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输入</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输出</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5</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字符输出</a:t>
              </a:r>
              <a:r>
                <a:rPr lang="en-US" altLang="zh-CN" sz="2400" dirty="0" err="1">
                  <a:latin typeface="方正粗倩简体" panose="03000509000000000000" pitchFamily="65" charset="-122"/>
                  <a:ea typeface="方正粗倩简体" panose="03000509000000000000" pitchFamily="65" charset="-122"/>
                </a:rPr>
                <a:t>putchar</a:t>
              </a:r>
              <a:r>
                <a:rPr lang="zh-CN" altLang="en-US" sz="2400" dirty="0">
                  <a:latin typeface="方正粗倩简体" panose="03000509000000000000" pitchFamily="65" charset="-122"/>
                  <a:ea typeface="方正粗倩简体" panose="03000509000000000000" pitchFamily="65" charset="-122"/>
                </a:rPr>
                <a:t>函数</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2555774" y="1779661"/>
            <a:ext cx="4464498" cy="1477328"/>
          </a:xfrm>
          <a:prstGeom prst="rect">
            <a:avLst/>
          </a:prstGeom>
          <a:noFill/>
        </p:spPr>
        <p:txBody>
          <a:bodyPr wrap="square" rtlCol="0">
            <a:spAutoFit/>
          </a:bodyPr>
          <a:lstStyle/>
          <a:p>
            <a:r>
              <a:rPr lang="en-US" altLang="zh-CN" dirty="0" err="1">
                <a:latin typeface="华文仿宋" panose="02010600040101010101" pitchFamily="2" charset="-122"/>
                <a:ea typeface="华文仿宋" panose="02010600040101010101" pitchFamily="2" charset="-122"/>
              </a:rPr>
              <a:t>putchar</a:t>
            </a:r>
            <a:r>
              <a:rPr lang="zh-CN" altLang="en-US" dirty="0">
                <a:latin typeface="华文仿宋" panose="02010600040101010101" pitchFamily="2" charset="-122"/>
                <a:ea typeface="华文仿宋" panose="02010600040101010101" pitchFamily="2" charset="-122"/>
              </a:rPr>
              <a:t>函数的功能是把一字节的代码值所代表的字符输出到输出设备上。如下所示：</a:t>
            </a:r>
            <a:endParaRPr lang="en-US" altLang="zh-CN" dirty="0">
              <a:latin typeface="华文仿宋" panose="02010600040101010101" pitchFamily="2" charset="-122"/>
              <a:ea typeface="华文仿宋" panose="02010600040101010101" pitchFamily="2" charset="-122"/>
            </a:endParaRPr>
          </a:p>
          <a:p>
            <a:r>
              <a:rPr lang="en-US" altLang="zh-CN" dirty="0">
                <a:solidFill>
                  <a:srgbClr val="984807"/>
                </a:solidFill>
                <a:latin typeface="方正粗倩简体" panose="03000509000000000000" pitchFamily="65" charset="-122"/>
                <a:ea typeface="方正粗倩简体" panose="03000509000000000000" pitchFamily="65" charset="-122"/>
              </a:rPr>
              <a:t>	     </a:t>
            </a:r>
            <a:r>
              <a:rPr lang="en-US" altLang="zh-CN" dirty="0" err="1">
                <a:solidFill>
                  <a:srgbClr val="0070C0"/>
                </a:solidFill>
                <a:latin typeface="方正粗倩简体" panose="03000509000000000000" pitchFamily="65" charset="-122"/>
                <a:ea typeface="方正粗倩简体" panose="03000509000000000000" pitchFamily="65" charset="-122"/>
              </a:rPr>
              <a:t>putchar</a:t>
            </a:r>
            <a:r>
              <a:rPr lang="en-US" altLang="zh-CN" dirty="0">
                <a:solidFill>
                  <a:srgbClr val="0070C0"/>
                </a:solidFill>
                <a:latin typeface="方正粗倩简体" panose="03000509000000000000" pitchFamily="65" charset="-122"/>
                <a:ea typeface="方正粗倩简体" panose="03000509000000000000" pitchFamily="65" charset="-122"/>
              </a:rPr>
              <a:t>(c);</a:t>
            </a:r>
          </a:p>
          <a:p>
            <a:r>
              <a:rPr lang="zh-CN" altLang="en-US" dirty="0">
                <a:latin typeface="华文仿宋" panose="02010600040101010101" pitchFamily="2" charset="-122"/>
                <a:ea typeface="华文仿宋" panose="02010600040101010101" pitchFamily="2" charset="-122"/>
              </a:rPr>
              <a:t>执行上面语句，变量</a:t>
            </a:r>
            <a:r>
              <a:rPr lang="en-US" altLang="zh-CN" dirty="0">
                <a:latin typeface="华文仿宋" panose="02010600040101010101" pitchFamily="2" charset="-122"/>
                <a:ea typeface="华文仿宋" panose="02010600040101010101" pitchFamily="2" charset="-122"/>
              </a:rPr>
              <a:t>c</a:t>
            </a:r>
            <a:r>
              <a:rPr lang="zh-CN" altLang="en-US" dirty="0">
                <a:latin typeface="华文仿宋" panose="02010600040101010101" pitchFamily="2" charset="-122"/>
                <a:ea typeface="华文仿宋" panose="02010600040101010101" pitchFamily="2" charset="-122"/>
              </a:rPr>
              <a:t>对应的字符就输出到标准输出设备。</a:t>
            </a:r>
            <a:endParaRPr lang="en-US" altLang="zh-CN"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59396934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40632" y="2838515"/>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输入</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输出</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5</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输出格式控制</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2555774" y="1779661"/>
            <a:ext cx="4464498" cy="2031325"/>
          </a:xfrm>
          <a:prstGeom prst="rect">
            <a:avLst/>
          </a:prstGeom>
          <a:noFill/>
        </p:spPr>
        <p:txBody>
          <a:bodyPr wrap="square" rtlCol="0">
            <a:spAutoFit/>
          </a:bodyPr>
          <a:lstStyle/>
          <a:p>
            <a:r>
              <a:rPr lang="zh-CN" altLang="en-US" dirty="0">
                <a:latin typeface="华文仿宋" panose="02010600040101010101" pitchFamily="2" charset="-122"/>
                <a:ea typeface="华文仿宋" panose="02010600040101010101" pitchFamily="2" charset="-122"/>
              </a:rPr>
              <a:t>输出宽度控制</a:t>
            </a:r>
            <a:r>
              <a:rPr lang="en-US" altLang="zh-CN" dirty="0">
                <a:latin typeface="华文仿宋" panose="02010600040101010101" pitchFamily="2" charset="-122"/>
                <a:ea typeface="华文仿宋" panose="02010600040101010101" pitchFamily="2" charset="-122"/>
              </a:rPr>
              <a:t>:%mx</a:t>
            </a:r>
          </a:p>
          <a:p>
            <a:r>
              <a:rPr lang="en-US" altLang="zh-CN" dirty="0">
                <a:latin typeface="华文仿宋" panose="02010600040101010101" pitchFamily="2" charset="-122"/>
                <a:ea typeface="华文仿宋" panose="02010600040101010101" pitchFamily="2" charset="-122"/>
              </a:rPr>
              <a:t>m</a:t>
            </a:r>
            <a:r>
              <a:rPr lang="zh-CN" altLang="en-US" dirty="0">
                <a:latin typeface="华文仿宋" panose="02010600040101010101" pitchFamily="2" charset="-122"/>
                <a:ea typeface="华文仿宋" panose="02010600040101010101" pitchFamily="2" charset="-122"/>
              </a:rPr>
              <a:t>为指定的输出字段宽度。如果数据位数小于</a:t>
            </a:r>
            <a:r>
              <a:rPr lang="en-US" altLang="zh-CN" dirty="0">
                <a:latin typeface="华文仿宋" panose="02010600040101010101" pitchFamily="2" charset="-122"/>
                <a:ea typeface="华文仿宋" panose="02010600040101010101" pitchFamily="2" charset="-122"/>
              </a:rPr>
              <a:t>m</a:t>
            </a:r>
            <a:r>
              <a:rPr lang="zh-CN" altLang="en-US" dirty="0">
                <a:latin typeface="华文仿宋" panose="02010600040101010101" pitchFamily="2" charset="-122"/>
                <a:ea typeface="华文仿宋" panose="02010600040101010101" pitchFamily="2" charset="-122"/>
              </a:rPr>
              <a:t>则左端补以空格，若大于</a:t>
            </a:r>
            <a:r>
              <a:rPr lang="en-US" altLang="zh-CN" dirty="0">
                <a:latin typeface="华文仿宋" panose="02010600040101010101" pitchFamily="2" charset="-122"/>
                <a:ea typeface="华文仿宋" panose="02010600040101010101" pitchFamily="2" charset="-122"/>
              </a:rPr>
              <a:t>m</a:t>
            </a:r>
            <a:r>
              <a:rPr lang="zh-CN" altLang="en-US" dirty="0">
                <a:latin typeface="华文仿宋" panose="02010600040101010101" pitchFamily="2" charset="-122"/>
                <a:ea typeface="华文仿宋" panose="02010600040101010101" pitchFamily="2" charset="-122"/>
              </a:rPr>
              <a:t>，则按照实际位数输出。其中</a:t>
            </a:r>
            <a:r>
              <a:rPr lang="en-US" altLang="zh-CN" dirty="0">
                <a:latin typeface="华文仿宋" panose="02010600040101010101" pitchFamily="2" charset="-122"/>
                <a:ea typeface="华文仿宋" panose="02010600040101010101" pitchFamily="2" charset="-122"/>
              </a:rPr>
              <a:t>x</a:t>
            </a:r>
            <a:r>
              <a:rPr lang="zh-CN" altLang="en-US" dirty="0">
                <a:latin typeface="华文仿宋" panose="02010600040101010101" pitchFamily="2" charset="-122"/>
                <a:ea typeface="华文仿宋" panose="02010600040101010101" pitchFamily="2" charset="-122"/>
              </a:rPr>
              <a:t>代表格式控制符，如</a:t>
            </a:r>
            <a:r>
              <a:rPr lang="en-US" altLang="zh-CN" sz="1800" dirty="0" err="1"/>
              <a:t>d,f,s</a:t>
            </a:r>
            <a:r>
              <a:rPr lang="zh-CN" altLang="en-US" sz="1800" dirty="0"/>
              <a:t>。</a:t>
            </a:r>
            <a:endParaRPr lang="en-US" altLang="zh-CN" sz="1800" dirty="0"/>
          </a:p>
          <a:p>
            <a:r>
              <a:rPr lang="en-US" altLang="zh-CN" sz="1800" dirty="0" err="1"/>
              <a:t>printf</a:t>
            </a:r>
            <a:r>
              <a:rPr lang="en-US" altLang="zh-CN" sz="1800" dirty="0"/>
              <a:t>(“%5d”, 123456);</a:t>
            </a:r>
          </a:p>
          <a:p>
            <a:r>
              <a:rPr lang="en-US" altLang="zh-CN" sz="1800" dirty="0" err="1"/>
              <a:t>printf</a:t>
            </a:r>
            <a:r>
              <a:rPr lang="en-US" altLang="zh-CN" sz="1800" dirty="0"/>
              <a:t>(“%3s”, “Hello”);</a:t>
            </a:r>
            <a:endParaRPr lang="en-US" altLang="zh-CN"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33588200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40632" y="2838515"/>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输入</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输出</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5</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浮点数输出格式控制</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2555774" y="1779661"/>
            <a:ext cx="6552730" cy="1477328"/>
          </a:xfrm>
          <a:prstGeom prst="rect">
            <a:avLst/>
          </a:prstGeom>
          <a:noFill/>
        </p:spPr>
        <p:txBody>
          <a:bodyPr wrap="square" rtlCol="0">
            <a:spAutoFit/>
          </a:bodyPr>
          <a:lstStyle/>
          <a:p>
            <a:r>
              <a:rPr lang="zh-CN" altLang="en-US" dirty="0">
                <a:latin typeface="华文仿宋" panose="02010600040101010101" pitchFamily="2" charset="-122"/>
                <a:ea typeface="华文仿宋" panose="02010600040101010101" pitchFamily="2" charset="-122"/>
              </a:rPr>
              <a:t>默认状态下，输出保留六位有效数字</a:t>
            </a:r>
            <a:endParaRPr lang="en-US" altLang="zh-CN" dirty="0">
              <a:latin typeface="华文仿宋" panose="02010600040101010101" pitchFamily="2" charset="-122"/>
              <a:ea typeface="华文仿宋" panose="02010600040101010101" pitchFamily="2" charset="-122"/>
            </a:endParaRPr>
          </a:p>
          <a:p>
            <a:r>
              <a:rPr lang="en-US" altLang="zh-CN" dirty="0">
                <a:latin typeface="华文仿宋" panose="02010600040101010101" pitchFamily="2" charset="-122"/>
                <a:ea typeface="华文仿宋" panose="02010600040101010101" pitchFamily="2" charset="-122"/>
              </a:rPr>
              <a:t>%.mf </a:t>
            </a:r>
            <a:r>
              <a:rPr lang="zh-CN" altLang="en-US" dirty="0">
                <a:latin typeface="华文仿宋" panose="02010600040101010101" pitchFamily="2" charset="-122"/>
                <a:ea typeface="华文仿宋" panose="02010600040101010101" pitchFamily="2" charset="-122"/>
              </a:rPr>
              <a:t>用于控制小数点后</a:t>
            </a:r>
            <a:r>
              <a:rPr lang="en-US" altLang="zh-CN" dirty="0">
                <a:latin typeface="华文仿宋" panose="02010600040101010101" pitchFamily="2" charset="-122"/>
                <a:ea typeface="华文仿宋" panose="02010600040101010101" pitchFamily="2" charset="-122"/>
              </a:rPr>
              <a:t>m</a:t>
            </a:r>
            <a:r>
              <a:rPr lang="zh-CN" altLang="en-US" dirty="0">
                <a:latin typeface="华文仿宋" panose="02010600040101010101" pitchFamily="2" charset="-122"/>
                <a:ea typeface="华文仿宋" panose="02010600040101010101" pitchFamily="2" charset="-122"/>
              </a:rPr>
              <a:t>位有效数字</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当数据小数位数多余指定宽度</a:t>
            </a:r>
            <a:r>
              <a:rPr lang="en-US" altLang="zh-CN" dirty="0">
                <a:latin typeface="华文仿宋" panose="02010600040101010101" pitchFamily="2" charset="-122"/>
                <a:ea typeface="华文仿宋" panose="02010600040101010101" pitchFamily="2" charset="-122"/>
              </a:rPr>
              <a:t>m</a:t>
            </a:r>
            <a:r>
              <a:rPr lang="zh-CN" altLang="en-US" dirty="0">
                <a:latin typeface="华文仿宋" panose="02010600040101010101" pitchFamily="2" charset="-122"/>
                <a:ea typeface="华文仿宋" panose="02010600040101010101" pitchFamily="2" charset="-122"/>
              </a:rPr>
              <a:t>时，截去右边多余的小数，并对截去的第一位小数做四舍五入处理；当数据的小数位数小于指定宽度</a:t>
            </a:r>
            <a:r>
              <a:rPr lang="en-US" altLang="zh-CN" dirty="0">
                <a:latin typeface="华文仿宋" panose="02010600040101010101" pitchFamily="2" charset="-122"/>
                <a:ea typeface="华文仿宋" panose="02010600040101010101" pitchFamily="2" charset="-122"/>
              </a:rPr>
              <a:t>m</a:t>
            </a:r>
            <a:r>
              <a:rPr lang="zh-CN" altLang="en-US" dirty="0">
                <a:latin typeface="华文仿宋" panose="02010600040101010101" pitchFamily="2" charset="-122"/>
                <a:ea typeface="华文仿宋" panose="02010600040101010101" pitchFamily="2" charset="-122"/>
              </a:rPr>
              <a:t>时，在小数的右边补零</a:t>
            </a:r>
            <a:endParaRPr lang="en-US" altLang="zh-CN" dirty="0">
              <a:latin typeface="华文仿宋" panose="02010600040101010101" pitchFamily="2" charset="-122"/>
              <a:ea typeface="华文仿宋" panose="02010600040101010101" pitchFamily="2" charset="-122"/>
            </a:endParaRPr>
          </a:p>
        </p:txBody>
      </p:sp>
      <p:sp>
        <p:nvSpPr>
          <p:cNvPr id="6" name="TextBox 12">
            <a:extLst>
              <a:ext uri="{FF2B5EF4-FFF2-40B4-BE49-F238E27FC236}">
                <a16:creationId xmlns:a16="http://schemas.microsoft.com/office/drawing/2014/main" id="{A00FC3C0-9E32-DED1-B795-0BFD00A9FA5F}"/>
              </a:ext>
            </a:extLst>
          </p:cNvPr>
          <p:cNvSpPr txBox="1"/>
          <p:nvPr/>
        </p:nvSpPr>
        <p:spPr>
          <a:xfrm>
            <a:off x="2987824" y="3977068"/>
            <a:ext cx="5529941" cy="830997"/>
          </a:xfrm>
          <a:prstGeom prst="rect">
            <a:avLst/>
          </a:prstGeom>
          <a:noFill/>
        </p:spPr>
        <p:txBody>
          <a:bodyPr wrap="square" rtlCol="0">
            <a:spAutoFit/>
          </a:bodyPr>
          <a:lstStyle/>
          <a:p>
            <a:r>
              <a:rPr lang="en-US" altLang="zh-CN" sz="2400" dirty="0"/>
              <a:t>double a=123.456789</a:t>
            </a:r>
            <a:r>
              <a:rPr lang="zh-CN" altLang="en-US" sz="2400" dirty="0"/>
              <a:t>；</a:t>
            </a:r>
            <a:endParaRPr lang="en-US" altLang="zh-CN" sz="2400" dirty="0"/>
          </a:p>
          <a:p>
            <a:r>
              <a:rPr lang="en-US" altLang="zh-CN" sz="2400" dirty="0" err="1"/>
              <a:t>printf</a:t>
            </a:r>
            <a:r>
              <a:rPr lang="en-US" altLang="zh-CN" sz="2400" dirty="0"/>
              <a:t>(“%.4lf\</a:t>
            </a:r>
            <a:r>
              <a:rPr lang="en-US" altLang="zh-CN" sz="2400" dirty="0" err="1"/>
              <a:t>n”,a</a:t>
            </a:r>
            <a:r>
              <a:rPr lang="en-US" altLang="zh-CN" sz="2400" dirty="0"/>
              <a:t>);</a:t>
            </a:r>
            <a:endParaRPr lang="zh-CN" altLang="en-US" sz="2400" dirty="0"/>
          </a:p>
        </p:txBody>
      </p:sp>
      <p:sp>
        <p:nvSpPr>
          <p:cNvPr id="7" name="动作按钮: 自定义 25">
            <a:hlinkClick r:id="rId3" action="ppaction://program" highlightClick="1"/>
            <a:extLst>
              <a:ext uri="{FF2B5EF4-FFF2-40B4-BE49-F238E27FC236}">
                <a16:creationId xmlns:a16="http://schemas.microsoft.com/office/drawing/2014/main" id="{989E5EDB-350B-F4F6-DAEA-BF498EE19397}"/>
              </a:ext>
            </a:extLst>
          </p:cNvPr>
          <p:cNvSpPr/>
          <p:nvPr/>
        </p:nvSpPr>
        <p:spPr>
          <a:xfrm>
            <a:off x="3491880" y="3244004"/>
            <a:ext cx="2547997" cy="667657"/>
          </a:xfrm>
          <a:prstGeom prst="actionButtonBlan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例  子</a:t>
            </a:r>
            <a:r>
              <a:rPr lang="en-US" altLang="zh-CN" sz="2400" dirty="0"/>
              <a:t>2_3</a:t>
            </a:r>
            <a:endParaRPr lang="zh-CN" altLang="en-US" sz="2400" dirty="0"/>
          </a:p>
        </p:txBody>
      </p:sp>
    </p:spTree>
    <p:extLst>
      <p:ext uri="{BB962C8B-B14F-4D97-AF65-F5344CB8AC3E}">
        <p14:creationId xmlns:p14="http://schemas.microsoft.com/office/powerpoint/2010/main" val="272275602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40632" y="2838515"/>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输入</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输出</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5</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55774" y="814441"/>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en-US" altLang="zh-CN" sz="2400" dirty="0">
                  <a:latin typeface="方正粗倩简体" panose="03000509000000000000" pitchFamily="65" charset="-122"/>
                  <a:ea typeface="方正粗倩简体" panose="03000509000000000000" pitchFamily="65" charset="-122"/>
                </a:rPr>
                <a:t>C++</a:t>
              </a:r>
              <a:r>
                <a:rPr lang="zh-CN" altLang="en-US" sz="2400" dirty="0">
                  <a:latin typeface="方正粗倩简体" panose="03000509000000000000" pitchFamily="65" charset="-122"/>
                  <a:ea typeface="方正粗倩简体" panose="03000509000000000000" pitchFamily="65" charset="-122"/>
                </a:rPr>
                <a:t>简单的输入输出</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3131840" y="1851672"/>
            <a:ext cx="5688632" cy="3231654"/>
          </a:xfrm>
          <a:prstGeom prst="rect">
            <a:avLst/>
          </a:prstGeom>
          <a:noFill/>
        </p:spPr>
        <p:txBody>
          <a:bodyPr wrap="square" rtlCol="0">
            <a:spAutoFit/>
          </a:bodyPr>
          <a:lstStyle/>
          <a:p>
            <a:r>
              <a:rPr lang="en-US" altLang="zh-CN" sz="2400" dirty="0">
                <a:solidFill>
                  <a:srgbClr val="984807"/>
                </a:solidFill>
                <a:latin typeface="方正粗倩简体" panose="03000509000000000000" pitchFamily="65" charset="-122"/>
                <a:ea typeface="方正粗倩简体" panose="03000509000000000000" pitchFamily="65" charset="-122"/>
              </a:rPr>
              <a:t>#include&lt;iostream&gt;//</a:t>
            </a:r>
            <a:r>
              <a:rPr lang="zh-CN" altLang="en-US" sz="2400" dirty="0">
                <a:solidFill>
                  <a:srgbClr val="984807"/>
                </a:solidFill>
                <a:latin typeface="方正粗倩简体" panose="03000509000000000000" pitchFamily="65" charset="-122"/>
                <a:ea typeface="方正粗倩简体" panose="03000509000000000000" pitchFamily="65" charset="-122"/>
              </a:rPr>
              <a:t>向下兼容</a:t>
            </a:r>
            <a:r>
              <a:rPr lang="en-US" altLang="zh-CN" sz="2400" dirty="0">
                <a:solidFill>
                  <a:srgbClr val="984807"/>
                </a:solidFill>
                <a:latin typeface="方正粗倩简体" panose="03000509000000000000" pitchFamily="65" charset="-122"/>
                <a:ea typeface="方正粗倩简体" panose="03000509000000000000" pitchFamily="65" charset="-122"/>
              </a:rPr>
              <a:t>C</a:t>
            </a:r>
          </a:p>
          <a:p>
            <a:r>
              <a:rPr lang="en-US" altLang="zh-CN" sz="2400" dirty="0">
                <a:solidFill>
                  <a:srgbClr val="984807"/>
                </a:solidFill>
                <a:latin typeface="方正粗倩简体" panose="03000509000000000000" pitchFamily="65" charset="-122"/>
                <a:ea typeface="方正粗倩简体" panose="03000509000000000000" pitchFamily="65" charset="-122"/>
              </a:rPr>
              <a:t>using namespace </a:t>
            </a:r>
            <a:r>
              <a:rPr lang="en-US" altLang="zh-CN" sz="2400" dirty="0" err="1">
                <a:solidFill>
                  <a:srgbClr val="984807"/>
                </a:solidFill>
                <a:latin typeface="方正粗倩简体" panose="03000509000000000000" pitchFamily="65" charset="-122"/>
                <a:ea typeface="方正粗倩简体" panose="03000509000000000000" pitchFamily="65" charset="-122"/>
              </a:rPr>
              <a:t>std</a:t>
            </a:r>
            <a:r>
              <a:rPr lang="en-US" altLang="zh-CN" sz="2400" dirty="0">
                <a:solidFill>
                  <a:srgbClr val="984807"/>
                </a:solidFill>
                <a:latin typeface="方正粗倩简体" panose="03000509000000000000" pitchFamily="65" charset="-122"/>
                <a:ea typeface="方正粗倩简体" panose="03000509000000000000" pitchFamily="65" charset="-122"/>
              </a:rPr>
              <a:t>;</a:t>
            </a:r>
          </a:p>
          <a:p>
            <a:r>
              <a:rPr lang="en-US" altLang="zh-CN" dirty="0"/>
              <a:t> </a:t>
            </a:r>
            <a:r>
              <a:rPr lang="en-US" altLang="zh-CN" dirty="0" err="1"/>
              <a:t>int</a:t>
            </a:r>
            <a:r>
              <a:rPr lang="en-US" altLang="zh-CN" dirty="0"/>
              <a:t> main()</a:t>
            </a:r>
          </a:p>
          <a:p>
            <a:r>
              <a:rPr lang="en-US" altLang="zh-CN" dirty="0"/>
              <a:t>{</a:t>
            </a:r>
          </a:p>
          <a:p>
            <a:r>
              <a:rPr lang="en-US" altLang="zh-CN" dirty="0"/>
              <a:t>      int </a:t>
            </a:r>
            <a:r>
              <a:rPr lang="en-US" altLang="zh-CN" dirty="0" err="1"/>
              <a:t>x,y,z</a:t>
            </a:r>
            <a:r>
              <a:rPr lang="en-US" altLang="zh-CN" dirty="0"/>
              <a:t>;</a:t>
            </a:r>
          </a:p>
          <a:p>
            <a:r>
              <a:rPr lang="en-US" altLang="zh-CN" dirty="0"/>
              <a:t>      </a:t>
            </a:r>
            <a:r>
              <a:rPr lang="en-US" altLang="zh-CN" sz="2400" dirty="0" err="1">
                <a:solidFill>
                  <a:srgbClr val="984807"/>
                </a:solidFill>
                <a:latin typeface="方正粗倩简体" panose="03000509000000000000" pitchFamily="65" charset="-122"/>
                <a:ea typeface="方正粗倩简体" panose="03000509000000000000" pitchFamily="65" charset="-122"/>
              </a:rPr>
              <a:t>cin</a:t>
            </a:r>
            <a:r>
              <a:rPr lang="en-US" altLang="zh-CN" sz="2400" dirty="0">
                <a:solidFill>
                  <a:srgbClr val="984807"/>
                </a:solidFill>
                <a:latin typeface="方正粗倩简体" panose="03000509000000000000" pitchFamily="65" charset="-122"/>
                <a:ea typeface="方正粗倩简体" panose="03000509000000000000" pitchFamily="65" charset="-122"/>
              </a:rPr>
              <a:t>&gt;&gt;</a:t>
            </a:r>
            <a:r>
              <a:rPr lang="en-US" altLang="zh-CN" dirty="0"/>
              <a:t>x&gt;&gt;y;</a:t>
            </a:r>
          </a:p>
          <a:p>
            <a:r>
              <a:rPr lang="en-US" altLang="zh-CN" dirty="0"/>
              <a:t>      z=</a:t>
            </a:r>
            <a:r>
              <a:rPr lang="en-US" altLang="zh-CN" dirty="0" err="1"/>
              <a:t>x+y</a:t>
            </a:r>
            <a:r>
              <a:rPr lang="en-US" altLang="zh-CN" dirty="0"/>
              <a:t>;</a:t>
            </a:r>
          </a:p>
          <a:p>
            <a:r>
              <a:rPr lang="en-US" altLang="zh-CN" dirty="0"/>
              <a:t>      </a:t>
            </a:r>
            <a:r>
              <a:rPr lang="en-US" altLang="zh-CN" sz="2400" dirty="0" err="1">
                <a:solidFill>
                  <a:srgbClr val="984807"/>
                </a:solidFill>
                <a:latin typeface="方正粗倩简体" panose="03000509000000000000" pitchFamily="65" charset="-122"/>
                <a:ea typeface="方正粗倩简体" panose="03000509000000000000" pitchFamily="65" charset="-122"/>
              </a:rPr>
              <a:t>cout</a:t>
            </a:r>
            <a:r>
              <a:rPr lang="en-US" altLang="zh-CN" sz="2400" dirty="0">
                <a:solidFill>
                  <a:srgbClr val="984807"/>
                </a:solidFill>
                <a:latin typeface="方正粗倩简体" panose="03000509000000000000" pitchFamily="65" charset="-122"/>
                <a:ea typeface="方正粗倩简体" panose="03000509000000000000" pitchFamily="65" charset="-122"/>
              </a:rPr>
              <a:t>&lt;&lt;</a:t>
            </a:r>
            <a:r>
              <a:rPr lang="en-US" altLang="zh-CN" dirty="0"/>
              <a:t>“z=“&lt;&lt;z&lt;&lt;</a:t>
            </a:r>
            <a:r>
              <a:rPr lang="en-US" altLang="zh-CN" dirty="0" err="1"/>
              <a:t>endl</a:t>
            </a:r>
            <a:r>
              <a:rPr lang="en-US" altLang="zh-CN" dirty="0"/>
              <a:t>;</a:t>
            </a:r>
          </a:p>
          <a:p>
            <a:r>
              <a:rPr lang="en-US" altLang="zh-CN" dirty="0"/>
              <a:t>       return 0;</a:t>
            </a:r>
          </a:p>
          <a:p>
            <a:r>
              <a:rPr lang="en-US" altLang="zh-CN" dirty="0"/>
              <a:t>}</a:t>
            </a:r>
            <a:endParaRPr lang="zh-CN" altLang="en-US" dirty="0"/>
          </a:p>
        </p:txBody>
      </p:sp>
      <p:sp>
        <p:nvSpPr>
          <p:cNvPr id="6" name="文本框 5">
            <a:extLst>
              <a:ext uri="{FF2B5EF4-FFF2-40B4-BE49-F238E27FC236}">
                <a16:creationId xmlns:a16="http://schemas.microsoft.com/office/drawing/2014/main" id="{C45E8939-A71C-455A-838C-8DE8F1EBA823}"/>
              </a:ext>
            </a:extLst>
          </p:cNvPr>
          <p:cNvSpPr txBox="1"/>
          <p:nvPr/>
        </p:nvSpPr>
        <p:spPr>
          <a:xfrm>
            <a:off x="6795714" y="2519544"/>
            <a:ext cx="2160240" cy="2308324"/>
          </a:xfrm>
          <a:prstGeom prst="rect">
            <a:avLst/>
          </a:prstGeom>
          <a:noFill/>
        </p:spPr>
        <p:txBody>
          <a:bodyPr wrap="square" rtlCol="0">
            <a:spAutoFit/>
          </a:bodyPr>
          <a:lstStyle/>
          <a:p>
            <a:r>
              <a:rPr lang="en-US" altLang="zh-CN" dirty="0" err="1"/>
              <a:t>cin</a:t>
            </a:r>
            <a:r>
              <a:rPr lang="en-US" altLang="zh-CN" dirty="0"/>
              <a:t>&gt;&gt;</a:t>
            </a:r>
            <a:r>
              <a:rPr lang="zh-CN" altLang="en-US" dirty="0"/>
              <a:t>变量名</a:t>
            </a:r>
            <a:r>
              <a:rPr lang="en-US" altLang="zh-CN" dirty="0"/>
              <a:t>;</a:t>
            </a:r>
          </a:p>
          <a:p>
            <a:r>
              <a:rPr lang="en-US" altLang="zh-CN" dirty="0" err="1"/>
              <a:t>cout</a:t>
            </a:r>
            <a:r>
              <a:rPr lang="en-US" altLang="zh-CN" dirty="0"/>
              <a:t>&lt;&lt;</a:t>
            </a:r>
            <a:r>
              <a:rPr lang="zh-CN" altLang="en-US" dirty="0"/>
              <a:t>变量名；</a:t>
            </a:r>
            <a:endParaRPr lang="en-US" altLang="zh-CN" dirty="0"/>
          </a:p>
          <a:p>
            <a:r>
              <a:rPr lang="en-US" altLang="zh-CN" dirty="0" err="1"/>
              <a:t>cout</a:t>
            </a:r>
            <a:r>
              <a:rPr lang="en-US" altLang="zh-CN" dirty="0"/>
              <a:t>&lt;&lt;</a:t>
            </a:r>
            <a:r>
              <a:rPr lang="zh-CN" altLang="en-US" dirty="0"/>
              <a:t>表达式</a:t>
            </a:r>
            <a:r>
              <a:rPr lang="en-US" altLang="zh-CN" dirty="0"/>
              <a:t>;</a:t>
            </a:r>
          </a:p>
          <a:p>
            <a:r>
              <a:rPr lang="en-US" altLang="zh-CN" dirty="0" err="1"/>
              <a:t>cout</a:t>
            </a:r>
            <a:r>
              <a:rPr lang="en-US" altLang="zh-CN" dirty="0"/>
              <a:t>&lt;&lt;“</a:t>
            </a:r>
            <a:r>
              <a:rPr lang="zh-CN" altLang="en-US" dirty="0"/>
              <a:t>字符串</a:t>
            </a:r>
            <a:r>
              <a:rPr lang="en-US" altLang="zh-CN" dirty="0"/>
              <a:t>”;</a:t>
            </a:r>
          </a:p>
          <a:p>
            <a:r>
              <a:rPr lang="en-US" altLang="zh-CN" dirty="0" err="1"/>
              <a:t>cout</a:t>
            </a:r>
            <a:r>
              <a:rPr lang="en-US" altLang="zh-CN" dirty="0"/>
              <a:t>&lt;&lt;</a:t>
            </a:r>
            <a:r>
              <a:rPr lang="zh-CN" altLang="en-US" dirty="0"/>
              <a:t>单个字符</a:t>
            </a:r>
            <a:r>
              <a:rPr lang="en-US" altLang="zh-CN" dirty="0"/>
              <a:t>;</a:t>
            </a:r>
          </a:p>
          <a:p>
            <a:r>
              <a:rPr lang="en-US" altLang="zh-CN" dirty="0" err="1"/>
              <a:t>cout</a:t>
            </a:r>
            <a:r>
              <a:rPr lang="en-US" altLang="zh-CN" dirty="0"/>
              <a:t>&lt;&lt;</a:t>
            </a:r>
            <a:r>
              <a:rPr lang="en-US" altLang="zh-CN" dirty="0" err="1"/>
              <a:t>endl</a:t>
            </a:r>
            <a:r>
              <a:rPr lang="en-US" altLang="zh-CN" dirty="0"/>
              <a:t>;</a:t>
            </a:r>
          </a:p>
          <a:p>
            <a:r>
              <a:rPr lang="zh-CN" altLang="en-US" dirty="0"/>
              <a:t>组合</a:t>
            </a:r>
            <a:endParaRPr lang="en-US" altLang="zh-CN" dirty="0"/>
          </a:p>
          <a:p>
            <a:endParaRPr lang="zh-CN" altLang="en-US" dirty="0"/>
          </a:p>
        </p:txBody>
      </p:sp>
    </p:spTree>
    <p:extLst>
      <p:ext uri="{BB962C8B-B14F-4D97-AF65-F5344CB8AC3E}">
        <p14:creationId xmlns:p14="http://schemas.microsoft.com/office/powerpoint/2010/main" val="64673934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C942F-CAF6-E8FC-6E1A-E273C38C4AC9}"/>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F457C31-E9A8-D26E-934C-8C9BEA13C6BC}"/>
              </a:ext>
            </a:extLst>
          </p:cNvPr>
          <p:cNvGrpSpPr/>
          <p:nvPr/>
        </p:nvGrpSpPr>
        <p:grpSpPr>
          <a:xfrm>
            <a:off x="-900608" y="2170566"/>
            <a:ext cx="3412278" cy="2489416"/>
            <a:chOff x="928502" y="2170566"/>
            <a:chExt cx="3412278" cy="2489416"/>
          </a:xfrm>
        </p:grpSpPr>
        <p:sp>
          <p:nvSpPr>
            <p:cNvPr id="34" name="剪去单角的矩形 33">
              <a:extLst>
                <a:ext uri="{FF2B5EF4-FFF2-40B4-BE49-F238E27FC236}">
                  <a16:creationId xmlns:a16="http://schemas.microsoft.com/office/drawing/2014/main" id="{A23860B3-F339-8017-5963-5286140288F2}"/>
                </a:ext>
              </a:extLst>
            </p:cNvPr>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a:extLst>
                <a:ext uri="{FF2B5EF4-FFF2-40B4-BE49-F238E27FC236}">
                  <a16:creationId xmlns:a16="http://schemas.microsoft.com/office/drawing/2014/main" id="{A577B145-5A35-3591-8653-78F96811CBB5}"/>
                </a:ext>
              </a:extLst>
            </p:cNvPr>
            <p:cNvSpPr txBox="1"/>
            <p:nvPr/>
          </p:nvSpPr>
          <p:spPr>
            <a:xfrm>
              <a:off x="2740632" y="2838515"/>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输入</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输出</a:t>
              </a:r>
            </a:p>
          </p:txBody>
        </p:sp>
        <p:pic>
          <p:nvPicPr>
            <p:cNvPr id="37" name="Picture 4" descr="G:\稻壳儿\5\miracomunicazione\shadow3.png">
              <a:extLst>
                <a:ext uri="{FF2B5EF4-FFF2-40B4-BE49-F238E27FC236}">
                  <a16:creationId xmlns:a16="http://schemas.microsoft.com/office/drawing/2014/main" id="{E581C616-778D-C187-E582-ABA243946D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a:extLst>
                <a:ext uri="{FF2B5EF4-FFF2-40B4-BE49-F238E27FC236}">
                  <a16:creationId xmlns:a16="http://schemas.microsoft.com/office/drawing/2014/main" id="{73325C04-F3B2-26DD-9412-B9A8BC26D2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a:extLst>
              <a:ext uri="{FF2B5EF4-FFF2-40B4-BE49-F238E27FC236}">
                <a16:creationId xmlns:a16="http://schemas.microsoft.com/office/drawing/2014/main" id="{035C8EA6-C5D9-ABAB-BD5A-0F5B9DB38109}"/>
              </a:ext>
            </a:extLst>
          </p:cNvPr>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5</a:t>
            </a:r>
            <a:endParaRPr lang="zh-CN" altLang="en-US" b="1" dirty="0">
              <a:solidFill>
                <a:srgbClr val="01497B"/>
              </a:solidFill>
              <a:latin typeface="微软雅黑" pitchFamily="34" charset="-122"/>
              <a:ea typeface="微软雅黑" pitchFamily="34" charset="-122"/>
            </a:endParaRPr>
          </a:p>
        </p:txBody>
      </p:sp>
      <p:grpSp>
        <p:nvGrpSpPr>
          <p:cNvPr id="3" name="组合 2">
            <a:extLst>
              <a:ext uri="{FF2B5EF4-FFF2-40B4-BE49-F238E27FC236}">
                <a16:creationId xmlns:a16="http://schemas.microsoft.com/office/drawing/2014/main" id="{D41025DE-26D1-DF97-854B-FDFA906C6CB9}"/>
              </a:ext>
            </a:extLst>
          </p:cNvPr>
          <p:cNvGrpSpPr/>
          <p:nvPr/>
        </p:nvGrpSpPr>
        <p:grpSpPr>
          <a:xfrm>
            <a:off x="2555774" y="814441"/>
            <a:ext cx="3960442" cy="1037231"/>
            <a:chOff x="3995933" y="814439"/>
            <a:chExt cx="2376267" cy="1037231"/>
          </a:xfrm>
        </p:grpSpPr>
        <p:sp>
          <p:nvSpPr>
            <p:cNvPr id="5" name="TextBox 4">
              <a:extLst>
                <a:ext uri="{FF2B5EF4-FFF2-40B4-BE49-F238E27FC236}">
                  <a16:creationId xmlns:a16="http://schemas.microsoft.com/office/drawing/2014/main" id="{5D822CC6-0A89-B5E9-C381-CC1653B769B5}"/>
                </a:ext>
              </a:extLst>
            </p:cNvPr>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en-US" altLang="zh-CN" sz="2400" dirty="0">
                  <a:latin typeface="方正粗倩简体" panose="03000509000000000000" pitchFamily="65" charset="-122"/>
                  <a:ea typeface="方正粗倩简体" panose="03000509000000000000" pitchFamily="65" charset="-122"/>
                </a:rPr>
                <a:t>C++</a:t>
              </a:r>
              <a:r>
                <a:rPr lang="zh-CN" altLang="en-US" sz="2400" dirty="0">
                  <a:latin typeface="方正粗倩简体" panose="03000509000000000000" pitchFamily="65" charset="-122"/>
                  <a:ea typeface="方正粗倩简体" panose="03000509000000000000" pitchFamily="65" charset="-122"/>
                </a:rPr>
                <a:t>输出格式控制</a:t>
              </a:r>
            </a:p>
          </p:txBody>
        </p:sp>
        <p:pic>
          <p:nvPicPr>
            <p:cNvPr id="18" name="Picture 4" descr="G:\稻壳儿\5\miracomunicazione\shadow3.png">
              <a:extLst>
                <a:ext uri="{FF2B5EF4-FFF2-40B4-BE49-F238E27FC236}">
                  <a16:creationId xmlns:a16="http://schemas.microsoft.com/office/drawing/2014/main" id="{2FE2D8B9-FAEA-F129-ACB3-E35BD1FAF23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a:extLst>
                <a:ext uri="{FF2B5EF4-FFF2-40B4-BE49-F238E27FC236}">
                  <a16:creationId xmlns:a16="http://schemas.microsoft.com/office/drawing/2014/main" id="{FB7597E1-51CB-9910-5E5B-122A9F524C4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extBox 8">
            <a:extLst>
              <a:ext uri="{FF2B5EF4-FFF2-40B4-BE49-F238E27FC236}">
                <a16:creationId xmlns:a16="http://schemas.microsoft.com/office/drawing/2014/main" id="{115EBE91-F53F-FF49-736E-A78C76238CE5}"/>
              </a:ext>
            </a:extLst>
          </p:cNvPr>
          <p:cNvSpPr txBox="1"/>
          <p:nvPr/>
        </p:nvSpPr>
        <p:spPr>
          <a:xfrm>
            <a:off x="2982092" y="1686460"/>
            <a:ext cx="5550348" cy="2769989"/>
          </a:xfrm>
          <a:prstGeom prst="rect">
            <a:avLst/>
          </a:prstGeom>
          <a:noFill/>
        </p:spPr>
        <p:txBody>
          <a:bodyPr wrap="square" rtlCol="0">
            <a:spAutoFit/>
          </a:bodyPr>
          <a:lstStyle/>
          <a:p>
            <a:r>
              <a:rPr lang="zh-CN" altLang="en-US" dirty="0"/>
              <a:t>输出宽度控制</a:t>
            </a:r>
            <a:r>
              <a:rPr lang="en-US" altLang="zh-CN" dirty="0"/>
              <a:t>:</a:t>
            </a:r>
            <a:r>
              <a:rPr lang="en-US" altLang="zh-CN" sz="2400" dirty="0" err="1">
                <a:solidFill>
                  <a:srgbClr val="984807"/>
                </a:solidFill>
                <a:latin typeface="方正粗倩简体" panose="03000509000000000000" pitchFamily="65" charset="-122"/>
                <a:ea typeface="方正粗倩简体" panose="03000509000000000000" pitchFamily="65" charset="-122"/>
              </a:rPr>
              <a:t>setw</a:t>
            </a:r>
            <a:r>
              <a:rPr lang="en-US" altLang="zh-CN" sz="2400" dirty="0">
                <a:solidFill>
                  <a:srgbClr val="984807"/>
                </a:solidFill>
                <a:latin typeface="方正粗倩简体" panose="03000509000000000000" pitchFamily="65" charset="-122"/>
                <a:ea typeface="方正粗倩简体" panose="03000509000000000000" pitchFamily="65" charset="-122"/>
              </a:rPr>
              <a:t>(</a:t>
            </a:r>
            <a:r>
              <a:rPr lang="en-US" altLang="zh-CN" sz="2400" dirty="0" err="1">
                <a:solidFill>
                  <a:srgbClr val="984807"/>
                </a:solidFill>
                <a:latin typeface="方正粗倩简体" panose="03000509000000000000" pitchFamily="65" charset="-122"/>
                <a:ea typeface="方正粗倩简体" panose="03000509000000000000" pitchFamily="65" charset="-122"/>
              </a:rPr>
              <a:t>int</a:t>
            </a:r>
            <a:r>
              <a:rPr lang="en-US" altLang="zh-CN" sz="2400" dirty="0">
                <a:solidFill>
                  <a:srgbClr val="984807"/>
                </a:solidFill>
                <a:latin typeface="方正粗倩简体" panose="03000509000000000000" pitchFamily="65" charset="-122"/>
                <a:ea typeface="方正粗倩简体" panose="03000509000000000000" pitchFamily="65" charset="-122"/>
              </a:rPr>
              <a:t> n)</a:t>
            </a:r>
          </a:p>
          <a:p>
            <a:r>
              <a:rPr lang="zh-CN" altLang="en-US" dirty="0"/>
              <a:t>注意事项：</a:t>
            </a:r>
            <a:endParaRPr lang="en-US" altLang="zh-CN" dirty="0"/>
          </a:p>
          <a:p>
            <a:r>
              <a:rPr lang="en-US" altLang="zh-CN" dirty="0"/>
              <a:t>1</a:t>
            </a:r>
            <a:r>
              <a:rPr lang="en-US" altLang="zh-CN" sz="2400" dirty="0">
                <a:solidFill>
                  <a:srgbClr val="984807"/>
                </a:solidFill>
                <a:latin typeface="方正粗倩简体" panose="03000509000000000000" pitchFamily="65" charset="-122"/>
                <a:ea typeface="方正粗倩简体" panose="03000509000000000000" pitchFamily="65" charset="-122"/>
              </a:rPr>
              <a:t>.#include&lt;</a:t>
            </a:r>
            <a:r>
              <a:rPr lang="en-US" altLang="zh-CN" sz="2400" dirty="0" err="1">
                <a:solidFill>
                  <a:srgbClr val="984807"/>
                </a:solidFill>
                <a:latin typeface="方正粗倩简体" panose="03000509000000000000" pitchFamily="65" charset="-122"/>
                <a:ea typeface="方正粗倩简体" panose="03000509000000000000" pitchFamily="65" charset="-122"/>
              </a:rPr>
              <a:t>iomanip</a:t>
            </a:r>
            <a:r>
              <a:rPr lang="en-US" altLang="zh-CN" sz="2400" dirty="0">
                <a:solidFill>
                  <a:srgbClr val="984807"/>
                </a:solidFill>
                <a:latin typeface="方正粗倩简体" panose="03000509000000000000" pitchFamily="65" charset="-122"/>
                <a:ea typeface="方正粗倩简体" panose="03000509000000000000" pitchFamily="65" charset="-122"/>
              </a:rPr>
              <a:t>&gt;</a:t>
            </a:r>
          </a:p>
          <a:p>
            <a:r>
              <a:rPr lang="en-US" altLang="zh-CN" dirty="0"/>
              <a:t>2.</a:t>
            </a:r>
            <a:r>
              <a:rPr lang="zh-CN" altLang="en-US" dirty="0"/>
              <a:t>输出的总宽度为</a:t>
            </a:r>
            <a:r>
              <a:rPr lang="en-US" altLang="zh-CN" dirty="0"/>
              <a:t>n,</a:t>
            </a:r>
            <a:r>
              <a:rPr lang="zh-CN" altLang="en-US" dirty="0"/>
              <a:t>当数据的宽度</a:t>
            </a:r>
            <a:r>
              <a:rPr lang="en-US" altLang="zh-CN" dirty="0"/>
              <a:t>&lt;n</a:t>
            </a:r>
            <a:r>
              <a:rPr lang="zh-CN" altLang="en-US" dirty="0"/>
              <a:t>时，左边补空格，默认右对齐；当数据宽度</a:t>
            </a:r>
            <a:r>
              <a:rPr lang="en-US" altLang="zh-CN" dirty="0"/>
              <a:t>&gt;n</a:t>
            </a:r>
            <a:r>
              <a:rPr lang="zh-CN" altLang="en-US" dirty="0"/>
              <a:t>时，按实际宽度输出</a:t>
            </a:r>
            <a:endParaRPr lang="en-US" altLang="zh-CN" dirty="0"/>
          </a:p>
          <a:p>
            <a:r>
              <a:rPr lang="en-US" altLang="zh-CN" dirty="0" err="1"/>
              <a:t>cout</a:t>
            </a:r>
            <a:r>
              <a:rPr lang="en-US" altLang="zh-CN" dirty="0"/>
              <a:t>&lt;&lt;</a:t>
            </a:r>
            <a:r>
              <a:rPr lang="en-US" altLang="zh-CN" dirty="0" err="1"/>
              <a:t>setw</a:t>
            </a:r>
            <a:r>
              <a:rPr lang="en-US" altLang="zh-CN" dirty="0"/>
              <a:t>(2)&lt;&lt;123&lt;&lt;</a:t>
            </a:r>
            <a:r>
              <a:rPr lang="en-US" altLang="zh-CN" dirty="0" err="1"/>
              <a:t>endl</a:t>
            </a:r>
            <a:r>
              <a:rPr lang="en-US" altLang="zh-CN" dirty="0"/>
              <a:t>;</a:t>
            </a:r>
          </a:p>
          <a:p>
            <a:r>
              <a:rPr lang="en-US" altLang="zh-CN" dirty="0" err="1"/>
              <a:t>cout</a:t>
            </a:r>
            <a:r>
              <a:rPr lang="en-US" altLang="zh-CN" dirty="0"/>
              <a:t>&lt;&lt;</a:t>
            </a:r>
            <a:r>
              <a:rPr lang="en-US" altLang="zh-CN" dirty="0" err="1"/>
              <a:t>setw</a:t>
            </a:r>
            <a:r>
              <a:rPr lang="en-US" altLang="zh-CN" dirty="0"/>
              <a:t>(6)&lt;&lt;456&lt;&lt;</a:t>
            </a:r>
            <a:r>
              <a:rPr lang="en-US" altLang="zh-CN" dirty="0" err="1"/>
              <a:t>endl</a:t>
            </a:r>
            <a:r>
              <a:rPr lang="en-US" altLang="zh-CN" dirty="0"/>
              <a:t>;</a:t>
            </a:r>
          </a:p>
          <a:p>
            <a:r>
              <a:rPr lang="en-US" altLang="zh-CN" dirty="0"/>
              <a:t>3.setw</a:t>
            </a:r>
            <a:r>
              <a:rPr lang="zh-CN" altLang="en-US" dirty="0"/>
              <a:t>仅对紧随其后的输出内容有效</a:t>
            </a:r>
            <a:endParaRPr lang="en-US" altLang="zh-CN" dirty="0"/>
          </a:p>
          <a:p>
            <a:r>
              <a:rPr lang="en-US" altLang="zh-CN" dirty="0" err="1"/>
              <a:t>cout</a:t>
            </a:r>
            <a:r>
              <a:rPr lang="en-US" altLang="zh-CN" dirty="0"/>
              <a:t>&lt;&lt;789&lt;&lt;</a:t>
            </a:r>
            <a:r>
              <a:rPr lang="en-US" altLang="zh-CN" dirty="0" err="1"/>
              <a:t>endl</a:t>
            </a:r>
            <a:r>
              <a:rPr lang="en-US" altLang="zh-CN" dirty="0"/>
              <a:t>;</a:t>
            </a:r>
            <a:endParaRPr lang="zh-CN" altLang="en-US" dirty="0"/>
          </a:p>
        </p:txBody>
      </p:sp>
    </p:spTree>
    <p:extLst>
      <p:ext uri="{BB962C8B-B14F-4D97-AF65-F5344CB8AC3E}">
        <p14:creationId xmlns:p14="http://schemas.microsoft.com/office/powerpoint/2010/main" val="289018428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61BBA-4F4D-8290-DF1D-9879FCDBB85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7EDD430-CC87-8CBA-4B14-18314E6FC8CF}"/>
              </a:ext>
            </a:extLst>
          </p:cNvPr>
          <p:cNvGrpSpPr/>
          <p:nvPr/>
        </p:nvGrpSpPr>
        <p:grpSpPr>
          <a:xfrm>
            <a:off x="-900608" y="2170566"/>
            <a:ext cx="3412278" cy="2489416"/>
            <a:chOff x="928502" y="2170566"/>
            <a:chExt cx="3412278" cy="2489416"/>
          </a:xfrm>
        </p:grpSpPr>
        <p:sp>
          <p:nvSpPr>
            <p:cNvPr id="34" name="剪去单角的矩形 33">
              <a:extLst>
                <a:ext uri="{FF2B5EF4-FFF2-40B4-BE49-F238E27FC236}">
                  <a16:creationId xmlns:a16="http://schemas.microsoft.com/office/drawing/2014/main" id="{7F2EB7F5-7840-C95D-9309-1CB63055CBE2}"/>
                </a:ext>
              </a:extLst>
            </p:cNvPr>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a:extLst>
                <a:ext uri="{FF2B5EF4-FFF2-40B4-BE49-F238E27FC236}">
                  <a16:creationId xmlns:a16="http://schemas.microsoft.com/office/drawing/2014/main" id="{AC0E095A-94C1-A838-4201-6B1A5BE91DBB}"/>
                </a:ext>
              </a:extLst>
            </p:cNvPr>
            <p:cNvSpPr txBox="1"/>
            <p:nvPr/>
          </p:nvSpPr>
          <p:spPr>
            <a:xfrm>
              <a:off x="2740632" y="2838515"/>
              <a:ext cx="1415264" cy="1077218"/>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输入</a:t>
              </a:r>
              <a:endParaRPr lang="en-US" altLang="zh-CN"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endParaRPr>
            </a:p>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输出</a:t>
              </a:r>
            </a:p>
          </p:txBody>
        </p:sp>
        <p:pic>
          <p:nvPicPr>
            <p:cNvPr id="37" name="Picture 4" descr="G:\稻壳儿\5\miracomunicazione\shadow3.png">
              <a:extLst>
                <a:ext uri="{FF2B5EF4-FFF2-40B4-BE49-F238E27FC236}">
                  <a16:creationId xmlns:a16="http://schemas.microsoft.com/office/drawing/2014/main" id="{0B3EA5B6-355B-6759-B937-91979B2863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a:extLst>
                <a:ext uri="{FF2B5EF4-FFF2-40B4-BE49-F238E27FC236}">
                  <a16:creationId xmlns:a16="http://schemas.microsoft.com/office/drawing/2014/main" id="{118316FD-FABB-3E72-EBAB-97357C7780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a:extLst>
              <a:ext uri="{FF2B5EF4-FFF2-40B4-BE49-F238E27FC236}">
                <a16:creationId xmlns:a16="http://schemas.microsoft.com/office/drawing/2014/main" id="{E1FAD771-341B-A6B4-873D-F25DFF2498CF}"/>
              </a:ext>
            </a:extLst>
          </p:cNvPr>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5</a:t>
            </a:r>
            <a:endParaRPr lang="zh-CN" altLang="en-US" b="1" dirty="0">
              <a:solidFill>
                <a:srgbClr val="01497B"/>
              </a:solidFill>
              <a:latin typeface="微软雅黑" pitchFamily="34" charset="-122"/>
              <a:ea typeface="微软雅黑" pitchFamily="34" charset="-122"/>
            </a:endParaRPr>
          </a:p>
        </p:txBody>
      </p:sp>
      <p:grpSp>
        <p:nvGrpSpPr>
          <p:cNvPr id="3" name="组合 2">
            <a:extLst>
              <a:ext uri="{FF2B5EF4-FFF2-40B4-BE49-F238E27FC236}">
                <a16:creationId xmlns:a16="http://schemas.microsoft.com/office/drawing/2014/main" id="{AA56BFC7-4631-FF7F-EBFF-43EBBE997D2F}"/>
              </a:ext>
            </a:extLst>
          </p:cNvPr>
          <p:cNvGrpSpPr/>
          <p:nvPr/>
        </p:nvGrpSpPr>
        <p:grpSpPr>
          <a:xfrm>
            <a:off x="2591779" y="-33417"/>
            <a:ext cx="3960442" cy="1037231"/>
            <a:chOff x="3995933" y="814439"/>
            <a:chExt cx="2376267" cy="1037231"/>
          </a:xfrm>
        </p:grpSpPr>
        <p:sp>
          <p:nvSpPr>
            <p:cNvPr id="5" name="TextBox 4">
              <a:extLst>
                <a:ext uri="{FF2B5EF4-FFF2-40B4-BE49-F238E27FC236}">
                  <a16:creationId xmlns:a16="http://schemas.microsoft.com/office/drawing/2014/main" id="{E5AE3B5B-71B6-36E7-B628-2E325A7DE278}"/>
                </a:ext>
              </a:extLst>
            </p:cNvPr>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en-US" altLang="zh-CN" sz="2400" dirty="0">
                  <a:latin typeface="方正粗倩简体" panose="03000509000000000000" pitchFamily="65" charset="-122"/>
                  <a:ea typeface="方正粗倩简体" panose="03000509000000000000" pitchFamily="65" charset="-122"/>
                </a:rPr>
                <a:t>C++</a:t>
              </a:r>
              <a:r>
                <a:rPr lang="zh-CN" altLang="en-US" sz="2400" dirty="0">
                  <a:latin typeface="方正粗倩简体" panose="03000509000000000000" pitchFamily="65" charset="-122"/>
                  <a:ea typeface="方正粗倩简体" panose="03000509000000000000" pitchFamily="65" charset="-122"/>
                </a:rPr>
                <a:t>浮点数的输出</a:t>
              </a:r>
            </a:p>
          </p:txBody>
        </p:sp>
        <p:pic>
          <p:nvPicPr>
            <p:cNvPr id="18" name="Picture 4" descr="G:\稻壳儿\5\miracomunicazione\shadow3.png">
              <a:extLst>
                <a:ext uri="{FF2B5EF4-FFF2-40B4-BE49-F238E27FC236}">
                  <a16:creationId xmlns:a16="http://schemas.microsoft.com/office/drawing/2014/main" id="{2AFE28CA-528F-2FAE-C7C4-97A5BAA4A1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a:extLst>
                <a:ext uri="{FF2B5EF4-FFF2-40B4-BE49-F238E27FC236}">
                  <a16:creationId xmlns:a16="http://schemas.microsoft.com/office/drawing/2014/main" id="{358DDAE1-FC3F-C1EA-4880-CF533F7D946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TextBox 6">
            <a:extLst>
              <a:ext uri="{FF2B5EF4-FFF2-40B4-BE49-F238E27FC236}">
                <a16:creationId xmlns:a16="http://schemas.microsoft.com/office/drawing/2014/main" id="{BDBF5684-DD4A-3C11-D543-FABF47B75463}"/>
              </a:ext>
            </a:extLst>
          </p:cNvPr>
          <p:cNvSpPr txBox="1"/>
          <p:nvPr/>
        </p:nvSpPr>
        <p:spPr>
          <a:xfrm>
            <a:off x="2468744" y="919315"/>
            <a:ext cx="5323656" cy="461665"/>
          </a:xfrm>
          <a:prstGeom prst="rect">
            <a:avLst/>
          </a:prstGeom>
          <a:noFill/>
        </p:spPr>
        <p:txBody>
          <a:bodyPr wrap="square" rtlCol="0">
            <a:spAutoFit/>
          </a:bodyPr>
          <a:lstStyle/>
          <a:p>
            <a:r>
              <a:rPr lang="zh-CN" altLang="en-US" sz="2400" dirty="0">
                <a:solidFill>
                  <a:srgbClr val="984807"/>
                </a:solidFill>
                <a:latin typeface="方正粗倩简体" panose="03000509000000000000" pitchFamily="65" charset="-122"/>
                <a:ea typeface="方正粗倩简体" panose="03000509000000000000" pitchFamily="65" charset="-122"/>
              </a:rPr>
              <a:t>默认</a:t>
            </a:r>
            <a:r>
              <a:rPr lang="zh-CN" altLang="en-US" dirty="0"/>
              <a:t>状态下，输出保留</a:t>
            </a:r>
            <a:r>
              <a:rPr lang="zh-CN" altLang="en-US" sz="2400" dirty="0">
                <a:solidFill>
                  <a:srgbClr val="984807"/>
                </a:solidFill>
                <a:latin typeface="方正粗倩简体" panose="03000509000000000000" pitchFamily="65" charset="-122"/>
                <a:ea typeface="方正粗倩简体" panose="03000509000000000000" pitchFamily="65" charset="-122"/>
              </a:rPr>
              <a:t>六</a:t>
            </a:r>
            <a:r>
              <a:rPr lang="zh-CN" altLang="en-US" dirty="0"/>
              <a:t>位有效数字</a:t>
            </a:r>
            <a:endParaRPr lang="en-US" altLang="zh-CN" dirty="0"/>
          </a:p>
        </p:txBody>
      </p:sp>
      <p:sp>
        <p:nvSpPr>
          <p:cNvPr id="6" name="TextBox 14">
            <a:extLst>
              <a:ext uri="{FF2B5EF4-FFF2-40B4-BE49-F238E27FC236}">
                <a16:creationId xmlns:a16="http://schemas.microsoft.com/office/drawing/2014/main" id="{B7A24F74-9A54-332F-CC6C-7905B9C46150}"/>
              </a:ext>
            </a:extLst>
          </p:cNvPr>
          <p:cNvSpPr txBox="1"/>
          <p:nvPr/>
        </p:nvSpPr>
        <p:spPr>
          <a:xfrm>
            <a:off x="2896444" y="1502292"/>
            <a:ext cx="5976664" cy="738664"/>
          </a:xfrm>
          <a:prstGeom prst="rect">
            <a:avLst/>
          </a:prstGeom>
          <a:noFill/>
        </p:spPr>
        <p:txBody>
          <a:bodyPr wrap="square" rtlCol="0">
            <a:spAutoFit/>
          </a:bodyPr>
          <a:lstStyle/>
          <a:p>
            <a:r>
              <a:rPr lang="en-US" altLang="zh-CN" dirty="0"/>
              <a:t>1.#include&lt;</a:t>
            </a:r>
            <a:r>
              <a:rPr lang="en-US" altLang="zh-CN" dirty="0" err="1"/>
              <a:t>iomanip</a:t>
            </a:r>
            <a:r>
              <a:rPr lang="en-US" altLang="zh-CN" dirty="0"/>
              <a:t>&gt;</a:t>
            </a:r>
          </a:p>
          <a:p>
            <a:r>
              <a:rPr lang="en-US" altLang="zh-CN" dirty="0"/>
              <a:t>2.</a:t>
            </a:r>
            <a:r>
              <a:rPr lang="zh-CN" altLang="en-US" dirty="0"/>
              <a:t>系统自动选择科学计数法和自然输出法中</a:t>
            </a:r>
            <a:r>
              <a:rPr lang="zh-CN" altLang="en-US" sz="2400" dirty="0">
                <a:solidFill>
                  <a:srgbClr val="984807"/>
                </a:solidFill>
                <a:latin typeface="方正粗倩简体" panose="03000509000000000000" pitchFamily="65" charset="-122"/>
                <a:ea typeface="方正粗倩简体" panose="03000509000000000000" pitchFamily="65" charset="-122"/>
              </a:rPr>
              <a:t>较短</a:t>
            </a:r>
            <a:r>
              <a:rPr lang="zh-CN" altLang="en-US" dirty="0"/>
              <a:t>的一种</a:t>
            </a:r>
          </a:p>
        </p:txBody>
      </p:sp>
      <p:sp>
        <p:nvSpPr>
          <p:cNvPr id="8" name="TextBox 7">
            <a:extLst>
              <a:ext uri="{FF2B5EF4-FFF2-40B4-BE49-F238E27FC236}">
                <a16:creationId xmlns:a16="http://schemas.microsoft.com/office/drawing/2014/main" id="{0C0EA942-C710-486E-2426-5DEF7D4DFB18}"/>
              </a:ext>
            </a:extLst>
          </p:cNvPr>
          <p:cNvSpPr txBox="1"/>
          <p:nvPr/>
        </p:nvSpPr>
        <p:spPr>
          <a:xfrm>
            <a:off x="2911004" y="2240956"/>
            <a:ext cx="5200574" cy="646331"/>
          </a:xfrm>
          <a:prstGeom prst="rect">
            <a:avLst/>
          </a:prstGeom>
          <a:noFill/>
        </p:spPr>
        <p:txBody>
          <a:bodyPr wrap="square" rtlCol="0">
            <a:spAutoFit/>
          </a:bodyPr>
          <a:lstStyle/>
          <a:p>
            <a:r>
              <a:rPr lang="en-US" altLang="zh-CN" dirty="0"/>
              <a:t>3.setprecision(</a:t>
            </a:r>
            <a:r>
              <a:rPr lang="en-US" altLang="zh-CN" dirty="0" err="1"/>
              <a:t>int</a:t>
            </a:r>
            <a:r>
              <a:rPr lang="en-US" altLang="zh-CN" dirty="0"/>
              <a:t> n)</a:t>
            </a:r>
            <a:r>
              <a:rPr lang="zh-CN" altLang="en-US" dirty="0"/>
              <a:t>单独使用</a:t>
            </a:r>
            <a:endParaRPr lang="en-US" altLang="zh-CN" dirty="0"/>
          </a:p>
          <a:p>
            <a:r>
              <a:rPr lang="zh-CN" altLang="en-US" dirty="0"/>
              <a:t>整数和小数总的数值个数不超过</a:t>
            </a:r>
            <a:r>
              <a:rPr lang="en-US" altLang="zh-CN" dirty="0"/>
              <a:t>n</a:t>
            </a:r>
            <a:r>
              <a:rPr lang="zh-CN" altLang="en-US" dirty="0"/>
              <a:t>位</a:t>
            </a:r>
            <a:endParaRPr lang="en-US" altLang="zh-CN" dirty="0"/>
          </a:p>
        </p:txBody>
      </p:sp>
      <p:sp>
        <p:nvSpPr>
          <p:cNvPr id="9" name="TextBox 8">
            <a:extLst>
              <a:ext uri="{FF2B5EF4-FFF2-40B4-BE49-F238E27FC236}">
                <a16:creationId xmlns:a16="http://schemas.microsoft.com/office/drawing/2014/main" id="{F8C5CD76-39B3-1B6E-D931-49B94957A5A1}"/>
              </a:ext>
            </a:extLst>
          </p:cNvPr>
          <p:cNvSpPr txBox="1"/>
          <p:nvPr/>
        </p:nvSpPr>
        <p:spPr>
          <a:xfrm>
            <a:off x="2915816" y="2873310"/>
            <a:ext cx="4804228" cy="646331"/>
          </a:xfrm>
          <a:prstGeom prst="rect">
            <a:avLst/>
          </a:prstGeom>
          <a:noFill/>
        </p:spPr>
        <p:txBody>
          <a:bodyPr wrap="square" rtlCol="0">
            <a:spAutoFit/>
          </a:bodyPr>
          <a:lstStyle/>
          <a:p>
            <a:r>
              <a:rPr lang="en-US" altLang="zh-CN" dirty="0"/>
              <a:t>4.setprecision</a:t>
            </a:r>
            <a:r>
              <a:rPr lang="zh-CN" altLang="en-US" dirty="0"/>
              <a:t>与</a:t>
            </a:r>
            <a:r>
              <a:rPr lang="en-US" altLang="zh-CN" dirty="0"/>
              <a:t>fixed</a:t>
            </a:r>
            <a:r>
              <a:rPr lang="zh-CN" altLang="en-US" dirty="0"/>
              <a:t>结合使用</a:t>
            </a:r>
            <a:endParaRPr lang="en-US" altLang="zh-CN" dirty="0"/>
          </a:p>
          <a:p>
            <a:r>
              <a:rPr lang="zh-CN" altLang="en-US" dirty="0"/>
              <a:t>保留</a:t>
            </a:r>
            <a:r>
              <a:rPr lang="en-US" altLang="zh-CN" dirty="0"/>
              <a:t>n</a:t>
            </a:r>
            <a:r>
              <a:rPr lang="zh-CN" altLang="en-US" dirty="0"/>
              <a:t>位小数</a:t>
            </a:r>
          </a:p>
        </p:txBody>
      </p:sp>
      <p:sp>
        <p:nvSpPr>
          <p:cNvPr id="10" name="TextBox 11">
            <a:extLst>
              <a:ext uri="{FF2B5EF4-FFF2-40B4-BE49-F238E27FC236}">
                <a16:creationId xmlns:a16="http://schemas.microsoft.com/office/drawing/2014/main" id="{B7D515FD-D488-2F54-C6B7-9E2EFB46158E}"/>
              </a:ext>
            </a:extLst>
          </p:cNvPr>
          <p:cNvSpPr txBox="1"/>
          <p:nvPr/>
        </p:nvSpPr>
        <p:spPr>
          <a:xfrm>
            <a:off x="2921546" y="3589162"/>
            <a:ext cx="4905828" cy="369332"/>
          </a:xfrm>
          <a:prstGeom prst="rect">
            <a:avLst/>
          </a:prstGeom>
          <a:noFill/>
        </p:spPr>
        <p:txBody>
          <a:bodyPr wrap="square" rtlCol="0">
            <a:spAutoFit/>
          </a:bodyPr>
          <a:lstStyle/>
          <a:p>
            <a:r>
              <a:rPr lang="en-US" altLang="zh-CN" dirty="0"/>
              <a:t>5.</a:t>
            </a:r>
            <a:r>
              <a:rPr lang="zh-CN" altLang="en-US" dirty="0"/>
              <a:t>设置对后面的输出一直有效</a:t>
            </a:r>
          </a:p>
        </p:txBody>
      </p:sp>
      <p:sp>
        <p:nvSpPr>
          <p:cNvPr id="14" name="TextBox 22">
            <a:extLst>
              <a:ext uri="{FF2B5EF4-FFF2-40B4-BE49-F238E27FC236}">
                <a16:creationId xmlns:a16="http://schemas.microsoft.com/office/drawing/2014/main" id="{286A65CE-AF9D-466C-BBA4-77109AA6FC31}"/>
              </a:ext>
            </a:extLst>
          </p:cNvPr>
          <p:cNvSpPr txBox="1"/>
          <p:nvPr/>
        </p:nvSpPr>
        <p:spPr>
          <a:xfrm>
            <a:off x="2843808" y="4008444"/>
            <a:ext cx="4317106" cy="923330"/>
          </a:xfrm>
          <a:prstGeom prst="rect">
            <a:avLst/>
          </a:prstGeom>
          <a:noFill/>
        </p:spPr>
        <p:txBody>
          <a:bodyPr wrap="square" rtlCol="0">
            <a:spAutoFit/>
          </a:bodyPr>
          <a:lstStyle/>
          <a:p>
            <a:r>
              <a:rPr lang="en-US" altLang="zh-CN" dirty="0"/>
              <a:t>double a=123.456789</a:t>
            </a:r>
            <a:r>
              <a:rPr lang="zh-CN" altLang="en-US" dirty="0"/>
              <a:t>；</a:t>
            </a:r>
            <a:endParaRPr lang="en-US" altLang="zh-CN" dirty="0"/>
          </a:p>
          <a:p>
            <a:r>
              <a:rPr lang="en-US" altLang="zh-CN" dirty="0" err="1"/>
              <a:t>cout</a:t>
            </a:r>
            <a:r>
              <a:rPr lang="en-US" altLang="zh-CN" dirty="0"/>
              <a:t>&lt;&lt;</a:t>
            </a:r>
            <a:r>
              <a:rPr lang="en-US" altLang="zh-CN" dirty="0" err="1"/>
              <a:t>setprecision</a:t>
            </a:r>
            <a:r>
              <a:rPr lang="en-US" altLang="zh-CN" dirty="0"/>
              <a:t>(5)&lt;&lt;a&lt;&lt;</a:t>
            </a:r>
            <a:r>
              <a:rPr lang="en-US" altLang="zh-CN" dirty="0" err="1"/>
              <a:t>endl</a:t>
            </a:r>
            <a:r>
              <a:rPr lang="en-US" altLang="zh-CN" dirty="0"/>
              <a:t>;</a:t>
            </a:r>
          </a:p>
          <a:p>
            <a:r>
              <a:rPr lang="en-US" altLang="zh-CN" dirty="0"/>
              <a:t>//</a:t>
            </a:r>
            <a:r>
              <a:rPr lang="en-US" altLang="zh-CN" dirty="0" err="1"/>
              <a:t>cout</a:t>
            </a:r>
            <a:r>
              <a:rPr lang="en-US" altLang="zh-CN" dirty="0"/>
              <a:t>&lt;&lt;fixed&lt;&lt;</a:t>
            </a:r>
            <a:r>
              <a:rPr lang="en-US" altLang="zh-CN" dirty="0" err="1"/>
              <a:t>setprecision</a:t>
            </a:r>
            <a:r>
              <a:rPr lang="en-US" altLang="zh-CN" dirty="0"/>
              <a:t>(5)&lt;&lt;a&lt;&lt;</a:t>
            </a:r>
            <a:r>
              <a:rPr lang="en-US" altLang="zh-CN" dirty="0" err="1"/>
              <a:t>endl</a:t>
            </a:r>
            <a:r>
              <a:rPr lang="en-US" altLang="zh-CN" dirty="0"/>
              <a:t>;</a:t>
            </a:r>
            <a:endParaRPr lang="zh-CN" altLang="en-US" dirty="0"/>
          </a:p>
        </p:txBody>
      </p:sp>
    </p:spTree>
    <p:extLst>
      <p:ext uri="{BB962C8B-B14F-4D97-AF65-F5344CB8AC3E}">
        <p14:creationId xmlns:p14="http://schemas.microsoft.com/office/powerpoint/2010/main" val="404928867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0-#ppt_w/2"/>
                                          </p:val>
                                        </p:tav>
                                        <p:tav tm="100000">
                                          <p:val>
                                            <p:strVal val="#ppt_x"/>
                                          </p:val>
                                        </p:tav>
                                      </p:tavLst>
                                    </p:anim>
                                    <p:anim calcmode="lin" valueType="num">
                                      <p:cBhvr additive="base">
                                        <p:cTn id="2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1+#ppt_w/2"/>
                                          </p:val>
                                        </p:tav>
                                        <p:tav tm="100000">
                                          <p:val>
                                            <p:strVal val="#ppt_x"/>
                                          </p:val>
                                        </p:tav>
                                      </p:tavLst>
                                    </p:anim>
                                    <p:anim calcmode="lin" valueType="num">
                                      <p:cBhvr additive="base">
                                        <p:cTn id="36"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723964" y="3047600"/>
              <a:ext cx="1415264"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宏定义</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6</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04023" y="451867"/>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不带参数的宏定义</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2537215" y="1272272"/>
            <a:ext cx="6588226" cy="2308324"/>
          </a:xfrm>
          <a:prstGeom prst="rect">
            <a:avLst/>
          </a:prstGeom>
          <a:noFill/>
        </p:spPr>
        <p:txBody>
          <a:bodyPr wrap="square" rtlCol="0">
            <a:spAutoFit/>
          </a:bodyPr>
          <a:lstStyle/>
          <a:p>
            <a:r>
              <a:rPr lang="zh-CN" altLang="en-US" dirty="0">
                <a:latin typeface="华文仿宋" panose="02010600040101010101" pitchFamily="2" charset="-122"/>
                <a:ea typeface="华文仿宋" panose="02010600040101010101" pitchFamily="2" charset="-122"/>
              </a:rPr>
              <a:t>用指定的标识符</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宏名</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代表一串字符串：</a:t>
            </a:r>
            <a:endParaRPr lang="en-US" altLang="zh-CN" dirty="0">
              <a:latin typeface="华文仿宋" panose="02010600040101010101" pitchFamily="2" charset="-122"/>
              <a:ea typeface="华文仿宋" panose="02010600040101010101" pitchFamily="2" charset="-122"/>
            </a:endParaRPr>
          </a:p>
          <a:p>
            <a:r>
              <a:rPr lang="en-US" altLang="zh-CN" dirty="0">
                <a:latin typeface="华文仿宋" panose="02010600040101010101" pitchFamily="2" charset="-122"/>
                <a:ea typeface="华文仿宋" panose="02010600040101010101" pitchFamily="2" charset="-122"/>
              </a:rPr>
              <a:t>	#define </a:t>
            </a:r>
            <a:r>
              <a:rPr lang="zh-CN" altLang="en-US" dirty="0">
                <a:latin typeface="华文仿宋" panose="02010600040101010101" pitchFamily="2" charset="-122"/>
                <a:ea typeface="华文仿宋" panose="02010600040101010101" pitchFamily="2" charset="-122"/>
              </a:rPr>
              <a:t>标识符 字符串</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①宏名的有效范围为该宏定义命令之后至本源文件结束。通常，宏定义命令一般写在文件开头或函数之前作为该文件的一部分。</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②能够用</a:t>
            </a:r>
            <a:r>
              <a:rPr lang="en-US" altLang="zh-CN" dirty="0">
                <a:latin typeface="华文仿宋" panose="02010600040101010101" pitchFamily="2" charset="-122"/>
                <a:ea typeface="华文仿宋" panose="02010600040101010101" pitchFamily="2" charset="-122"/>
              </a:rPr>
              <a:t>#undef</a:t>
            </a:r>
            <a:r>
              <a:rPr lang="zh-CN" altLang="en-US" dirty="0">
                <a:latin typeface="华文仿宋" panose="02010600040101010101" pitchFamily="2" charset="-122"/>
                <a:ea typeface="华文仿宋" panose="02010600040101010101" pitchFamily="2" charset="-122"/>
              </a:rPr>
              <a:t>命令终止宏定义的作用域。</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③进行宏定义时，能够引用已定义的宏定义，层层置换。</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④对程序中用双引号括起来的字符串，即使与宏名相同，也不能被置换。</a:t>
            </a:r>
            <a:endParaRPr lang="en-US" altLang="zh-CN" dirty="0">
              <a:latin typeface="华文仿宋" panose="02010600040101010101" pitchFamily="2" charset="-122"/>
              <a:ea typeface="华文仿宋" panose="02010600040101010101" pitchFamily="2" charset="-122"/>
            </a:endParaRPr>
          </a:p>
        </p:txBody>
      </p:sp>
      <p:sp>
        <p:nvSpPr>
          <p:cNvPr id="6" name="文本框 5">
            <a:extLst>
              <a:ext uri="{FF2B5EF4-FFF2-40B4-BE49-F238E27FC236}">
                <a16:creationId xmlns:a16="http://schemas.microsoft.com/office/drawing/2014/main" id="{FB3FA240-0C0A-4E2F-8674-D296AF8A22D7}"/>
              </a:ext>
            </a:extLst>
          </p:cNvPr>
          <p:cNvSpPr txBox="1"/>
          <p:nvPr/>
        </p:nvSpPr>
        <p:spPr>
          <a:xfrm>
            <a:off x="3699712" y="3219822"/>
            <a:ext cx="4680520" cy="2062103"/>
          </a:xfrm>
          <a:prstGeom prst="rect">
            <a:avLst/>
          </a:prstGeom>
          <a:noFill/>
        </p:spPr>
        <p:txBody>
          <a:bodyPr wrap="square" rtlCol="0">
            <a:spAutoFit/>
          </a:bodyPr>
          <a:lstStyle/>
          <a:p>
            <a:r>
              <a:rPr lang="zh-CN" altLang="en-US" sz="1600" b="1" dirty="0">
                <a:solidFill>
                  <a:srgbClr val="0070C0"/>
                </a:solidFill>
              </a:rPr>
              <a:t>例</a:t>
            </a:r>
            <a:r>
              <a:rPr lang="en-US" altLang="zh-CN" sz="1600" b="1" dirty="0">
                <a:solidFill>
                  <a:srgbClr val="0070C0"/>
                </a:solidFill>
              </a:rPr>
              <a:t>2_4</a:t>
            </a:r>
            <a:r>
              <a:rPr lang="zh-CN" altLang="en-US" sz="1600" b="1" dirty="0">
                <a:solidFill>
                  <a:srgbClr val="0070C0"/>
                </a:solidFill>
              </a:rPr>
              <a:t>：</a:t>
            </a:r>
            <a:endParaRPr lang="en-US" altLang="zh-CN" sz="1600" b="1" dirty="0">
              <a:solidFill>
                <a:srgbClr val="0070C0"/>
              </a:solidFill>
            </a:endParaRPr>
          </a:p>
          <a:p>
            <a:r>
              <a:rPr lang="en-US" altLang="zh-CN" sz="1600" b="1" dirty="0">
                <a:solidFill>
                  <a:srgbClr val="0070C0"/>
                </a:solidFill>
              </a:rPr>
              <a:t>#define PI 3.1415</a:t>
            </a:r>
          </a:p>
          <a:p>
            <a:r>
              <a:rPr lang="en-US" altLang="zh-CN" sz="1600" b="1" dirty="0">
                <a:solidFill>
                  <a:srgbClr val="0070C0"/>
                </a:solidFill>
              </a:rPr>
              <a:t>#define S PI*3*3</a:t>
            </a:r>
          </a:p>
          <a:p>
            <a:r>
              <a:rPr lang="en-US" altLang="zh-CN" sz="1600" b="1" dirty="0">
                <a:solidFill>
                  <a:srgbClr val="0070C0"/>
                </a:solidFill>
              </a:rPr>
              <a:t>int main()</a:t>
            </a:r>
          </a:p>
          <a:p>
            <a:r>
              <a:rPr lang="en-US" altLang="zh-CN" sz="1600" b="1" dirty="0">
                <a:solidFill>
                  <a:srgbClr val="0070C0"/>
                </a:solidFill>
              </a:rPr>
              <a:t>{</a:t>
            </a:r>
            <a:br>
              <a:rPr lang="en-US" altLang="zh-CN" sz="1600" b="1" dirty="0">
                <a:solidFill>
                  <a:srgbClr val="0070C0"/>
                </a:solidFill>
              </a:rPr>
            </a:br>
            <a:r>
              <a:rPr lang="en-US" altLang="zh-CN" sz="1600" b="1" dirty="0">
                <a:solidFill>
                  <a:srgbClr val="0070C0"/>
                </a:solidFill>
              </a:rPr>
              <a:t>}</a:t>
            </a:r>
          </a:p>
          <a:p>
            <a:r>
              <a:rPr lang="en-US" altLang="zh-CN" sz="1600" b="1" dirty="0">
                <a:solidFill>
                  <a:srgbClr val="0070C0"/>
                </a:solidFill>
              </a:rPr>
              <a:t>#</a:t>
            </a:r>
            <a:r>
              <a:rPr lang="en-US" altLang="zh-CN" sz="1600" b="1" dirty="0" err="1">
                <a:solidFill>
                  <a:srgbClr val="0070C0"/>
                </a:solidFill>
              </a:rPr>
              <a:t>undef</a:t>
            </a:r>
            <a:r>
              <a:rPr lang="en-US" altLang="zh-CN" sz="1600" b="1" dirty="0">
                <a:solidFill>
                  <a:srgbClr val="0070C0"/>
                </a:solidFill>
              </a:rPr>
              <a:t> s//</a:t>
            </a:r>
            <a:r>
              <a:rPr lang="zh-CN" altLang="en-US" sz="1600" b="1" dirty="0">
                <a:solidFill>
                  <a:srgbClr val="0070C0"/>
                </a:solidFill>
              </a:rPr>
              <a:t>终止宏定义作用域</a:t>
            </a:r>
            <a:endParaRPr lang="en-US" altLang="zh-CN" sz="1600" b="1" dirty="0">
              <a:solidFill>
                <a:srgbClr val="0070C0"/>
              </a:solidFill>
            </a:endParaRPr>
          </a:p>
          <a:p>
            <a:r>
              <a:rPr lang="en-US" altLang="zh-CN" sz="1600" b="1" dirty="0">
                <a:solidFill>
                  <a:srgbClr val="0070C0"/>
                </a:solidFill>
              </a:rPr>
              <a:t>…</a:t>
            </a:r>
            <a:endParaRPr lang="zh-CN" altLang="en-US" sz="1600" b="1" dirty="0">
              <a:solidFill>
                <a:srgbClr val="0070C0"/>
              </a:solidFill>
            </a:endParaRPr>
          </a:p>
        </p:txBody>
      </p:sp>
    </p:spTree>
    <p:extLst>
      <p:ext uri="{BB962C8B-B14F-4D97-AF65-F5344CB8AC3E}">
        <p14:creationId xmlns:p14="http://schemas.microsoft.com/office/powerpoint/2010/main" val="351527676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2330-6799-20F3-4C9F-0B8499397D44}"/>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D22130A-0C78-0B4A-BF2B-1CD7FB92F560}"/>
              </a:ext>
            </a:extLst>
          </p:cNvPr>
          <p:cNvGrpSpPr/>
          <p:nvPr/>
        </p:nvGrpSpPr>
        <p:grpSpPr>
          <a:xfrm>
            <a:off x="-900608" y="2170566"/>
            <a:ext cx="3412278" cy="2489416"/>
            <a:chOff x="928502" y="2170566"/>
            <a:chExt cx="3412278" cy="2489416"/>
          </a:xfrm>
        </p:grpSpPr>
        <p:sp>
          <p:nvSpPr>
            <p:cNvPr id="34" name="剪去单角的矩形 33">
              <a:extLst>
                <a:ext uri="{FF2B5EF4-FFF2-40B4-BE49-F238E27FC236}">
                  <a16:creationId xmlns:a16="http://schemas.microsoft.com/office/drawing/2014/main" id="{D0E8929A-BE69-DBE8-819E-70F7861EEEAF}"/>
                </a:ext>
              </a:extLst>
            </p:cNvPr>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a:extLst>
                <a:ext uri="{FF2B5EF4-FFF2-40B4-BE49-F238E27FC236}">
                  <a16:creationId xmlns:a16="http://schemas.microsoft.com/office/drawing/2014/main" id="{6A00D1BC-1025-1A35-767D-1D7DF4453D4B}"/>
                </a:ext>
              </a:extLst>
            </p:cNvPr>
            <p:cNvSpPr txBox="1"/>
            <p:nvPr/>
          </p:nvSpPr>
          <p:spPr>
            <a:xfrm>
              <a:off x="2723964" y="3047600"/>
              <a:ext cx="1415264"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宏定义</a:t>
              </a:r>
            </a:p>
          </p:txBody>
        </p:sp>
        <p:pic>
          <p:nvPicPr>
            <p:cNvPr id="37" name="Picture 4" descr="G:\稻壳儿\5\miracomunicazione\shadow3.png">
              <a:extLst>
                <a:ext uri="{FF2B5EF4-FFF2-40B4-BE49-F238E27FC236}">
                  <a16:creationId xmlns:a16="http://schemas.microsoft.com/office/drawing/2014/main" id="{ED28C049-D575-97DC-B264-E7092E2366F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a:extLst>
                <a:ext uri="{FF2B5EF4-FFF2-40B4-BE49-F238E27FC236}">
                  <a16:creationId xmlns:a16="http://schemas.microsoft.com/office/drawing/2014/main" id="{C10F4146-CDAB-DB5A-5C61-3A7BFF05424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a:extLst>
              <a:ext uri="{FF2B5EF4-FFF2-40B4-BE49-F238E27FC236}">
                <a16:creationId xmlns:a16="http://schemas.microsoft.com/office/drawing/2014/main" id="{4AE1CB22-DB68-F63D-96FA-96B5FBA91F95}"/>
              </a:ext>
            </a:extLst>
          </p:cNvPr>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6</a:t>
            </a:r>
            <a:endParaRPr lang="zh-CN" altLang="en-US" b="1" dirty="0">
              <a:solidFill>
                <a:srgbClr val="01497B"/>
              </a:solidFill>
              <a:latin typeface="微软雅黑" pitchFamily="34" charset="-122"/>
              <a:ea typeface="微软雅黑" pitchFamily="34" charset="-122"/>
            </a:endParaRPr>
          </a:p>
        </p:txBody>
      </p:sp>
      <p:grpSp>
        <p:nvGrpSpPr>
          <p:cNvPr id="3" name="组合 2">
            <a:extLst>
              <a:ext uri="{FF2B5EF4-FFF2-40B4-BE49-F238E27FC236}">
                <a16:creationId xmlns:a16="http://schemas.microsoft.com/office/drawing/2014/main" id="{43D608A3-5670-0D0B-A0F5-C216653ED573}"/>
              </a:ext>
            </a:extLst>
          </p:cNvPr>
          <p:cNvGrpSpPr/>
          <p:nvPr/>
        </p:nvGrpSpPr>
        <p:grpSpPr>
          <a:xfrm>
            <a:off x="2504023" y="451867"/>
            <a:ext cx="3960442" cy="1037231"/>
            <a:chOff x="3995933" y="814439"/>
            <a:chExt cx="2376267" cy="1037231"/>
          </a:xfrm>
        </p:grpSpPr>
        <p:sp>
          <p:nvSpPr>
            <p:cNvPr id="5" name="TextBox 4">
              <a:extLst>
                <a:ext uri="{FF2B5EF4-FFF2-40B4-BE49-F238E27FC236}">
                  <a16:creationId xmlns:a16="http://schemas.microsoft.com/office/drawing/2014/main" id="{E945D46B-A206-9C9F-17BD-CA5A052874F6}"/>
                </a:ext>
              </a:extLst>
            </p:cNvPr>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带参数的宏定义</a:t>
              </a:r>
            </a:p>
          </p:txBody>
        </p:sp>
        <p:pic>
          <p:nvPicPr>
            <p:cNvPr id="18" name="Picture 4" descr="G:\稻壳儿\5\miracomunicazione\shadow3.png">
              <a:extLst>
                <a:ext uri="{FF2B5EF4-FFF2-40B4-BE49-F238E27FC236}">
                  <a16:creationId xmlns:a16="http://schemas.microsoft.com/office/drawing/2014/main" id="{73D03B76-B59E-80EB-16F2-6D9336F525B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a:extLst>
                <a:ext uri="{FF2B5EF4-FFF2-40B4-BE49-F238E27FC236}">
                  <a16:creationId xmlns:a16="http://schemas.microsoft.com/office/drawing/2014/main" id="{01A7D6FD-FBB5-C1E8-0521-B9990D49EA0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a:extLst>
              <a:ext uri="{FF2B5EF4-FFF2-40B4-BE49-F238E27FC236}">
                <a16:creationId xmlns:a16="http://schemas.microsoft.com/office/drawing/2014/main" id="{EE7783BE-84A0-D708-84C2-526AC8FBF292}"/>
              </a:ext>
            </a:extLst>
          </p:cNvPr>
          <p:cNvSpPr txBox="1"/>
          <p:nvPr/>
        </p:nvSpPr>
        <p:spPr>
          <a:xfrm>
            <a:off x="2537215" y="1272272"/>
            <a:ext cx="6588226" cy="1754326"/>
          </a:xfrm>
          <a:prstGeom prst="rect">
            <a:avLst/>
          </a:prstGeom>
          <a:noFill/>
        </p:spPr>
        <p:txBody>
          <a:bodyPr wrap="square" rtlCol="0">
            <a:spAutoFit/>
          </a:bodyPr>
          <a:lstStyle/>
          <a:p>
            <a:r>
              <a:rPr lang="zh-CN" altLang="en-US" dirty="0">
                <a:latin typeface="华文仿宋" panose="02010600040101010101" pitchFamily="2" charset="-122"/>
                <a:ea typeface="华文仿宋" panose="02010600040101010101" pitchFamily="2" charset="-122"/>
              </a:rPr>
              <a:t>宏可以有参数，带参数的宏定义的一般形式为：</a:t>
            </a:r>
            <a:endParaRPr lang="en-US" altLang="zh-CN" dirty="0">
              <a:latin typeface="华文仿宋" panose="02010600040101010101" pitchFamily="2" charset="-122"/>
              <a:ea typeface="华文仿宋" panose="02010600040101010101" pitchFamily="2" charset="-122"/>
            </a:endParaRPr>
          </a:p>
          <a:p>
            <a:r>
              <a:rPr lang="en-US" altLang="zh-CN" dirty="0">
                <a:latin typeface="华文仿宋" panose="02010600040101010101" pitchFamily="2" charset="-122"/>
                <a:ea typeface="华文仿宋" panose="02010600040101010101" pitchFamily="2" charset="-122"/>
              </a:rPr>
              <a:t>	#define </a:t>
            </a:r>
            <a:r>
              <a:rPr lang="zh-CN" altLang="en-US" dirty="0">
                <a:latin typeface="华文仿宋" panose="02010600040101010101" pitchFamily="2" charset="-122"/>
                <a:ea typeface="华文仿宋" panose="02010600040101010101" pitchFamily="2" charset="-122"/>
              </a:rPr>
              <a:t>标识符</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标识符</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标识符</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标识符</a:t>
            </a:r>
            <a:r>
              <a:rPr lang="en-US" altLang="zh-CN" dirty="0">
                <a:latin typeface="华文仿宋" panose="02010600040101010101" pitchFamily="2" charset="-122"/>
                <a:ea typeface="华文仿宋" panose="02010600040101010101" pitchFamily="2" charset="-122"/>
              </a:rPr>
              <a:t>) </a:t>
            </a:r>
            <a:r>
              <a:rPr lang="zh-CN" altLang="en-US" dirty="0">
                <a:latin typeface="华文仿宋" panose="02010600040101010101" pitchFamily="2" charset="-122"/>
                <a:ea typeface="华文仿宋" panose="02010600040101010101" pitchFamily="2" charset="-122"/>
              </a:rPr>
              <a:t>字符串</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①第一个标识符是宏名，它与左括号之间不能有空格</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②在带参数的宏定义中，如果串是一个含有运算符的表达式，则串中的每个参数都必须用括号括起来，整个表达式也要用括号括起来，否则，替换结果可能与原来的语义不等价。</a:t>
            </a:r>
            <a:endParaRPr lang="en-US" altLang="zh-CN" dirty="0">
              <a:latin typeface="华文仿宋" panose="02010600040101010101" pitchFamily="2" charset="-122"/>
              <a:ea typeface="华文仿宋" panose="02010600040101010101" pitchFamily="2" charset="-122"/>
            </a:endParaRPr>
          </a:p>
        </p:txBody>
      </p:sp>
      <p:sp>
        <p:nvSpPr>
          <p:cNvPr id="6" name="文本框 5">
            <a:extLst>
              <a:ext uri="{FF2B5EF4-FFF2-40B4-BE49-F238E27FC236}">
                <a16:creationId xmlns:a16="http://schemas.microsoft.com/office/drawing/2014/main" id="{C5EF2156-87D7-2920-3D48-8878F72B2DE9}"/>
              </a:ext>
            </a:extLst>
          </p:cNvPr>
          <p:cNvSpPr txBox="1"/>
          <p:nvPr/>
        </p:nvSpPr>
        <p:spPr>
          <a:xfrm>
            <a:off x="2643301" y="3090825"/>
            <a:ext cx="4680520" cy="1323439"/>
          </a:xfrm>
          <a:prstGeom prst="rect">
            <a:avLst/>
          </a:prstGeom>
          <a:noFill/>
        </p:spPr>
        <p:txBody>
          <a:bodyPr wrap="square" rtlCol="0">
            <a:spAutoFit/>
          </a:bodyPr>
          <a:lstStyle/>
          <a:p>
            <a:r>
              <a:rPr lang="zh-CN" altLang="en-US" sz="1600" b="1" dirty="0">
                <a:solidFill>
                  <a:srgbClr val="0070C0"/>
                </a:solidFill>
              </a:rPr>
              <a:t>例</a:t>
            </a:r>
            <a:r>
              <a:rPr lang="en-US" altLang="zh-CN" sz="1600" b="1" dirty="0">
                <a:solidFill>
                  <a:srgbClr val="0070C0"/>
                </a:solidFill>
              </a:rPr>
              <a:t>2_4</a:t>
            </a:r>
            <a:r>
              <a:rPr lang="zh-CN" altLang="en-US" sz="1600" b="1" dirty="0">
                <a:solidFill>
                  <a:srgbClr val="0070C0"/>
                </a:solidFill>
              </a:rPr>
              <a:t>：</a:t>
            </a:r>
            <a:endParaRPr lang="en-US" altLang="zh-CN" sz="1600" b="1" dirty="0">
              <a:solidFill>
                <a:srgbClr val="0070C0"/>
              </a:solidFill>
            </a:endParaRPr>
          </a:p>
          <a:p>
            <a:r>
              <a:rPr lang="en-US" altLang="zh-CN" sz="1600" b="1" dirty="0">
                <a:solidFill>
                  <a:srgbClr val="0070C0"/>
                </a:solidFill>
              </a:rPr>
              <a:t>#define SQURE(x)</a:t>
            </a:r>
            <a:r>
              <a:rPr lang="zh-CN" altLang="en-US" sz="1600" b="1" dirty="0">
                <a:solidFill>
                  <a:srgbClr val="0070C0"/>
                </a:solidFill>
              </a:rPr>
              <a:t> </a:t>
            </a:r>
            <a:r>
              <a:rPr lang="en-US" altLang="zh-CN" sz="1600" b="1" dirty="0">
                <a:solidFill>
                  <a:srgbClr val="0070C0"/>
                </a:solidFill>
              </a:rPr>
              <a:t>((x)*(x))  //</a:t>
            </a:r>
            <a:r>
              <a:rPr lang="zh-CN" altLang="en-US" sz="1600" b="1" dirty="0">
                <a:solidFill>
                  <a:srgbClr val="0070C0"/>
                </a:solidFill>
              </a:rPr>
              <a:t>正确写法</a:t>
            </a:r>
            <a:endParaRPr lang="en-US" altLang="zh-CN" sz="1600" b="1" dirty="0">
              <a:solidFill>
                <a:srgbClr val="0070C0"/>
              </a:solidFill>
            </a:endParaRPr>
          </a:p>
          <a:p>
            <a:r>
              <a:rPr lang="en-US" altLang="zh-CN" sz="1600" b="1" dirty="0">
                <a:solidFill>
                  <a:srgbClr val="0070C0"/>
                </a:solidFill>
              </a:rPr>
              <a:t>SQURE(2+3) </a:t>
            </a:r>
            <a:r>
              <a:rPr lang="zh-CN" altLang="en-US" sz="1600" b="1" dirty="0">
                <a:solidFill>
                  <a:srgbClr val="0070C0"/>
                </a:solidFill>
              </a:rPr>
              <a:t>替换为 </a:t>
            </a:r>
            <a:r>
              <a:rPr lang="en-US" altLang="zh-CN" sz="1600" b="1" dirty="0">
                <a:solidFill>
                  <a:srgbClr val="0070C0"/>
                </a:solidFill>
              </a:rPr>
              <a:t>((2+3)*(2+3))</a:t>
            </a:r>
          </a:p>
          <a:p>
            <a:r>
              <a:rPr lang="en-US" altLang="zh-CN" sz="1600" b="1" dirty="0">
                <a:solidFill>
                  <a:srgbClr val="0070C0"/>
                </a:solidFill>
              </a:rPr>
              <a:t>#define SQURE(x) x*x //</a:t>
            </a:r>
            <a:r>
              <a:rPr lang="zh-CN" altLang="en-US" sz="1600" b="1" dirty="0">
                <a:solidFill>
                  <a:srgbClr val="0070C0"/>
                </a:solidFill>
              </a:rPr>
              <a:t>错误写法</a:t>
            </a:r>
            <a:endParaRPr lang="en-US" altLang="zh-CN" sz="1600" b="1" dirty="0">
              <a:solidFill>
                <a:srgbClr val="0070C0"/>
              </a:solidFill>
            </a:endParaRPr>
          </a:p>
          <a:p>
            <a:r>
              <a:rPr lang="en-US" altLang="zh-CN" sz="1600" b="1" dirty="0">
                <a:solidFill>
                  <a:srgbClr val="0070C0"/>
                </a:solidFill>
              </a:rPr>
              <a:t>SQURE(2+3) </a:t>
            </a:r>
            <a:r>
              <a:rPr lang="zh-CN" altLang="en-US" sz="1600" b="1" dirty="0">
                <a:solidFill>
                  <a:srgbClr val="0070C0"/>
                </a:solidFill>
              </a:rPr>
              <a:t>替换为 </a:t>
            </a:r>
            <a:r>
              <a:rPr lang="en-US" altLang="zh-CN" sz="1600" b="1" dirty="0">
                <a:solidFill>
                  <a:srgbClr val="FF0000"/>
                </a:solidFill>
              </a:rPr>
              <a:t>2+3*2+3</a:t>
            </a:r>
            <a:endParaRPr lang="zh-CN" altLang="en-US" sz="1600" b="1" dirty="0">
              <a:solidFill>
                <a:srgbClr val="FF0000"/>
              </a:solidFill>
            </a:endParaRPr>
          </a:p>
        </p:txBody>
      </p:sp>
    </p:spTree>
    <p:extLst>
      <p:ext uri="{BB962C8B-B14F-4D97-AF65-F5344CB8AC3E}">
        <p14:creationId xmlns:p14="http://schemas.microsoft.com/office/powerpoint/2010/main" val="265795022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627563" y="3047600"/>
              <a:ext cx="1662692"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位运算</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7</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04023" y="451867"/>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位运算</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1331640" y="1694470"/>
            <a:ext cx="6588226" cy="2585323"/>
          </a:xfrm>
          <a:prstGeom prst="rect">
            <a:avLst/>
          </a:prstGeom>
          <a:noFill/>
        </p:spPr>
        <p:txBody>
          <a:bodyPr wrap="square" rtlCol="0">
            <a:spAutoFit/>
          </a:bodyPr>
          <a:lstStyle/>
          <a:p>
            <a:r>
              <a:rPr lang="zh-CN" altLang="en-US" dirty="0">
                <a:latin typeface="华文仿宋" panose="02010600040101010101" pitchFamily="2" charset="-122"/>
                <a:ea typeface="华文仿宋" panose="02010600040101010101" pitchFamily="2" charset="-122"/>
              </a:rPr>
              <a:t>程序中的所有数在计算机内存中都是以二进制的形式储存的。位运算就是直接对整数在内存中的</a:t>
            </a:r>
            <a:r>
              <a:rPr lang="zh-CN" altLang="en-US" b="1" dirty="0">
                <a:solidFill>
                  <a:srgbClr val="FF0000"/>
                </a:solidFill>
                <a:latin typeface="华文仿宋" panose="02010600040101010101" pitchFamily="2" charset="-122"/>
                <a:ea typeface="华文仿宋" panose="02010600040101010101" pitchFamily="2" charset="-122"/>
              </a:rPr>
              <a:t>二进制位</a:t>
            </a:r>
            <a:r>
              <a:rPr lang="zh-CN" altLang="en-US" dirty="0">
                <a:latin typeface="华文仿宋" panose="02010600040101010101" pitchFamily="2" charset="-122"/>
                <a:ea typeface="华文仿宋" panose="02010600040101010101" pitchFamily="2" charset="-122"/>
              </a:rPr>
              <a:t>进行操作。位运算操作包括：</a:t>
            </a:r>
            <a:endParaRPr lang="en-US" altLang="zh-CN" dirty="0">
              <a:latin typeface="华文仿宋" panose="02010600040101010101" pitchFamily="2" charset="-122"/>
              <a:ea typeface="华文仿宋" panose="02010600040101010101" pitchFamily="2" charset="-122"/>
            </a:endParaRPr>
          </a:p>
          <a:p>
            <a:pPr marL="0" lvl="5"/>
            <a:r>
              <a:rPr lang="en-US" altLang="zh-CN" dirty="0">
                <a:latin typeface="华文仿宋" panose="02010600040101010101" pitchFamily="2" charset="-122"/>
                <a:ea typeface="华文仿宋" panose="02010600040101010101" pitchFamily="2" charset="-122"/>
              </a:rPr>
              <a:t>                                           1.</a:t>
            </a:r>
            <a:r>
              <a:rPr lang="zh-CN" altLang="en-US" dirty="0">
                <a:latin typeface="华文仿宋" panose="02010600040101010101" pitchFamily="2" charset="-122"/>
                <a:ea typeface="华文仿宋" panose="02010600040101010101" pitchFamily="2" charset="-122"/>
              </a:rPr>
              <a:t>按位与运算</a:t>
            </a:r>
            <a:r>
              <a:rPr lang="en-US" altLang="zh-CN" dirty="0">
                <a:latin typeface="华文仿宋" panose="02010600040101010101" pitchFamily="2" charset="-122"/>
                <a:ea typeface="华文仿宋" panose="02010600040101010101" pitchFamily="2" charset="-122"/>
              </a:rPr>
              <a:t>”&amp;”</a:t>
            </a:r>
          </a:p>
          <a:p>
            <a:pPr marL="0" lvl="5"/>
            <a:r>
              <a:rPr lang="en-US" altLang="zh-CN" dirty="0">
                <a:latin typeface="华文仿宋" panose="02010600040101010101" pitchFamily="2" charset="-122"/>
                <a:ea typeface="华文仿宋" panose="02010600040101010101" pitchFamily="2" charset="-122"/>
              </a:rPr>
              <a:t>                                           2.</a:t>
            </a:r>
            <a:r>
              <a:rPr lang="zh-CN" altLang="en-US" dirty="0">
                <a:latin typeface="华文仿宋" panose="02010600040101010101" pitchFamily="2" charset="-122"/>
                <a:ea typeface="华文仿宋" panose="02010600040101010101" pitchFamily="2" charset="-122"/>
              </a:rPr>
              <a:t>按位或运算</a:t>
            </a:r>
            <a:r>
              <a:rPr lang="en-US" altLang="zh-CN" dirty="0">
                <a:latin typeface="华文仿宋" panose="02010600040101010101" pitchFamily="2" charset="-122"/>
                <a:ea typeface="华文仿宋" panose="02010600040101010101" pitchFamily="2" charset="-122"/>
              </a:rPr>
              <a:t>”|”</a:t>
            </a:r>
          </a:p>
          <a:p>
            <a:pPr marL="0" lvl="5"/>
            <a:r>
              <a:rPr lang="en-US" altLang="zh-CN" dirty="0">
                <a:latin typeface="华文仿宋" panose="02010600040101010101" pitchFamily="2" charset="-122"/>
                <a:ea typeface="华文仿宋" panose="02010600040101010101" pitchFamily="2" charset="-122"/>
              </a:rPr>
              <a:t>                                           3.</a:t>
            </a:r>
            <a:r>
              <a:rPr lang="zh-CN" altLang="en-US" dirty="0">
                <a:latin typeface="华文仿宋" panose="02010600040101010101" pitchFamily="2" charset="-122"/>
                <a:ea typeface="华文仿宋" panose="02010600040101010101" pitchFamily="2" charset="-122"/>
              </a:rPr>
              <a:t>按位异或运算</a:t>
            </a:r>
            <a:r>
              <a:rPr lang="en-US" altLang="zh-CN" dirty="0">
                <a:latin typeface="华文仿宋" panose="02010600040101010101" pitchFamily="2" charset="-122"/>
                <a:ea typeface="华文仿宋" panose="02010600040101010101" pitchFamily="2" charset="-122"/>
              </a:rPr>
              <a:t>”^”</a:t>
            </a:r>
          </a:p>
          <a:p>
            <a:pPr marL="0" lvl="5"/>
            <a:r>
              <a:rPr lang="en-US" altLang="zh-CN" dirty="0">
                <a:latin typeface="华文仿宋" panose="02010600040101010101" pitchFamily="2" charset="-122"/>
                <a:ea typeface="华文仿宋" panose="02010600040101010101" pitchFamily="2" charset="-122"/>
              </a:rPr>
              <a:t>                                           4.</a:t>
            </a:r>
            <a:r>
              <a:rPr lang="zh-CN" altLang="en-US" dirty="0">
                <a:latin typeface="华文仿宋" panose="02010600040101010101" pitchFamily="2" charset="-122"/>
                <a:ea typeface="华文仿宋" panose="02010600040101010101" pitchFamily="2" charset="-122"/>
              </a:rPr>
              <a:t>二进制左移运算</a:t>
            </a:r>
            <a:r>
              <a:rPr lang="en-US" altLang="zh-CN" dirty="0">
                <a:latin typeface="华文仿宋" panose="02010600040101010101" pitchFamily="2" charset="-122"/>
                <a:ea typeface="华文仿宋" panose="02010600040101010101" pitchFamily="2" charset="-122"/>
              </a:rPr>
              <a:t>”&lt;&lt;”</a:t>
            </a:r>
          </a:p>
          <a:p>
            <a:pPr marL="0" lvl="5"/>
            <a:r>
              <a:rPr lang="en-US" altLang="zh-CN" dirty="0">
                <a:latin typeface="华文仿宋" panose="02010600040101010101" pitchFamily="2" charset="-122"/>
                <a:ea typeface="华文仿宋" panose="02010600040101010101" pitchFamily="2" charset="-122"/>
              </a:rPr>
              <a:t>                                           5.</a:t>
            </a:r>
            <a:r>
              <a:rPr lang="zh-CN" altLang="en-US" dirty="0">
                <a:latin typeface="华文仿宋" panose="02010600040101010101" pitchFamily="2" charset="-122"/>
                <a:ea typeface="华文仿宋" panose="02010600040101010101" pitchFamily="2" charset="-122"/>
              </a:rPr>
              <a:t>二进制右移运算</a:t>
            </a:r>
            <a:r>
              <a:rPr lang="en-US" altLang="zh-CN" dirty="0">
                <a:latin typeface="华文仿宋" panose="02010600040101010101" pitchFamily="2" charset="-122"/>
                <a:ea typeface="华文仿宋" panose="02010600040101010101" pitchFamily="2" charset="-122"/>
              </a:rPr>
              <a:t>”&gt;&gt;”</a:t>
            </a:r>
          </a:p>
          <a:p>
            <a:pPr marL="0" lvl="5"/>
            <a:r>
              <a:rPr lang="en-US" altLang="zh-CN" dirty="0">
                <a:latin typeface="华文仿宋" panose="02010600040101010101" pitchFamily="2" charset="-122"/>
                <a:ea typeface="华文仿宋" panose="02010600040101010101" pitchFamily="2" charset="-122"/>
              </a:rPr>
              <a:t>                                           6.</a:t>
            </a:r>
            <a:r>
              <a:rPr lang="zh-CN" altLang="en-US" dirty="0">
                <a:latin typeface="华文仿宋" panose="02010600040101010101" pitchFamily="2" charset="-122"/>
                <a:ea typeface="华文仿宋" panose="02010600040101010101" pitchFamily="2" charset="-122"/>
              </a:rPr>
              <a:t>按位取反运算</a:t>
            </a:r>
            <a:r>
              <a:rPr lang="en-US" altLang="zh-CN"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411086164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627563" y="3047600"/>
              <a:ext cx="1662692"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位运算</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7</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04023" y="451867"/>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按位与运算</a:t>
              </a:r>
              <a:r>
                <a:rPr lang="en-US" altLang="zh-CN" sz="2400" dirty="0">
                  <a:latin typeface="方正粗倩简体" panose="03000509000000000000" pitchFamily="65" charset="-122"/>
                  <a:ea typeface="方正粗倩简体" panose="03000509000000000000" pitchFamily="65" charset="-122"/>
                </a:rPr>
                <a:t>”&amp;”</a:t>
              </a:r>
              <a:endParaRPr lang="zh-CN" altLang="en-US" sz="2400" dirty="0">
                <a:latin typeface="方正粗倩简体" panose="03000509000000000000" pitchFamily="65" charset="-122"/>
                <a:ea typeface="方正粗倩简体" panose="03000509000000000000" pitchFamily="65" charset="-122"/>
              </a:endParaRP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2195736" y="1310779"/>
            <a:ext cx="6588226" cy="923330"/>
          </a:xfrm>
          <a:prstGeom prst="rect">
            <a:avLst/>
          </a:prstGeom>
          <a:noFill/>
        </p:spPr>
        <p:txBody>
          <a:bodyPr wrap="square" rtlCol="0">
            <a:spAutoFit/>
          </a:bodyPr>
          <a:lstStyle/>
          <a:p>
            <a:r>
              <a:rPr lang="en-US" altLang="zh-CN" dirty="0">
                <a:solidFill>
                  <a:srgbClr val="984807"/>
                </a:solidFill>
                <a:latin typeface="方正粗倩简体" panose="03000509000000000000" pitchFamily="65" charset="-122"/>
                <a:ea typeface="方正粗倩简体" panose="03000509000000000000" pitchFamily="65" charset="-122"/>
              </a:rPr>
              <a:t>1.</a:t>
            </a:r>
            <a:r>
              <a:rPr lang="zh-CN" altLang="en-US" dirty="0">
                <a:solidFill>
                  <a:srgbClr val="984807"/>
                </a:solidFill>
                <a:latin typeface="方正粗倩简体" panose="03000509000000000000" pitchFamily="65" charset="-122"/>
                <a:ea typeface="方正粗倩简体" panose="03000509000000000000" pitchFamily="65" charset="-122"/>
              </a:rPr>
              <a:t>按位与运算是对两个操作数逐位“求与”</a:t>
            </a:r>
            <a:endParaRPr lang="en-US" altLang="zh-CN" dirty="0">
              <a:solidFill>
                <a:srgbClr val="984807"/>
              </a:solidFill>
              <a:latin typeface="方正粗倩简体" panose="03000509000000000000" pitchFamily="65" charset="-122"/>
              <a:ea typeface="方正粗倩简体" panose="03000509000000000000" pitchFamily="65" charset="-122"/>
            </a:endParaRPr>
          </a:p>
          <a:p>
            <a:r>
              <a:rPr lang="en-US" altLang="zh-CN" dirty="0">
                <a:solidFill>
                  <a:srgbClr val="984807"/>
                </a:solidFill>
                <a:latin typeface="方正粗倩简体" panose="03000509000000000000" pitchFamily="65" charset="-122"/>
                <a:ea typeface="方正粗倩简体" panose="03000509000000000000" pitchFamily="65" charset="-122"/>
              </a:rPr>
              <a:t>2.</a:t>
            </a:r>
            <a:r>
              <a:rPr lang="zh-CN" altLang="en-US" dirty="0">
                <a:solidFill>
                  <a:srgbClr val="984807"/>
                </a:solidFill>
                <a:latin typeface="方正粗倩简体" panose="03000509000000000000" pitchFamily="65" charset="-122"/>
                <a:ea typeface="方正粗倩简体" panose="03000509000000000000" pitchFamily="65" charset="-122"/>
              </a:rPr>
              <a:t>运算真值表：</a:t>
            </a:r>
            <a:endParaRPr lang="en-US" altLang="zh-CN" dirty="0">
              <a:solidFill>
                <a:srgbClr val="984807"/>
              </a:solidFill>
              <a:latin typeface="方正粗倩简体" panose="03000509000000000000" pitchFamily="65" charset="-122"/>
              <a:ea typeface="方正粗倩简体" panose="03000509000000000000" pitchFamily="65" charset="-122"/>
            </a:endParaRPr>
          </a:p>
          <a:p>
            <a:endParaRPr lang="en-US" altLang="zh-CN" dirty="0">
              <a:solidFill>
                <a:srgbClr val="984807"/>
              </a:solidFill>
              <a:latin typeface="方正粗倩简体" panose="03000509000000000000" pitchFamily="65" charset="-122"/>
              <a:ea typeface="方正粗倩简体" panose="03000509000000000000" pitchFamily="65" charset="-122"/>
            </a:endParaRPr>
          </a:p>
        </p:txBody>
      </p:sp>
      <p:graphicFrame>
        <p:nvGraphicFramePr>
          <p:cNvPr id="6" name="表格 5">
            <a:extLst>
              <a:ext uri="{FF2B5EF4-FFF2-40B4-BE49-F238E27FC236}">
                <a16:creationId xmlns:a16="http://schemas.microsoft.com/office/drawing/2014/main" id="{41549610-A408-4C4B-A545-8B53A2476E4C}"/>
              </a:ext>
            </a:extLst>
          </p:cNvPr>
          <p:cNvGraphicFramePr>
            <a:graphicFrameLocks noGrp="1"/>
          </p:cNvGraphicFramePr>
          <p:nvPr>
            <p:extLst>
              <p:ext uri="{D42A27DB-BD31-4B8C-83A1-F6EECF244321}">
                <p14:modId xmlns:p14="http://schemas.microsoft.com/office/powerpoint/2010/main" val="1399612809"/>
              </p:ext>
            </p:extLst>
          </p:nvPr>
        </p:nvGraphicFramePr>
        <p:xfrm>
          <a:off x="3224787" y="1985572"/>
          <a:ext cx="2304255" cy="1066800"/>
        </p:xfrm>
        <a:graphic>
          <a:graphicData uri="http://schemas.openxmlformats.org/drawingml/2006/table">
            <a:tbl>
              <a:tblPr firstRow="1" bandRow="1">
                <a:tableStyleId>{5C22544A-7EE6-4342-B048-85BDC9FD1C3A}</a:tableStyleId>
              </a:tblPr>
              <a:tblGrid>
                <a:gridCol w="768085">
                  <a:extLst>
                    <a:ext uri="{9D8B030D-6E8A-4147-A177-3AD203B41FA5}">
                      <a16:colId xmlns:a16="http://schemas.microsoft.com/office/drawing/2014/main" val="3918039056"/>
                    </a:ext>
                  </a:extLst>
                </a:gridCol>
                <a:gridCol w="768085">
                  <a:extLst>
                    <a:ext uri="{9D8B030D-6E8A-4147-A177-3AD203B41FA5}">
                      <a16:colId xmlns:a16="http://schemas.microsoft.com/office/drawing/2014/main" val="3060667193"/>
                    </a:ext>
                  </a:extLst>
                </a:gridCol>
                <a:gridCol w="768085">
                  <a:extLst>
                    <a:ext uri="{9D8B030D-6E8A-4147-A177-3AD203B41FA5}">
                      <a16:colId xmlns:a16="http://schemas.microsoft.com/office/drawing/2014/main" val="299460375"/>
                    </a:ext>
                  </a:extLst>
                </a:gridCol>
              </a:tblGrid>
              <a:tr h="0">
                <a:tc>
                  <a:txBody>
                    <a:bodyPr/>
                    <a:lstStyle/>
                    <a:p>
                      <a:r>
                        <a:rPr lang="zh-CN" altLang="en-US" sz="800" dirty="0"/>
                        <a:t>位</a:t>
                      </a:r>
                      <a:r>
                        <a:rPr lang="en-US" altLang="zh-CN" sz="800" dirty="0"/>
                        <a:t>1</a:t>
                      </a:r>
                      <a:endParaRPr lang="zh-CN" altLang="en-US" sz="800" dirty="0"/>
                    </a:p>
                  </a:txBody>
                  <a:tcPr/>
                </a:tc>
                <a:tc>
                  <a:txBody>
                    <a:bodyPr/>
                    <a:lstStyle/>
                    <a:p>
                      <a:r>
                        <a:rPr lang="zh-CN" altLang="en-US" sz="800" dirty="0"/>
                        <a:t>位</a:t>
                      </a:r>
                      <a:r>
                        <a:rPr lang="en-US" altLang="zh-CN" sz="800" dirty="0"/>
                        <a:t>2</a:t>
                      </a:r>
                      <a:endParaRPr lang="zh-CN" altLang="en-US" sz="800" dirty="0"/>
                    </a:p>
                  </a:txBody>
                  <a:tcPr/>
                </a:tc>
                <a:tc>
                  <a:txBody>
                    <a:bodyPr/>
                    <a:lstStyle/>
                    <a:p>
                      <a:r>
                        <a:rPr lang="zh-CN" altLang="en-US" sz="800" dirty="0"/>
                        <a:t>位</a:t>
                      </a:r>
                      <a:r>
                        <a:rPr lang="en-US" altLang="zh-CN" sz="800" dirty="0"/>
                        <a:t>1&amp;</a:t>
                      </a:r>
                      <a:r>
                        <a:rPr lang="zh-CN" altLang="en-US" sz="800" dirty="0"/>
                        <a:t>位</a:t>
                      </a:r>
                      <a:r>
                        <a:rPr lang="en-US" altLang="zh-CN" sz="800" dirty="0"/>
                        <a:t>2</a:t>
                      </a:r>
                      <a:endParaRPr lang="zh-CN" altLang="en-US" sz="800" dirty="0"/>
                    </a:p>
                  </a:txBody>
                  <a:tcPr/>
                </a:tc>
                <a:extLst>
                  <a:ext uri="{0D108BD9-81ED-4DB2-BD59-A6C34878D82A}">
                    <a16:rowId xmlns:a16="http://schemas.microsoft.com/office/drawing/2014/main" val="1726546124"/>
                  </a:ext>
                </a:extLst>
              </a:tr>
              <a:tr h="0">
                <a:tc>
                  <a:txBody>
                    <a:bodyPr/>
                    <a:lstStyle/>
                    <a:p>
                      <a:r>
                        <a:rPr lang="en-US" altLang="zh-CN" sz="800" dirty="0"/>
                        <a:t>0</a:t>
                      </a:r>
                      <a:endParaRPr lang="zh-CN" altLang="en-US" sz="800" dirty="0"/>
                    </a:p>
                  </a:txBody>
                  <a:tcPr/>
                </a:tc>
                <a:tc>
                  <a:txBody>
                    <a:bodyPr/>
                    <a:lstStyle/>
                    <a:p>
                      <a:r>
                        <a:rPr lang="en-US" altLang="zh-CN" sz="800" dirty="0"/>
                        <a:t>0</a:t>
                      </a:r>
                      <a:endParaRPr lang="zh-CN" altLang="en-US" sz="800" dirty="0"/>
                    </a:p>
                  </a:txBody>
                  <a:tcPr/>
                </a:tc>
                <a:tc>
                  <a:txBody>
                    <a:bodyPr/>
                    <a:lstStyle/>
                    <a:p>
                      <a:r>
                        <a:rPr lang="en-US" altLang="zh-CN" sz="800" dirty="0"/>
                        <a:t>0</a:t>
                      </a:r>
                      <a:endParaRPr lang="zh-CN" altLang="en-US" sz="800" dirty="0"/>
                    </a:p>
                  </a:txBody>
                  <a:tcPr/>
                </a:tc>
                <a:extLst>
                  <a:ext uri="{0D108BD9-81ED-4DB2-BD59-A6C34878D82A}">
                    <a16:rowId xmlns:a16="http://schemas.microsoft.com/office/drawing/2014/main" val="4087026716"/>
                  </a:ext>
                </a:extLst>
              </a:tr>
              <a:tr h="0">
                <a:tc>
                  <a:txBody>
                    <a:bodyPr/>
                    <a:lstStyle/>
                    <a:p>
                      <a:r>
                        <a:rPr lang="en-US" altLang="zh-CN" sz="800" dirty="0"/>
                        <a:t>0</a:t>
                      </a:r>
                      <a:endParaRPr lang="zh-CN" altLang="en-US" sz="800" dirty="0"/>
                    </a:p>
                  </a:txBody>
                  <a:tcPr/>
                </a:tc>
                <a:tc>
                  <a:txBody>
                    <a:bodyPr/>
                    <a:lstStyle/>
                    <a:p>
                      <a:r>
                        <a:rPr lang="en-US" altLang="zh-CN" sz="800" dirty="0"/>
                        <a:t>1</a:t>
                      </a:r>
                      <a:endParaRPr lang="zh-CN" altLang="en-US" sz="800" dirty="0"/>
                    </a:p>
                  </a:txBody>
                  <a:tcPr/>
                </a:tc>
                <a:tc>
                  <a:txBody>
                    <a:bodyPr/>
                    <a:lstStyle/>
                    <a:p>
                      <a:r>
                        <a:rPr lang="en-US" altLang="zh-CN" sz="800" dirty="0"/>
                        <a:t>0</a:t>
                      </a:r>
                      <a:endParaRPr lang="zh-CN" altLang="en-US" sz="800" dirty="0"/>
                    </a:p>
                  </a:txBody>
                  <a:tcPr/>
                </a:tc>
                <a:extLst>
                  <a:ext uri="{0D108BD9-81ED-4DB2-BD59-A6C34878D82A}">
                    <a16:rowId xmlns:a16="http://schemas.microsoft.com/office/drawing/2014/main" val="785870141"/>
                  </a:ext>
                </a:extLst>
              </a:tr>
              <a:tr h="0">
                <a:tc>
                  <a:txBody>
                    <a:bodyPr/>
                    <a:lstStyle/>
                    <a:p>
                      <a:r>
                        <a:rPr lang="en-US" altLang="zh-CN" sz="800" dirty="0"/>
                        <a:t>1</a:t>
                      </a:r>
                      <a:endParaRPr lang="zh-CN" altLang="en-US" sz="800" dirty="0"/>
                    </a:p>
                  </a:txBody>
                  <a:tcPr/>
                </a:tc>
                <a:tc>
                  <a:txBody>
                    <a:bodyPr/>
                    <a:lstStyle/>
                    <a:p>
                      <a:r>
                        <a:rPr lang="en-US" altLang="zh-CN" sz="800" dirty="0"/>
                        <a:t>0</a:t>
                      </a:r>
                      <a:endParaRPr lang="zh-CN" altLang="en-US" sz="800" dirty="0"/>
                    </a:p>
                  </a:txBody>
                  <a:tcPr/>
                </a:tc>
                <a:tc>
                  <a:txBody>
                    <a:bodyPr/>
                    <a:lstStyle/>
                    <a:p>
                      <a:r>
                        <a:rPr lang="en-US" altLang="zh-CN" sz="800" dirty="0"/>
                        <a:t>0</a:t>
                      </a:r>
                      <a:endParaRPr lang="zh-CN" altLang="en-US" sz="800" dirty="0"/>
                    </a:p>
                  </a:txBody>
                  <a:tcPr/>
                </a:tc>
                <a:extLst>
                  <a:ext uri="{0D108BD9-81ED-4DB2-BD59-A6C34878D82A}">
                    <a16:rowId xmlns:a16="http://schemas.microsoft.com/office/drawing/2014/main" val="1894914895"/>
                  </a:ext>
                </a:extLst>
              </a:tr>
              <a:tr h="0">
                <a:tc>
                  <a:txBody>
                    <a:bodyPr/>
                    <a:lstStyle/>
                    <a:p>
                      <a:r>
                        <a:rPr lang="en-US" altLang="zh-CN" sz="800" dirty="0"/>
                        <a:t>1</a:t>
                      </a:r>
                      <a:endParaRPr lang="zh-CN" altLang="en-US" sz="800" dirty="0"/>
                    </a:p>
                  </a:txBody>
                  <a:tcPr/>
                </a:tc>
                <a:tc>
                  <a:txBody>
                    <a:bodyPr/>
                    <a:lstStyle/>
                    <a:p>
                      <a:r>
                        <a:rPr lang="en-US" altLang="zh-CN" sz="800" dirty="0"/>
                        <a:t>1</a:t>
                      </a:r>
                      <a:endParaRPr lang="zh-CN" altLang="en-US" sz="800" dirty="0"/>
                    </a:p>
                  </a:txBody>
                  <a:tcPr/>
                </a:tc>
                <a:tc>
                  <a:txBody>
                    <a:bodyPr/>
                    <a:lstStyle/>
                    <a:p>
                      <a:r>
                        <a:rPr lang="en-US" altLang="zh-CN" sz="800" dirty="0"/>
                        <a:t>1</a:t>
                      </a:r>
                      <a:endParaRPr lang="zh-CN" altLang="en-US" sz="800" dirty="0"/>
                    </a:p>
                  </a:txBody>
                  <a:tcPr/>
                </a:tc>
                <a:extLst>
                  <a:ext uri="{0D108BD9-81ED-4DB2-BD59-A6C34878D82A}">
                    <a16:rowId xmlns:a16="http://schemas.microsoft.com/office/drawing/2014/main" val="78851519"/>
                  </a:ext>
                </a:extLst>
              </a:tr>
            </a:tbl>
          </a:graphicData>
        </a:graphic>
      </p:graphicFrame>
      <p:sp>
        <p:nvSpPr>
          <p:cNvPr id="7" name="文本框 6">
            <a:extLst>
              <a:ext uri="{FF2B5EF4-FFF2-40B4-BE49-F238E27FC236}">
                <a16:creationId xmlns:a16="http://schemas.microsoft.com/office/drawing/2014/main" id="{36922450-9BD2-46FC-A974-87E55D528027}"/>
              </a:ext>
            </a:extLst>
          </p:cNvPr>
          <p:cNvSpPr txBox="1"/>
          <p:nvPr/>
        </p:nvSpPr>
        <p:spPr>
          <a:xfrm>
            <a:off x="2843808" y="3291830"/>
            <a:ext cx="3456384" cy="1200329"/>
          </a:xfrm>
          <a:prstGeom prst="rect">
            <a:avLst/>
          </a:prstGeom>
          <a:noFill/>
        </p:spPr>
        <p:txBody>
          <a:bodyPr wrap="square" rtlCol="0">
            <a:spAutoFit/>
          </a:bodyPr>
          <a:lstStyle/>
          <a:p>
            <a:r>
              <a:rPr lang="zh-CN" altLang="en-US" dirty="0"/>
              <a:t>示例：</a:t>
            </a:r>
            <a:endParaRPr lang="en-US" altLang="zh-CN" dirty="0"/>
          </a:p>
          <a:p>
            <a:r>
              <a:rPr lang="en-US" altLang="zh-CN" dirty="0"/>
              <a:t>   1001 0110</a:t>
            </a:r>
          </a:p>
          <a:p>
            <a:r>
              <a:rPr lang="en-US" altLang="zh-CN" dirty="0"/>
              <a:t>&amp;1000 0000</a:t>
            </a:r>
          </a:p>
          <a:p>
            <a:r>
              <a:rPr lang="en-US" altLang="zh-CN" dirty="0"/>
              <a:t>   1000 0000</a:t>
            </a:r>
            <a:endParaRPr lang="zh-CN" altLang="en-US" dirty="0"/>
          </a:p>
        </p:txBody>
      </p:sp>
      <p:cxnSp>
        <p:nvCxnSpPr>
          <p:cNvPr id="9" name="直接连接符 8">
            <a:extLst>
              <a:ext uri="{FF2B5EF4-FFF2-40B4-BE49-F238E27FC236}">
                <a16:creationId xmlns:a16="http://schemas.microsoft.com/office/drawing/2014/main" id="{FF5C7D46-3F8A-462A-9A46-EF3DD8EBAE31}"/>
              </a:ext>
            </a:extLst>
          </p:cNvPr>
          <p:cNvCxnSpPr/>
          <p:nvPr/>
        </p:nvCxnSpPr>
        <p:spPr>
          <a:xfrm>
            <a:off x="2924007" y="4169701"/>
            <a:ext cx="1332000" cy="0"/>
          </a:xfrm>
          <a:prstGeom prst="line">
            <a:avLst/>
          </a:prstGeom>
          <a:ln w="12700"/>
        </p:spPr>
        <p:style>
          <a:lnRef idx="1">
            <a:schemeClr val="dk1"/>
          </a:lnRef>
          <a:fillRef idx="0">
            <a:schemeClr val="dk1"/>
          </a:fillRef>
          <a:effectRef idx="0">
            <a:schemeClr val="dk1"/>
          </a:effectRef>
          <a:fontRef idx="minor">
            <a:schemeClr val="tx1"/>
          </a:fontRef>
        </p:style>
      </p:cxnSp>
      <p:sp>
        <p:nvSpPr>
          <p:cNvPr id="10" name="文本框 9">
            <a:extLst>
              <a:ext uri="{FF2B5EF4-FFF2-40B4-BE49-F238E27FC236}">
                <a16:creationId xmlns:a16="http://schemas.microsoft.com/office/drawing/2014/main" id="{CE3A7A9F-7F8B-44E3-B96E-FE7423A2F194}"/>
              </a:ext>
            </a:extLst>
          </p:cNvPr>
          <p:cNvSpPr txBox="1"/>
          <p:nvPr/>
        </p:nvSpPr>
        <p:spPr>
          <a:xfrm>
            <a:off x="4484242" y="3291829"/>
            <a:ext cx="4659758" cy="1200329"/>
          </a:xfrm>
          <a:prstGeom prst="rect">
            <a:avLst/>
          </a:prstGeom>
          <a:noFill/>
        </p:spPr>
        <p:txBody>
          <a:bodyPr wrap="square" rtlCol="0">
            <a:spAutoFit/>
          </a:bodyPr>
          <a:lstStyle/>
          <a:p>
            <a:r>
              <a:rPr lang="zh-CN" altLang="en-US" sz="1400" dirty="0"/>
              <a:t>按位与的作用：</a:t>
            </a:r>
            <a:endParaRPr lang="en-US" altLang="zh-CN" sz="1400" dirty="0"/>
          </a:p>
          <a:p>
            <a:r>
              <a:rPr lang="en-US" altLang="zh-CN" sz="1400" dirty="0"/>
              <a:t>1.</a:t>
            </a:r>
            <a:r>
              <a:rPr lang="zh-CN" altLang="en-US" sz="1400" dirty="0"/>
              <a:t>将某些位清零</a:t>
            </a:r>
            <a:endParaRPr lang="en-US" altLang="zh-CN" sz="1400" dirty="0"/>
          </a:p>
          <a:p>
            <a:r>
              <a:rPr lang="zh-CN" altLang="en-US" sz="1400" dirty="0"/>
              <a:t>例如：</a:t>
            </a:r>
            <a:r>
              <a:rPr lang="en-US" altLang="zh-CN" sz="1400" dirty="0"/>
              <a:t>a=0x55</a:t>
            </a:r>
            <a:r>
              <a:rPr lang="zh-CN" altLang="en-US" sz="1400" dirty="0"/>
              <a:t>，要将其低四位清零，可将</a:t>
            </a:r>
            <a:r>
              <a:rPr lang="en-US" altLang="zh-CN" sz="1400" dirty="0"/>
              <a:t>a</a:t>
            </a:r>
            <a:r>
              <a:rPr lang="zh-CN" altLang="en-US" sz="1400" dirty="0"/>
              <a:t>与上</a:t>
            </a:r>
            <a:r>
              <a:rPr lang="en-US" altLang="zh-CN" sz="1400" dirty="0"/>
              <a:t>0xf0</a:t>
            </a:r>
            <a:r>
              <a:rPr lang="zh-CN" altLang="en-US" sz="1400" dirty="0"/>
              <a:t>。</a:t>
            </a:r>
            <a:endParaRPr lang="en-US" altLang="zh-CN" sz="1400" dirty="0"/>
          </a:p>
          <a:p>
            <a:r>
              <a:rPr lang="en-US" altLang="zh-CN" sz="1400" dirty="0"/>
              <a:t>2.</a:t>
            </a:r>
            <a:r>
              <a:rPr lang="zh-CN" altLang="en-US" sz="1400" dirty="0"/>
              <a:t>取数中的特定位</a:t>
            </a:r>
            <a:endParaRPr lang="en-US" altLang="zh-CN" sz="1400" dirty="0"/>
          </a:p>
          <a:p>
            <a:r>
              <a:rPr lang="zh-CN" altLang="en-US" sz="1400" dirty="0"/>
              <a:t>例如：</a:t>
            </a:r>
            <a:r>
              <a:rPr lang="en-US" altLang="zh-CN" sz="1400" dirty="0"/>
              <a:t>a=0x55</a:t>
            </a:r>
            <a:r>
              <a:rPr lang="zh-CN" altLang="en-US" sz="1400" dirty="0"/>
              <a:t>，要获取</a:t>
            </a:r>
            <a:r>
              <a:rPr lang="en-US" altLang="zh-CN" sz="1400" dirty="0"/>
              <a:t>a</a:t>
            </a:r>
            <a:r>
              <a:rPr lang="zh-CN" altLang="en-US" sz="1400" dirty="0"/>
              <a:t>的低四位，可将</a:t>
            </a:r>
            <a:r>
              <a:rPr lang="en-US" altLang="zh-CN" sz="1400" dirty="0"/>
              <a:t>a</a:t>
            </a:r>
            <a:r>
              <a:rPr lang="zh-CN" altLang="en-US" sz="1400" dirty="0"/>
              <a:t>与上</a:t>
            </a:r>
            <a:r>
              <a:rPr lang="en-US" altLang="zh-CN" sz="1400" dirty="0"/>
              <a:t>0x0f</a:t>
            </a:r>
            <a:endParaRPr lang="zh-CN" altLang="en-US" sz="1400" dirty="0"/>
          </a:p>
        </p:txBody>
      </p:sp>
    </p:spTree>
    <p:extLst>
      <p:ext uri="{BB962C8B-B14F-4D97-AF65-F5344CB8AC3E}">
        <p14:creationId xmlns:p14="http://schemas.microsoft.com/office/powerpoint/2010/main" val="196236866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627563" y="3047600"/>
              <a:ext cx="1662692"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位运算</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7</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04023" y="451867"/>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按位或运算</a:t>
              </a:r>
              <a:r>
                <a:rPr lang="en-US" altLang="zh-CN" sz="2400" dirty="0">
                  <a:latin typeface="方正粗倩简体" panose="03000509000000000000" pitchFamily="65" charset="-122"/>
                  <a:ea typeface="方正粗倩简体" panose="03000509000000000000" pitchFamily="65" charset="-122"/>
                </a:rPr>
                <a:t>”|”</a:t>
              </a:r>
              <a:endParaRPr lang="zh-CN" altLang="en-US" sz="2400" dirty="0">
                <a:latin typeface="方正粗倩简体" panose="03000509000000000000" pitchFamily="65" charset="-122"/>
                <a:ea typeface="方正粗倩简体" panose="03000509000000000000" pitchFamily="65" charset="-122"/>
              </a:endParaRP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2195736" y="1310779"/>
            <a:ext cx="6588226" cy="923330"/>
          </a:xfrm>
          <a:prstGeom prst="rect">
            <a:avLst/>
          </a:prstGeom>
          <a:noFill/>
        </p:spPr>
        <p:txBody>
          <a:bodyPr wrap="square" rtlCol="0">
            <a:spAutoFit/>
          </a:bodyPr>
          <a:lstStyle/>
          <a:p>
            <a:r>
              <a:rPr lang="en-US" altLang="zh-CN" dirty="0">
                <a:solidFill>
                  <a:srgbClr val="984807"/>
                </a:solidFill>
                <a:latin typeface="方正粗倩简体" panose="03000509000000000000" pitchFamily="65" charset="-122"/>
                <a:ea typeface="方正粗倩简体" panose="03000509000000000000" pitchFamily="65" charset="-122"/>
              </a:rPr>
              <a:t>1.</a:t>
            </a:r>
            <a:r>
              <a:rPr lang="zh-CN" altLang="en-US" dirty="0">
                <a:solidFill>
                  <a:srgbClr val="984807"/>
                </a:solidFill>
                <a:latin typeface="方正粗倩简体" panose="03000509000000000000" pitchFamily="65" charset="-122"/>
                <a:ea typeface="方正粗倩简体" panose="03000509000000000000" pitchFamily="65" charset="-122"/>
              </a:rPr>
              <a:t>按位或运算是对两个操作数逐位“相或”</a:t>
            </a:r>
            <a:endParaRPr lang="en-US" altLang="zh-CN" dirty="0">
              <a:solidFill>
                <a:srgbClr val="984807"/>
              </a:solidFill>
              <a:latin typeface="方正粗倩简体" panose="03000509000000000000" pitchFamily="65" charset="-122"/>
              <a:ea typeface="方正粗倩简体" panose="03000509000000000000" pitchFamily="65" charset="-122"/>
            </a:endParaRPr>
          </a:p>
          <a:p>
            <a:r>
              <a:rPr lang="en-US" altLang="zh-CN" dirty="0">
                <a:solidFill>
                  <a:srgbClr val="984807"/>
                </a:solidFill>
                <a:latin typeface="方正粗倩简体" panose="03000509000000000000" pitchFamily="65" charset="-122"/>
                <a:ea typeface="方正粗倩简体" panose="03000509000000000000" pitchFamily="65" charset="-122"/>
              </a:rPr>
              <a:t>2.</a:t>
            </a:r>
            <a:r>
              <a:rPr lang="zh-CN" altLang="en-US" dirty="0">
                <a:solidFill>
                  <a:srgbClr val="984807"/>
                </a:solidFill>
                <a:latin typeface="方正粗倩简体" panose="03000509000000000000" pitchFamily="65" charset="-122"/>
                <a:ea typeface="方正粗倩简体" panose="03000509000000000000" pitchFamily="65" charset="-122"/>
              </a:rPr>
              <a:t>运算真值表：</a:t>
            </a:r>
            <a:endParaRPr lang="en-US" altLang="zh-CN" dirty="0">
              <a:solidFill>
                <a:srgbClr val="984807"/>
              </a:solidFill>
              <a:latin typeface="方正粗倩简体" panose="03000509000000000000" pitchFamily="65" charset="-122"/>
              <a:ea typeface="方正粗倩简体" panose="03000509000000000000" pitchFamily="65" charset="-122"/>
            </a:endParaRPr>
          </a:p>
          <a:p>
            <a:endParaRPr lang="en-US" altLang="zh-CN" dirty="0">
              <a:solidFill>
                <a:srgbClr val="984807"/>
              </a:solidFill>
              <a:latin typeface="方正粗倩简体" panose="03000509000000000000" pitchFamily="65" charset="-122"/>
              <a:ea typeface="方正粗倩简体" panose="03000509000000000000" pitchFamily="65" charset="-122"/>
            </a:endParaRPr>
          </a:p>
        </p:txBody>
      </p:sp>
      <p:graphicFrame>
        <p:nvGraphicFramePr>
          <p:cNvPr id="6" name="表格 5">
            <a:extLst>
              <a:ext uri="{FF2B5EF4-FFF2-40B4-BE49-F238E27FC236}">
                <a16:creationId xmlns:a16="http://schemas.microsoft.com/office/drawing/2014/main" id="{41549610-A408-4C4B-A545-8B53A2476E4C}"/>
              </a:ext>
            </a:extLst>
          </p:cNvPr>
          <p:cNvGraphicFramePr>
            <a:graphicFrameLocks noGrp="1"/>
          </p:cNvGraphicFramePr>
          <p:nvPr>
            <p:extLst>
              <p:ext uri="{D42A27DB-BD31-4B8C-83A1-F6EECF244321}">
                <p14:modId xmlns:p14="http://schemas.microsoft.com/office/powerpoint/2010/main" val="1945915576"/>
              </p:ext>
            </p:extLst>
          </p:nvPr>
        </p:nvGraphicFramePr>
        <p:xfrm>
          <a:off x="3224787" y="1985572"/>
          <a:ext cx="2304255" cy="1066800"/>
        </p:xfrm>
        <a:graphic>
          <a:graphicData uri="http://schemas.openxmlformats.org/drawingml/2006/table">
            <a:tbl>
              <a:tblPr firstRow="1" bandRow="1">
                <a:tableStyleId>{5C22544A-7EE6-4342-B048-85BDC9FD1C3A}</a:tableStyleId>
              </a:tblPr>
              <a:tblGrid>
                <a:gridCol w="768085">
                  <a:extLst>
                    <a:ext uri="{9D8B030D-6E8A-4147-A177-3AD203B41FA5}">
                      <a16:colId xmlns:a16="http://schemas.microsoft.com/office/drawing/2014/main" val="3918039056"/>
                    </a:ext>
                  </a:extLst>
                </a:gridCol>
                <a:gridCol w="768085">
                  <a:extLst>
                    <a:ext uri="{9D8B030D-6E8A-4147-A177-3AD203B41FA5}">
                      <a16:colId xmlns:a16="http://schemas.microsoft.com/office/drawing/2014/main" val="3060667193"/>
                    </a:ext>
                  </a:extLst>
                </a:gridCol>
                <a:gridCol w="768085">
                  <a:extLst>
                    <a:ext uri="{9D8B030D-6E8A-4147-A177-3AD203B41FA5}">
                      <a16:colId xmlns:a16="http://schemas.microsoft.com/office/drawing/2014/main" val="299460375"/>
                    </a:ext>
                  </a:extLst>
                </a:gridCol>
              </a:tblGrid>
              <a:tr h="0">
                <a:tc>
                  <a:txBody>
                    <a:bodyPr/>
                    <a:lstStyle/>
                    <a:p>
                      <a:r>
                        <a:rPr lang="zh-CN" altLang="en-US" sz="800" dirty="0"/>
                        <a:t>位</a:t>
                      </a:r>
                      <a:r>
                        <a:rPr lang="en-US" altLang="zh-CN" sz="800" dirty="0"/>
                        <a:t>1</a:t>
                      </a:r>
                      <a:endParaRPr lang="zh-CN" altLang="en-US" sz="800" dirty="0"/>
                    </a:p>
                  </a:txBody>
                  <a:tcPr/>
                </a:tc>
                <a:tc>
                  <a:txBody>
                    <a:bodyPr/>
                    <a:lstStyle/>
                    <a:p>
                      <a:r>
                        <a:rPr lang="zh-CN" altLang="en-US" sz="800" dirty="0"/>
                        <a:t>位</a:t>
                      </a:r>
                      <a:r>
                        <a:rPr lang="en-US" altLang="zh-CN" sz="800" dirty="0"/>
                        <a:t>2</a:t>
                      </a:r>
                      <a:endParaRPr lang="zh-CN" altLang="en-US" sz="800" dirty="0"/>
                    </a:p>
                  </a:txBody>
                  <a:tcPr/>
                </a:tc>
                <a:tc>
                  <a:txBody>
                    <a:bodyPr/>
                    <a:lstStyle/>
                    <a:p>
                      <a:r>
                        <a:rPr lang="zh-CN" altLang="en-US" sz="800" dirty="0"/>
                        <a:t>位</a:t>
                      </a:r>
                      <a:r>
                        <a:rPr lang="en-US" altLang="zh-CN" sz="800" dirty="0"/>
                        <a:t>1&amp;</a:t>
                      </a:r>
                      <a:r>
                        <a:rPr lang="zh-CN" altLang="en-US" sz="800" dirty="0"/>
                        <a:t>位</a:t>
                      </a:r>
                      <a:r>
                        <a:rPr lang="en-US" altLang="zh-CN" sz="800" dirty="0"/>
                        <a:t>2</a:t>
                      </a:r>
                      <a:endParaRPr lang="zh-CN" altLang="en-US" sz="800" dirty="0"/>
                    </a:p>
                  </a:txBody>
                  <a:tcPr/>
                </a:tc>
                <a:extLst>
                  <a:ext uri="{0D108BD9-81ED-4DB2-BD59-A6C34878D82A}">
                    <a16:rowId xmlns:a16="http://schemas.microsoft.com/office/drawing/2014/main" val="1726546124"/>
                  </a:ext>
                </a:extLst>
              </a:tr>
              <a:tr h="0">
                <a:tc>
                  <a:txBody>
                    <a:bodyPr/>
                    <a:lstStyle/>
                    <a:p>
                      <a:r>
                        <a:rPr lang="en-US" altLang="zh-CN" sz="800" dirty="0"/>
                        <a:t>0</a:t>
                      </a:r>
                      <a:endParaRPr lang="zh-CN" altLang="en-US" sz="800" dirty="0"/>
                    </a:p>
                  </a:txBody>
                  <a:tcPr/>
                </a:tc>
                <a:tc>
                  <a:txBody>
                    <a:bodyPr/>
                    <a:lstStyle/>
                    <a:p>
                      <a:r>
                        <a:rPr lang="en-US" altLang="zh-CN" sz="800" dirty="0"/>
                        <a:t>0</a:t>
                      </a:r>
                      <a:endParaRPr lang="zh-CN" altLang="en-US" sz="800" dirty="0"/>
                    </a:p>
                  </a:txBody>
                  <a:tcPr/>
                </a:tc>
                <a:tc>
                  <a:txBody>
                    <a:bodyPr/>
                    <a:lstStyle/>
                    <a:p>
                      <a:r>
                        <a:rPr lang="en-US" altLang="zh-CN" sz="800" dirty="0"/>
                        <a:t>0</a:t>
                      </a:r>
                      <a:endParaRPr lang="zh-CN" altLang="en-US" sz="800" dirty="0"/>
                    </a:p>
                  </a:txBody>
                  <a:tcPr/>
                </a:tc>
                <a:extLst>
                  <a:ext uri="{0D108BD9-81ED-4DB2-BD59-A6C34878D82A}">
                    <a16:rowId xmlns:a16="http://schemas.microsoft.com/office/drawing/2014/main" val="4087026716"/>
                  </a:ext>
                </a:extLst>
              </a:tr>
              <a:tr h="0">
                <a:tc>
                  <a:txBody>
                    <a:bodyPr/>
                    <a:lstStyle/>
                    <a:p>
                      <a:r>
                        <a:rPr lang="en-US" altLang="zh-CN" sz="800" dirty="0"/>
                        <a:t>0</a:t>
                      </a:r>
                      <a:endParaRPr lang="zh-CN" altLang="en-US" sz="800" dirty="0"/>
                    </a:p>
                  </a:txBody>
                  <a:tcPr/>
                </a:tc>
                <a:tc>
                  <a:txBody>
                    <a:bodyPr/>
                    <a:lstStyle/>
                    <a:p>
                      <a:r>
                        <a:rPr lang="en-US" altLang="zh-CN" sz="800" dirty="0"/>
                        <a:t>1</a:t>
                      </a:r>
                      <a:endParaRPr lang="zh-CN" altLang="en-US" sz="800" dirty="0"/>
                    </a:p>
                  </a:txBody>
                  <a:tcPr/>
                </a:tc>
                <a:tc>
                  <a:txBody>
                    <a:bodyPr/>
                    <a:lstStyle/>
                    <a:p>
                      <a:r>
                        <a:rPr lang="en-US" altLang="zh-CN" sz="800" dirty="0"/>
                        <a:t>1</a:t>
                      </a:r>
                      <a:endParaRPr lang="zh-CN" altLang="en-US" sz="800" dirty="0"/>
                    </a:p>
                  </a:txBody>
                  <a:tcPr/>
                </a:tc>
                <a:extLst>
                  <a:ext uri="{0D108BD9-81ED-4DB2-BD59-A6C34878D82A}">
                    <a16:rowId xmlns:a16="http://schemas.microsoft.com/office/drawing/2014/main" val="785870141"/>
                  </a:ext>
                </a:extLst>
              </a:tr>
              <a:tr h="0">
                <a:tc>
                  <a:txBody>
                    <a:bodyPr/>
                    <a:lstStyle/>
                    <a:p>
                      <a:r>
                        <a:rPr lang="en-US" altLang="zh-CN" sz="800" dirty="0"/>
                        <a:t>1</a:t>
                      </a:r>
                      <a:endParaRPr lang="zh-CN" altLang="en-US" sz="800" dirty="0"/>
                    </a:p>
                  </a:txBody>
                  <a:tcPr/>
                </a:tc>
                <a:tc>
                  <a:txBody>
                    <a:bodyPr/>
                    <a:lstStyle/>
                    <a:p>
                      <a:r>
                        <a:rPr lang="en-US" altLang="zh-CN" sz="800" dirty="0"/>
                        <a:t>0</a:t>
                      </a:r>
                      <a:endParaRPr lang="zh-CN" altLang="en-US" sz="800" dirty="0"/>
                    </a:p>
                  </a:txBody>
                  <a:tcPr/>
                </a:tc>
                <a:tc>
                  <a:txBody>
                    <a:bodyPr/>
                    <a:lstStyle/>
                    <a:p>
                      <a:r>
                        <a:rPr lang="en-US" altLang="zh-CN" sz="800" dirty="0"/>
                        <a:t>1</a:t>
                      </a:r>
                      <a:endParaRPr lang="zh-CN" altLang="en-US" sz="800" dirty="0"/>
                    </a:p>
                  </a:txBody>
                  <a:tcPr/>
                </a:tc>
                <a:extLst>
                  <a:ext uri="{0D108BD9-81ED-4DB2-BD59-A6C34878D82A}">
                    <a16:rowId xmlns:a16="http://schemas.microsoft.com/office/drawing/2014/main" val="1894914895"/>
                  </a:ext>
                </a:extLst>
              </a:tr>
              <a:tr h="0">
                <a:tc>
                  <a:txBody>
                    <a:bodyPr/>
                    <a:lstStyle/>
                    <a:p>
                      <a:r>
                        <a:rPr lang="en-US" altLang="zh-CN" sz="800" dirty="0"/>
                        <a:t>1</a:t>
                      </a:r>
                      <a:endParaRPr lang="zh-CN" altLang="en-US" sz="800" dirty="0"/>
                    </a:p>
                  </a:txBody>
                  <a:tcPr/>
                </a:tc>
                <a:tc>
                  <a:txBody>
                    <a:bodyPr/>
                    <a:lstStyle/>
                    <a:p>
                      <a:r>
                        <a:rPr lang="en-US" altLang="zh-CN" sz="800" dirty="0"/>
                        <a:t>1</a:t>
                      </a:r>
                      <a:endParaRPr lang="zh-CN" altLang="en-US" sz="800" dirty="0"/>
                    </a:p>
                  </a:txBody>
                  <a:tcPr/>
                </a:tc>
                <a:tc>
                  <a:txBody>
                    <a:bodyPr/>
                    <a:lstStyle/>
                    <a:p>
                      <a:r>
                        <a:rPr lang="en-US" altLang="zh-CN" sz="800" dirty="0"/>
                        <a:t>1</a:t>
                      </a:r>
                      <a:endParaRPr lang="zh-CN" altLang="en-US" sz="800" dirty="0"/>
                    </a:p>
                  </a:txBody>
                  <a:tcPr/>
                </a:tc>
                <a:extLst>
                  <a:ext uri="{0D108BD9-81ED-4DB2-BD59-A6C34878D82A}">
                    <a16:rowId xmlns:a16="http://schemas.microsoft.com/office/drawing/2014/main" val="78851519"/>
                  </a:ext>
                </a:extLst>
              </a:tr>
            </a:tbl>
          </a:graphicData>
        </a:graphic>
      </p:graphicFrame>
      <p:sp>
        <p:nvSpPr>
          <p:cNvPr id="7" name="文本框 6">
            <a:extLst>
              <a:ext uri="{FF2B5EF4-FFF2-40B4-BE49-F238E27FC236}">
                <a16:creationId xmlns:a16="http://schemas.microsoft.com/office/drawing/2014/main" id="{36922450-9BD2-46FC-A974-87E55D528027}"/>
              </a:ext>
            </a:extLst>
          </p:cNvPr>
          <p:cNvSpPr txBox="1"/>
          <p:nvPr/>
        </p:nvSpPr>
        <p:spPr>
          <a:xfrm>
            <a:off x="2843808" y="3291830"/>
            <a:ext cx="3456384" cy="1200329"/>
          </a:xfrm>
          <a:prstGeom prst="rect">
            <a:avLst/>
          </a:prstGeom>
          <a:noFill/>
        </p:spPr>
        <p:txBody>
          <a:bodyPr wrap="square" rtlCol="0">
            <a:spAutoFit/>
          </a:bodyPr>
          <a:lstStyle/>
          <a:p>
            <a:r>
              <a:rPr lang="zh-CN" altLang="en-US" dirty="0"/>
              <a:t>示例：</a:t>
            </a:r>
            <a:endParaRPr lang="en-US" altLang="zh-CN" dirty="0"/>
          </a:p>
          <a:p>
            <a:r>
              <a:rPr lang="en-US" altLang="zh-CN" dirty="0"/>
              <a:t>   0011 0110</a:t>
            </a:r>
          </a:p>
          <a:p>
            <a:r>
              <a:rPr lang="en-US" altLang="zh-CN" dirty="0"/>
              <a:t>| 0101 0101</a:t>
            </a:r>
          </a:p>
          <a:p>
            <a:r>
              <a:rPr lang="en-US" altLang="zh-CN" dirty="0"/>
              <a:t>   0111 0111</a:t>
            </a:r>
            <a:endParaRPr lang="zh-CN" altLang="en-US" dirty="0"/>
          </a:p>
        </p:txBody>
      </p:sp>
      <p:cxnSp>
        <p:nvCxnSpPr>
          <p:cNvPr id="9" name="直接连接符 8">
            <a:extLst>
              <a:ext uri="{FF2B5EF4-FFF2-40B4-BE49-F238E27FC236}">
                <a16:creationId xmlns:a16="http://schemas.microsoft.com/office/drawing/2014/main" id="{FF5C7D46-3F8A-462A-9A46-EF3DD8EBAE31}"/>
              </a:ext>
            </a:extLst>
          </p:cNvPr>
          <p:cNvCxnSpPr/>
          <p:nvPr/>
        </p:nvCxnSpPr>
        <p:spPr>
          <a:xfrm>
            <a:off x="2924007" y="4169701"/>
            <a:ext cx="1332000" cy="0"/>
          </a:xfrm>
          <a:prstGeom prst="line">
            <a:avLst/>
          </a:prstGeom>
          <a:ln w="12700"/>
        </p:spPr>
        <p:style>
          <a:lnRef idx="1">
            <a:schemeClr val="dk1"/>
          </a:lnRef>
          <a:fillRef idx="0">
            <a:schemeClr val="dk1"/>
          </a:fillRef>
          <a:effectRef idx="0">
            <a:schemeClr val="dk1"/>
          </a:effectRef>
          <a:fontRef idx="minor">
            <a:schemeClr val="tx1"/>
          </a:fontRef>
        </p:style>
      </p:cxnSp>
      <p:sp>
        <p:nvSpPr>
          <p:cNvPr id="10" name="文本框 9">
            <a:extLst>
              <a:ext uri="{FF2B5EF4-FFF2-40B4-BE49-F238E27FC236}">
                <a16:creationId xmlns:a16="http://schemas.microsoft.com/office/drawing/2014/main" id="{CE3A7A9F-7F8B-44E3-B96E-FE7423A2F194}"/>
              </a:ext>
            </a:extLst>
          </p:cNvPr>
          <p:cNvSpPr txBox="1"/>
          <p:nvPr/>
        </p:nvSpPr>
        <p:spPr>
          <a:xfrm>
            <a:off x="4484242" y="3291829"/>
            <a:ext cx="4659758" cy="1384995"/>
          </a:xfrm>
          <a:prstGeom prst="rect">
            <a:avLst/>
          </a:prstGeom>
          <a:noFill/>
        </p:spPr>
        <p:txBody>
          <a:bodyPr wrap="square" rtlCol="0">
            <a:spAutoFit/>
          </a:bodyPr>
          <a:lstStyle/>
          <a:p>
            <a:r>
              <a:rPr lang="zh-CN" altLang="en-US" sz="1400" dirty="0"/>
              <a:t>按位或的作用：</a:t>
            </a:r>
            <a:endParaRPr lang="en-US" altLang="zh-CN" sz="1400" dirty="0"/>
          </a:p>
          <a:p>
            <a:r>
              <a:rPr lang="en-US" altLang="zh-CN" sz="1400" dirty="0"/>
              <a:t>1.</a:t>
            </a:r>
            <a:r>
              <a:rPr lang="zh-CN" altLang="en-US" sz="1400" dirty="0"/>
              <a:t>将数的某些位置</a:t>
            </a:r>
            <a:r>
              <a:rPr lang="en-US" altLang="zh-CN" sz="1400" dirty="0"/>
              <a:t>1</a:t>
            </a:r>
          </a:p>
          <a:p>
            <a:r>
              <a:rPr lang="zh-CN" altLang="en-US" sz="1400" dirty="0"/>
              <a:t>例如：</a:t>
            </a:r>
            <a:r>
              <a:rPr lang="en-US" altLang="zh-CN" sz="1400" dirty="0"/>
              <a:t>a=0x55</a:t>
            </a:r>
            <a:r>
              <a:rPr lang="zh-CN" altLang="en-US" sz="1400" dirty="0"/>
              <a:t>，要将其低四位置</a:t>
            </a:r>
            <a:r>
              <a:rPr lang="en-US" altLang="zh-CN" sz="1400" dirty="0"/>
              <a:t>1</a:t>
            </a:r>
            <a:r>
              <a:rPr lang="zh-CN" altLang="en-US" sz="1400" dirty="0"/>
              <a:t>，可将</a:t>
            </a:r>
            <a:r>
              <a:rPr lang="en-US" altLang="zh-CN" sz="1400" dirty="0"/>
              <a:t>a</a:t>
            </a:r>
            <a:r>
              <a:rPr lang="zh-CN" altLang="en-US" sz="1400" dirty="0"/>
              <a:t>或上</a:t>
            </a:r>
            <a:r>
              <a:rPr lang="en-US" altLang="zh-CN" sz="1400" dirty="0"/>
              <a:t>0x0f</a:t>
            </a:r>
            <a:r>
              <a:rPr lang="zh-CN" altLang="en-US" sz="1400" dirty="0"/>
              <a:t>。</a:t>
            </a:r>
            <a:endParaRPr lang="en-US" altLang="zh-CN" sz="1400" dirty="0"/>
          </a:p>
          <a:p>
            <a:r>
              <a:rPr lang="en-US" altLang="zh-CN" sz="1400" dirty="0"/>
              <a:t>2.</a:t>
            </a:r>
            <a:r>
              <a:rPr lang="zh-CN" altLang="en-US" sz="1400" dirty="0"/>
              <a:t>把一串二进制数连接到另一串二进制数后</a:t>
            </a:r>
            <a:endParaRPr lang="en-US" altLang="zh-CN" sz="1400" dirty="0"/>
          </a:p>
          <a:p>
            <a:r>
              <a:rPr lang="zh-CN" altLang="en-US" sz="1400" dirty="0"/>
              <a:t>例如：</a:t>
            </a:r>
            <a:r>
              <a:rPr lang="en-US" altLang="zh-CN" sz="1400" dirty="0"/>
              <a:t>a=0x55</a:t>
            </a:r>
            <a:r>
              <a:rPr lang="zh-CN" altLang="en-US" sz="1400" dirty="0"/>
              <a:t>，将</a:t>
            </a:r>
            <a:r>
              <a:rPr lang="en-US" altLang="zh-CN" sz="1400" dirty="0"/>
              <a:t>0xaa</a:t>
            </a:r>
            <a:r>
              <a:rPr lang="zh-CN" altLang="en-US" sz="1400" dirty="0"/>
              <a:t>连接到</a:t>
            </a:r>
            <a:r>
              <a:rPr lang="en-US" altLang="zh-CN" sz="1400" dirty="0"/>
              <a:t>a</a:t>
            </a:r>
            <a:r>
              <a:rPr lang="zh-CN" altLang="en-US" sz="1400" dirty="0"/>
              <a:t>后，可先将</a:t>
            </a:r>
            <a:r>
              <a:rPr lang="en-US" altLang="zh-CN" sz="1400" dirty="0"/>
              <a:t>a</a:t>
            </a:r>
            <a:r>
              <a:rPr lang="zh-CN" altLang="en-US" sz="1400" dirty="0"/>
              <a:t>左移</a:t>
            </a:r>
            <a:r>
              <a:rPr lang="en-US" altLang="zh-CN" sz="1400" dirty="0"/>
              <a:t>8</a:t>
            </a:r>
            <a:r>
              <a:rPr lang="zh-CN" altLang="en-US" sz="1400" dirty="0"/>
              <a:t>位，然后或上</a:t>
            </a:r>
            <a:r>
              <a:rPr lang="en-US" altLang="zh-CN" sz="1400" dirty="0"/>
              <a:t>0xaa</a:t>
            </a:r>
            <a:r>
              <a:rPr lang="zh-CN" altLang="en-US" sz="1400" dirty="0"/>
              <a:t>。</a:t>
            </a:r>
          </a:p>
        </p:txBody>
      </p:sp>
    </p:spTree>
    <p:extLst>
      <p:ext uri="{BB962C8B-B14F-4D97-AF65-F5344CB8AC3E}">
        <p14:creationId xmlns:p14="http://schemas.microsoft.com/office/powerpoint/2010/main" val="121873780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627563" y="3047600"/>
              <a:ext cx="1662692"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位运算</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7</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04023" y="451867"/>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按位异或运算</a:t>
              </a:r>
              <a:r>
                <a:rPr lang="en-US" altLang="zh-CN" sz="2400" dirty="0">
                  <a:latin typeface="方正粗倩简体" panose="03000509000000000000" pitchFamily="65" charset="-122"/>
                  <a:ea typeface="方正粗倩简体" panose="03000509000000000000" pitchFamily="65" charset="-122"/>
                </a:rPr>
                <a:t>”^”</a:t>
              </a:r>
              <a:endParaRPr lang="zh-CN" altLang="en-US" sz="2400" dirty="0">
                <a:latin typeface="方正粗倩简体" panose="03000509000000000000" pitchFamily="65" charset="-122"/>
                <a:ea typeface="方正粗倩简体" panose="03000509000000000000" pitchFamily="65" charset="-122"/>
              </a:endParaRP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2195736" y="1310779"/>
            <a:ext cx="6588226" cy="923330"/>
          </a:xfrm>
          <a:prstGeom prst="rect">
            <a:avLst/>
          </a:prstGeom>
          <a:noFill/>
        </p:spPr>
        <p:txBody>
          <a:bodyPr wrap="square" rtlCol="0">
            <a:spAutoFit/>
          </a:bodyPr>
          <a:lstStyle/>
          <a:p>
            <a:r>
              <a:rPr lang="en-US" altLang="zh-CN" dirty="0">
                <a:solidFill>
                  <a:srgbClr val="984807"/>
                </a:solidFill>
                <a:latin typeface="方正粗倩简体" panose="03000509000000000000" pitchFamily="65" charset="-122"/>
                <a:ea typeface="方正粗倩简体" panose="03000509000000000000" pitchFamily="65" charset="-122"/>
              </a:rPr>
              <a:t>1.</a:t>
            </a:r>
            <a:r>
              <a:rPr lang="zh-CN" altLang="en-US" dirty="0">
                <a:solidFill>
                  <a:srgbClr val="984807"/>
                </a:solidFill>
                <a:latin typeface="方正粗倩简体" panose="03000509000000000000" pitchFamily="65" charset="-122"/>
                <a:ea typeface="方正粗倩简体" panose="03000509000000000000" pitchFamily="65" charset="-122"/>
              </a:rPr>
              <a:t>按位异或运算是对两个操作数逐位“相异或”</a:t>
            </a:r>
            <a:endParaRPr lang="en-US" altLang="zh-CN" dirty="0">
              <a:solidFill>
                <a:srgbClr val="984807"/>
              </a:solidFill>
              <a:latin typeface="方正粗倩简体" panose="03000509000000000000" pitchFamily="65" charset="-122"/>
              <a:ea typeface="方正粗倩简体" panose="03000509000000000000" pitchFamily="65" charset="-122"/>
            </a:endParaRPr>
          </a:p>
          <a:p>
            <a:r>
              <a:rPr lang="en-US" altLang="zh-CN" dirty="0">
                <a:solidFill>
                  <a:srgbClr val="984807"/>
                </a:solidFill>
                <a:latin typeface="方正粗倩简体" panose="03000509000000000000" pitchFamily="65" charset="-122"/>
                <a:ea typeface="方正粗倩简体" panose="03000509000000000000" pitchFamily="65" charset="-122"/>
              </a:rPr>
              <a:t>2.</a:t>
            </a:r>
            <a:r>
              <a:rPr lang="zh-CN" altLang="en-US" dirty="0">
                <a:solidFill>
                  <a:srgbClr val="984807"/>
                </a:solidFill>
                <a:latin typeface="方正粗倩简体" panose="03000509000000000000" pitchFamily="65" charset="-122"/>
                <a:ea typeface="方正粗倩简体" panose="03000509000000000000" pitchFamily="65" charset="-122"/>
              </a:rPr>
              <a:t>运算真值表：</a:t>
            </a:r>
            <a:endParaRPr lang="en-US" altLang="zh-CN" dirty="0">
              <a:solidFill>
                <a:srgbClr val="984807"/>
              </a:solidFill>
              <a:latin typeface="方正粗倩简体" panose="03000509000000000000" pitchFamily="65" charset="-122"/>
              <a:ea typeface="方正粗倩简体" panose="03000509000000000000" pitchFamily="65" charset="-122"/>
            </a:endParaRPr>
          </a:p>
          <a:p>
            <a:endParaRPr lang="en-US" altLang="zh-CN" dirty="0">
              <a:solidFill>
                <a:srgbClr val="984807"/>
              </a:solidFill>
              <a:latin typeface="方正粗倩简体" panose="03000509000000000000" pitchFamily="65" charset="-122"/>
              <a:ea typeface="方正粗倩简体" panose="03000509000000000000" pitchFamily="65" charset="-122"/>
            </a:endParaRPr>
          </a:p>
        </p:txBody>
      </p:sp>
      <p:graphicFrame>
        <p:nvGraphicFramePr>
          <p:cNvPr id="6" name="表格 5">
            <a:extLst>
              <a:ext uri="{FF2B5EF4-FFF2-40B4-BE49-F238E27FC236}">
                <a16:creationId xmlns:a16="http://schemas.microsoft.com/office/drawing/2014/main" id="{41549610-A408-4C4B-A545-8B53A2476E4C}"/>
              </a:ext>
            </a:extLst>
          </p:cNvPr>
          <p:cNvGraphicFramePr>
            <a:graphicFrameLocks noGrp="1"/>
          </p:cNvGraphicFramePr>
          <p:nvPr>
            <p:extLst>
              <p:ext uri="{D42A27DB-BD31-4B8C-83A1-F6EECF244321}">
                <p14:modId xmlns:p14="http://schemas.microsoft.com/office/powerpoint/2010/main" val="2151098056"/>
              </p:ext>
            </p:extLst>
          </p:nvPr>
        </p:nvGraphicFramePr>
        <p:xfrm>
          <a:off x="3224787" y="1985572"/>
          <a:ext cx="2304255" cy="1066800"/>
        </p:xfrm>
        <a:graphic>
          <a:graphicData uri="http://schemas.openxmlformats.org/drawingml/2006/table">
            <a:tbl>
              <a:tblPr firstRow="1" bandRow="1">
                <a:tableStyleId>{5C22544A-7EE6-4342-B048-85BDC9FD1C3A}</a:tableStyleId>
              </a:tblPr>
              <a:tblGrid>
                <a:gridCol w="768085">
                  <a:extLst>
                    <a:ext uri="{9D8B030D-6E8A-4147-A177-3AD203B41FA5}">
                      <a16:colId xmlns:a16="http://schemas.microsoft.com/office/drawing/2014/main" val="3918039056"/>
                    </a:ext>
                  </a:extLst>
                </a:gridCol>
                <a:gridCol w="768085">
                  <a:extLst>
                    <a:ext uri="{9D8B030D-6E8A-4147-A177-3AD203B41FA5}">
                      <a16:colId xmlns:a16="http://schemas.microsoft.com/office/drawing/2014/main" val="3060667193"/>
                    </a:ext>
                  </a:extLst>
                </a:gridCol>
                <a:gridCol w="768085">
                  <a:extLst>
                    <a:ext uri="{9D8B030D-6E8A-4147-A177-3AD203B41FA5}">
                      <a16:colId xmlns:a16="http://schemas.microsoft.com/office/drawing/2014/main" val="299460375"/>
                    </a:ext>
                  </a:extLst>
                </a:gridCol>
              </a:tblGrid>
              <a:tr h="0">
                <a:tc>
                  <a:txBody>
                    <a:bodyPr/>
                    <a:lstStyle/>
                    <a:p>
                      <a:r>
                        <a:rPr lang="zh-CN" altLang="en-US" sz="800" dirty="0"/>
                        <a:t>位</a:t>
                      </a:r>
                      <a:r>
                        <a:rPr lang="en-US" altLang="zh-CN" sz="800" dirty="0"/>
                        <a:t>1</a:t>
                      </a:r>
                      <a:endParaRPr lang="zh-CN" altLang="en-US" sz="800" dirty="0"/>
                    </a:p>
                  </a:txBody>
                  <a:tcPr/>
                </a:tc>
                <a:tc>
                  <a:txBody>
                    <a:bodyPr/>
                    <a:lstStyle/>
                    <a:p>
                      <a:r>
                        <a:rPr lang="zh-CN" altLang="en-US" sz="800" dirty="0"/>
                        <a:t>位</a:t>
                      </a:r>
                      <a:r>
                        <a:rPr lang="en-US" altLang="zh-CN" sz="800" dirty="0"/>
                        <a:t>2</a:t>
                      </a:r>
                      <a:endParaRPr lang="zh-CN" altLang="en-US" sz="800" dirty="0"/>
                    </a:p>
                  </a:txBody>
                  <a:tcPr/>
                </a:tc>
                <a:tc>
                  <a:txBody>
                    <a:bodyPr/>
                    <a:lstStyle/>
                    <a:p>
                      <a:r>
                        <a:rPr lang="zh-CN" altLang="en-US" sz="800" dirty="0"/>
                        <a:t>位</a:t>
                      </a:r>
                      <a:r>
                        <a:rPr lang="en-US" altLang="zh-CN" sz="800" dirty="0"/>
                        <a:t>1&amp;</a:t>
                      </a:r>
                      <a:r>
                        <a:rPr lang="zh-CN" altLang="en-US" sz="800" dirty="0"/>
                        <a:t>位</a:t>
                      </a:r>
                      <a:r>
                        <a:rPr lang="en-US" altLang="zh-CN" sz="800" dirty="0"/>
                        <a:t>2</a:t>
                      </a:r>
                      <a:endParaRPr lang="zh-CN" altLang="en-US" sz="800" dirty="0"/>
                    </a:p>
                  </a:txBody>
                  <a:tcPr/>
                </a:tc>
                <a:extLst>
                  <a:ext uri="{0D108BD9-81ED-4DB2-BD59-A6C34878D82A}">
                    <a16:rowId xmlns:a16="http://schemas.microsoft.com/office/drawing/2014/main" val="1726546124"/>
                  </a:ext>
                </a:extLst>
              </a:tr>
              <a:tr h="0">
                <a:tc>
                  <a:txBody>
                    <a:bodyPr/>
                    <a:lstStyle/>
                    <a:p>
                      <a:r>
                        <a:rPr lang="en-US" altLang="zh-CN" sz="800" dirty="0"/>
                        <a:t>0</a:t>
                      </a:r>
                      <a:endParaRPr lang="zh-CN" altLang="en-US" sz="800" dirty="0"/>
                    </a:p>
                  </a:txBody>
                  <a:tcPr/>
                </a:tc>
                <a:tc>
                  <a:txBody>
                    <a:bodyPr/>
                    <a:lstStyle/>
                    <a:p>
                      <a:r>
                        <a:rPr lang="en-US" altLang="zh-CN" sz="800" dirty="0"/>
                        <a:t>0</a:t>
                      </a:r>
                      <a:endParaRPr lang="zh-CN" altLang="en-US" sz="800" dirty="0"/>
                    </a:p>
                  </a:txBody>
                  <a:tcPr/>
                </a:tc>
                <a:tc>
                  <a:txBody>
                    <a:bodyPr/>
                    <a:lstStyle/>
                    <a:p>
                      <a:r>
                        <a:rPr lang="en-US" altLang="zh-CN" sz="800" dirty="0"/>
                        <a:t>0</a:t>
                      </a:r>
                      <a:endParaRPr lang="zh-CN" altLang="en-US" sz="800" dirty="0"/>
                    </a:p>
                  </a:txBody>
                  <a:tcPr/>
                </a:tc>
                <a:extLst>
                  <a:ext uri="{0D108BD9-81ED-4DB2-BD59-A6C34878D82A}">
                    <a16:rowId xmlns:a16="http://schemas.microsoft.com/office/drawing/2014/main" val="4087026716"/>
                  </a:ext>
                </a:extLst>
              </a:tr>
              <a:tr h="0">
                <a:tc>
                  <a:txBody>
                    <a:bodyPr/>
                    <a:lstStyle/>
                    <a:p>
                      <a:r>
                        <a:rPr lang="en-US" altLang="zh-CN" sz="800" dirty="0"/>
                        <a:t>0</a:t>
                      </a:r>
                      <a:endParaRPr lang="zh-CN" altLang="en-US" sz="800" dirty="0"/>
                    </a:p>
                  </a:txBody>
                  <a:tcPr/>
                </a:tc>
                <a:tc>
                  <a:txBody>
                    <a:bodyPr/>
                    <a:lstStyle/>
                    <a:p>
                      <a:r>
                        <a:rPr lang="en-US" altLang="zh-CN" sz="800" dirty="0"/>
                        <a:t>1</a:t>
                      </a:r>
                      <a:endParaRPr lang="zh-CN" altLang="en-US" sz="800" dirty="0"/>
                    </a:p>
                  </a:txBody>
                  <a:tcPr/>
                </a:tc>
                <a:tc>
                  <a:txBody>
                    <a:bodyPr/>
                    <a:lstStyle/>
                    <a:p>
                      <a:r>
                        <a:rPr lang="en-US" altLang="zh-CN" sz="800" dirty="0"/>
                        <a:t>1</a:t>
                      </a:r>
                      <a:endParaRPr lang="zh-CN" altLang="en-US" sz="800" dirty="0"/>
                    </a:p>
                  </a:txBody>
                  <a:tcPr/>
                </a:tc>
                <a:extLst>
                  <a:ext uri="{0D108BD9-81ED-4DB2-BD59-A6C34878D82A}">
                    <a16:rowId xmlns:a16="http://schemas.microsoft.com/office/drawing/2014/main" val="785870141"/>
                  </a:ext>
                </a:extLst>
              </a:tr>
              <a:tr h="0">
                <a:tc>
                  <a:txBody>
                    <a:bodyPr/>
                    <a:lstStyle/>
                    <a:p>
                      <a:r>
                        <a:rPr lang="en-US" altLang="zh-CN" sz="800" dirty="0"/>
                        <a:t>1</a:t>
                      </a:r>
                      <a:endParaRPr lang="zh-CN" altLang="en-US" sz="800" dirty="0"/>
                    </a:p>
                  </a:txBody>
                  <a:tcPr/>
                </a:tc>
                <a:tc>
                  <a:txBody>
                    <a:bodyPr/>
                    <a:lstStyle/>
                    <a:p>
                      <a:r>
                        <a:rPr lang="en-US" altLang="zh-CN" sz="800" dirty="0"/>
                        <a:t>0</a:t>
                      </a:r>
                      <a:endParaRPr lang="zh-CN" altLang="en-US" sz="800" dirty="0"/>
                    </a:p>
                  </a:txBody>
                  <a:tcPr/>
                </a:tc>
                <a:tc>
                  <a:txBody>
                    <a:bodyPr/>
                    <a:lstStyle/>
                    <a:p>
                      <a:r>
                        <a:rPr lang="en-US" altLang="zh-CN" sz="800" dirty="0"/>
                        <a:t>1</a:t>
                      </a:r>
                      <a:endParaRPr lang="zh-CN" altLang="en-US" sz="800" dirty="0"/>
                    </a:p>
                  </a:txBody>
                  <a:tcPr/>
                </a:tc>
                <a:extLst>
                  <a:ext uri="{0D108BD9-81ED-4DB2-BD59-A6C34878D82A}">
                    <a16:rowId xmlns:a16="http://schemas.microsoft.com/office/drawing/2014/main" val="1894914895"/>
                  </a:ext>
                </a:extLst>
              </a:tr>
              <a:tr h="0">
                <a:tc>
                  <a:txBody>
                    <a:bodyPr/>
                    <a:lstStyle/>
                    <a:p>
                      <a:r>
                        <a:rPr lang="en-US" altLang="zh-CN" sz="800" dirty="0"/>
                        <a:t>1</a:t>
                      </a:r>
                      <a:endParaRPr lang="zh-CN" altLang="en-US" sz="800" dirty="0"/>
                    </a:p>
                  </a:txBody>
                  <a:tcPr/>
                </a:tc>
                <a:tc>
                  <a:txBody>
                    <a:bodyPr/>
                    <a:lstStyle/>
                    <a:p>
                      <a:r>
                        <a:rPr lang="en-US" altLang="zh-CN" sz="800" dirty="0"/>
                        <a:t>1</a:t>
                      </a:r>
                      <a:endParaRPr lang="zh-CN" altLang="en-US" sz="800" dirty="0"/>
                    </a:p>
                  </a:txBody>
                  <a:tcPr/>
                </a:tc>
                <a:tc>
                  <a:txBody>
                    <a:bodyPr/>
                    <a:lstStyle/>
                    <a:p>
                      <a:r>
                        <a:rPr lang="en-US" altLang="zh-CN" sz="800" dirty="0"/>
                        <a:t>0</a:t>
                      </a:r>
                      <a:endParaRPr lang="zh-CN" altLang="en-US" sz="800" dirty="0"/>
                    </a:p>
                  </a:txBody>
                  <a:tcPr/>
                </a:tc>
                <a:extLst>
                  <a:ext uri="{0D108BD9-81ED-4DB2-BD59-A6C34878D82A}">
                    <a16:rowId xmlns:a16="http://schemas.microsoft.com/office/drawing/2014/main" val="78851519"/>
                  </a:ext>
                </a:extLst>
              </a:tr>
            </a:tbl>
          </a:graphicData>
        </a:graphic>
      </p:graphicFrame>
      <p:sp>
        <p:nvSpPr>
          <p:cNvPr id="7" name="文本框 6">
            <a:extLst>
              <a:ext uri="{FF2B5EF4-FFF2-40B4-BE49-F238E27FC236}">
                <a16:creationId xmlns:a16="http://schemas.microsoft.com/office/drawing/2014/main" id="{36922450-9BD2-46FC-A974-87E55D528027}"/>
              </a:ext>
            </a:extLst>
          </p:cNvPr>
          <p:cNvSpPr txBox="1"/>
          <p:nvPr/>
        </p:nvSpPr>
        <p:spPr>
          <a:xfrm>
            <a:off x="2843808" y="3291830"/>
            <a:ext cx="3456384" cy="1200329"/>
          </a:xfrm>
          <a:prstGeom prst="rect">
            <a:avLst/>
          </a:prstGeom>
          <a:noFill/>
        </p:spPr>
        <p:txBody>
          <a:bodyPr wrap="square" rtlCol="0">
            <a:spAutoFit/>
          </a:bodyPr>
          <a:lstStyle/>
          <a:p>
            <a:r>
              <a:rPr lang="zh-CN" altLang="en-US" dirty="0"/>
              <a:t>示例：</a:t>
            </a:r>
            <a:endParaRPr lang="en-US" altLang="zh-CN" dirty="0"/>
          </a:p>
          <a:p>
            <a:r>
              <a:rPr lang="en-US" altLang="zh-CN" dirty="0"/>
              <a:t>   0011 0110</a:t>
            </a:r>
          </a:p>
          <a:p>
            <a:r>
              <a:rPr lang="en-US" altLang="zh-CN" dirty="0"/>
              <a:t>^ 0000 1111</a:t>
            </a:r>
          </a:p>
          <a:p>
            <a:r>
              <a:rPr lang="en-US" altLang="zh-CN" dirty="0"/>
              <a:t>   0011 1001</a:t>
            </a:r>
            <a:endParaRPr lang="zh-CN" altLang="en-US" dirty="0"/>
          </a:p>
        </p:txBody>
      </p:sp>
      <p:cxnSp>
        <p:nvCxnSpPr>
          <p:cNvPr id="9" name="直接连接符 8">
            <a:extLst>
              <a:ext uri="{FF2B5EF4-FFF2-40B4-BE49-F238E27FC236}">
                <a16:creationId xmlns:a16="http://schemas.microsoft.com/office/drawing/2014/main" id="{FF5C7D46-3F8A-462A-9A46-EF3DD8EBAE31}"/>
              </a:ext>
            </a:extLst>
          </p:cNvPr>
          <p:cNvCxnSpPr/>
          <p:nvPr/>
        </p:nvCxnSpPr>
        <p:spPr>
          <a:xfrm>
            <a:off x="2924007" y="4169701"/>
            <a:ext cx="1332000" cy="0"/>
          </a:xfrm>
          <a:prstGeom prst="line">
            <a:avLst/>
          </a:prstGeom>
          <a:ln w="12700"/>
        </p:spPr>
        <p:style>
          <a:lnRef idx="1">
            <a:schemeClr val="dk1"/>
          </a:lnRef>
          <a:fillRef idx="0">
            <a:schemeClr val="dk1"/>
          </a:fillRef>
          <a:effectRef idx="0">
            <a:schemeClr val="dk1"/>
          </a:effectRef>
          <a:fontRef idx="minor">
            <a:schemeClr val="tx1"/>
          </a:fontRef>
        </p:style>
      </p:cxnSp>
      <p:sp>
        <p:nvSpPr>
          <p:cNvPr id="10" name="文本框 9">
            <a:extLst>
              <a:ext uri="{FF2B5EF4-FFF2-40B4-BE49-F238E27FC236}">
                <a16:creationId xmlns:a16="http://schemas.microsoft.com/office/drawing/2014/main" id="{CE3A7A9F-7F8B-44E3-B96E-FE7423A2F194}"/>
              </a:ext>
            </a:extLst>
          </p:cNvPr>
          <p:cNvSpPr txBox="1"/>
          <p:nvPr/>
        </p:nvSpPr>
        <p:spPr>
          <a:xfrm>
            <a:off x="4572000" y="3586873"/>
            <a:ext cx="4659758" cy="523220"/>
          </a:xfrm>
          <a:prstGeom prst="rect">
            <a:avLst/>
          </a:prstGeom>
          <a:noFill/>
        </p:spPr>
        <p:txBody>
          <a:bodyPr wrap="square" rtlCol="0">
            <a:spAutoFit/>
          </a:bodyPr>
          <a:lstStyle/>
          <a:p>
            <a:r>
              <a:rPr lang="zh-CN" altLang="en-US" sz="1400" dirty="0"/>
              <a:t>按位异或的作用：</a:t>
            </a:r>
            <a:endParaRPr lang="en-US" altLang="zh-CN" sz="1400" dirty="0"/>
          </a:p>
          <a:p>
            <a:r>
              <a:rPr lang="zh-CN" altLang="en-US" sz="1400" dirty="0"/>
              <a:t>某位要保持不变就异或</a:t>
            </a:r>
            <a:r>
              <a:rPr lang="en-US" altLang="zh-CN" sz="1400" dirty="0"/>
              <a:t>0</a:t>
            </a:r>
            <a:r>
              <a:rPr lang="zh-CN" altLang="en-US" sz="1400" dirty="0"/>
              <a:t>，要取反就异或</a:t>
            </a:r>
            <a:r>
              <a:rPr lang="en-US" altLang="zh-CN" sz="1400" dirty="0"/>
              <a:t>1</a:t>
            </a:r>
            <a:r>
              <a:rPr lang="zh-CN" altLang="en-US" sz="1400" dirty="0"/>
              <a:t>。</a:t>
            </a:r>
          </a:p>
        </p:txBody>
      </p:sp>
    </p:spTree>
    <p:extLst>
      <p:ext uri="{BB962C8B-B14F-4D97-AF65-F5344CB8AC3E}">
        <p14:creationId xmlns:p14="http://schemas.microsoft.com/office/powerpoint/2010/main" val="296778918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627563" y="3047600"/>
              <a:ext cx="1662692"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位运算</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7</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04020" y="956692"/>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二进制左移</a:t>
              </a:r>
              <a:r>
                <a:rPr lang="en-US" altLang="zh-CN" sz="2400" dirty="0">
                  <a:latin typeface="方正粗倩简体" panose="03000509000000000000" pitchFamily="65" charset="-122"/>
                  <a:ea typeface="方正粗倩简体" panose="03000509000000000000" pitchFamily="65" charset="-122"/>
                </a:rPr>
                <a:t>”&lt;&lt;”</a:t>
              </a:r>
              <a:endParaRPr lang="zh-CN" altLang="en-US" sz="2400" dirty="0">
                <a:latin typeface="方正粗倩简体" panose="03000509000000000000" pitchFamily="65" charset="-122"/>
                <a:ea typeface="方正粗倩简体" panose="03000509000000000000" pitchFamily="65" charset="-122"/>
              </a:endParaRP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1473670" y="1902731"/>
            <a:ext cx="6626722" cy="646331"/>
          </a:xfrm>
          <a:prstGeom prst="rect">
            <a:avLst/>
          </a:prstGeom>
          <a:noFill/>
        </p:spPr>
        <p:txBody>
          <a:bodyPr wrap="square" rtlCol="0">
            <a:spAutoFit/>
          </a:bodyPr>
          <a:lstStyle/>
          <a:p>
            <a:r>
              <a:rPr lang="zh-CN" altLang="en-US" dirty="0">
                <a:solidFill>
                  <a:srgbClr val="984807"/>
                </a:solidFill>
                <a:latin typeface="方正粗倩简体" panose="03000509000000000000" pitchFamily="65" charset="-122"/>
                <a:ea typeface="方正粗倩简体" panose="03000509000000000000" pitchFamily="65" charset="-122"/>
              </a:rPr>
              <a:t>运算规则：符号位保持不变，把数据向左移动若干位，移出左边界的所有位都将丢失，右侧的新增加的位为</a:t>
            </a:r>
            <a:r>
              <a:rPr lang="en-US" altLang="zh-CN" dirty="0">
                <a:solidFill>
                  <a:srgbClr val="984807"/>
                </a:solidFill>
                <a:latin typeface="方正粗倩简体" panose="03000509000000000000" pitchFamily="65" charset="-122"/>
                <a:ea typeface="方正粗倩简体" panose="03000509000000000000" pitchFamily="65" charset="-122"/>
              </a:rPr>
              <a:t>0</a:t>
            </a:r>
            <a:r>
              <a:rPr lang="zh-CN" altLang="en-US" dirty="0">
                <a:solidFill>
                  <a:srgbClr val="984807"/>
                </a:solidFill>
                <a:latin typeface="方正粗倩简体" panose="03000509000000000000" pitchFamily="65" charset="-122"/>
                <a:ea typeface="方正粗倩简体" panose="03000509000000000000" pitchFamily="65" charset="-122"/>
              </a:rPr>
              <a:t>。</a:t>
            </a:r>
            <a:endParaRPr lang="en-US" altLang="zh-CN" dirty="0">
              <a:solidFill>
                <a:srgbClr val="984807"/>
              </a:solidFill>
              <a:latin typeface="方正粗倩简体" panose="03000509000000000000" pitchFamily="65" charset="-122"/>
              <a:ea typeface="方正粗倩简体" panose="03000509000000000000" pitchFamily="65" charset="-122"/>
            </a:endParaRPr>
          </a:p>
        </p:txBody>
      </p:sp>
      <p:sp>
        <p:nvSpPr>
          <p:cNvPr id="7" name="文本框 6">
            <a:extLst>
              <a:ext uri="{FF2B5EF4-FFF2-40B4-BE49-F238E27FC236}">
                <a16:creationId xmlns:a16="http://schemas.microsoft.com/office/drawing/2014/main" id="{36922450-9BD2-46FC-A974-87E55D528027}"/>
              </a:ext>
            </a:extLst>
          </p:cNvPr>
          <p:cNvSpPr txBox="1"/>
          <p:nvPr/>
        </p:nvSpPr>
        <p:spPr>
          <a:xfrm>
            <a:off x="2988108" y="3124196"/>
            <a:ext cx="4722950" cy="646331"/>
          </a:xfrm>
          <a:prstGeom prst="rect">
            <a:avLst/>
          </a:prstGeom>
          <a:noFill/>
        </p:spPr>
        <p:txBody>
          <a:bodyPr wrap="square" rtlCol="0">
            <a:spAutoFit/>
          </a:bodyPr>
          <a:lstStyle/>
          <a:p>
            <a:r>
              <a:rPr lang="zh-CN" altLang="en-US" dirty="0"/>
              <a:t>示例：</a:t>
            </a:r>
            <a:r>
              <a:rPr lang="en-US" altLang="zh-CN" dirty="0"/>
              <a:t>int a=4, a&lt;&lt;2</a:t>
            </a:r>
            <a:r>
              <a:rPr lang="zh-CN" altLang="en-US" dirty="0"/>
              <a:t>的结果为</a:t>
            </a:r>
            <a:r>
              <a:rPr lang="en-US" altLang="zh-CN" dirty="0"/>
              <a:t>16</a:t>
            </a:r>
          </a:p>
          <a:p>
            <a:r>
              <a:rPr lang="zh-CN" altLang="en-US" dirty="0"/>
              <a:t>二进制</a:t>
            </a:r>
            <a:r>
              <a:rPr lang="en-US" altLang="zh-CN" dirty="0"/>
              <a:t>0000 0100 &lt;&lt; 2</a:t>
            </a:r>
            <a:r>
              <a:rPr lang="zh-CN" altLang="en-US" dirty="0"/>
              <a:t>的结果为</a:t>
            </a:r>
            <a:r>
              <a:rPr lang="en-US" altLang="zh-CN" dirty="0"/>
              <a:t>0001 0000</a:t>
            </a:r>
          </a:p>
        </p:txBody>
      </p:sp>
    </p:spTree>
    <p:extLst>
      <p:ext uri="{BB962C8B-B14F-4D97-AF65-F5344CB8AC3E}">
        <p14:creationId xmlns:p14="http://schemas.microsoft.com/office/powerpoint/2010/main" val="427739769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627563" y="3047600"/>
              <a:ext cx="1662692"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位运算</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7</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04017" y="319292"/>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二进制右移</a:t>
              </a:r>
              <a:r>
                <a:rPr lang="en-US" altLang="zh-CN" sz="2400" dirty="0">
                  <a:latin typeface="方正粗倩简体" panose="03000509000000000000" pitchFamily="65" charset="-122"/>
                  <a:ea typeface="方正粗倩简体" panose="03000509000000000000" pitchFamily="65" charset="-122"/>
                </a:rPr>
                <a:t>”&gt;&gt;”</a:t>
              </a:r>
              <a:endParaRPr lang="zh-CN" altLang="en-US" sz="2400" dirty="0">
                <a:latin typeface="方正粗倩简体" panose="03000509000000000000" pitchFamily="65" charset="-122"/>
                <a:ea typeface="方正粗倩简体" panose="03000509000000000000" pitchFamily="65" charset="-122"/>
              </a:endParaRP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1258638" y="1207104"/>
            <a:ext cx="7129786" cy="1200329"/>
          </a:xfrm>
          <a:prstGeom prst="rect">
            <a:avLst/>
          </a:prstGeom>
          <a:noFill/>
        </p:spPr>
        <p:txBody>
          <a:bodyPr wrap="square" rtlCol="0">
            <a:spAutoFit/>
          </a:bodyPr>
          <a:lstStyle/>
          <a:p>
            <a:r>
              <a:rPr lang="zh-CN" altLang="en-US" dirty="0">
                <a:solidFill>
                  <a:srgbClr val="984807"/>
                </a:solidFill>
                <a:latin typeface="方正粗倩简体" panose="03000509000000000000" pitchFamily="65" charset="-122"/>
                <a:ea typeface="方正粗倩简体" panose="03000509000000000000" pitchFamily="65" charset="-122"/>
              </a:rPr>
              <a:t>运算规则：把数据向右移动若干位，移出右边界的所有位都将丢失，左侧的新增加的位遵循下面的规则：</a:t>
            </a:r>
            <a:endParaRPr lang="en-US" altLang="zh-CN" dirty="0">
              <a:solidFill>
                <a:srgbClr val="984807"/>
              </a:solidFill>
              <a:latin typeface="方正粗倩简体" panose="03000509000000000000" pitchFamily="65" charset="-122"/>
              <a:ea typeface="方正粗倩简体" panose="03000509000000000000" pitchFamily="65" charset="-122"/>
            </a:endParaRPr>
          </a:p>
          <a:p>
            <a:r>
              <a:rPr lang="en-US" altLang="zh-CN" dirty="0">
                <a:solidFill>
                  <a:srgbClr val="984807"/>
                </a:solidFill>
                <a:latin typeface="方正粗倩简体" panose="03000509000000000000" pitchFamily="65" charset="-122"/>
                <a:ea typeface="方正粗倩简体" panose="03000509000000000000" pitchFamily="65" charset="-122"/>
              </a:rPr>
              <a:t>1.</a:t>
            </a:r>
            <a:r>
              <a:rPr lang="zh-CN" altLang="en-US" dirty="0">
                <a:solidFill>
                  <a:srgbClr val="984807"/>
                </a:solidFill>
                <a:latin typeface="方正粗倩简体" panose="03000509000000000000" pitchFamily="65" charset="-122"/>
                <a:ea typeface="方正粗倩简体" panose="03000509000000000000" pitchFamily="65" charset="-122"/>
              </a:rPr>
              <a:t>对于无符号数，右移时左侧的新位一律补</a:t>
            </a:r>
            <a:r>
              <a:rPr lang="en-US" altLang="zh-CN" dirty="0">
                <a:solidFill>
                  <a:srgbClr val="984807"/>
                </a:solidFill>
                <a:latin typeface="方正粗倩简体" panose="03000509000000000000" pitchFamily="65" charset="-122"/>
                <a:ea typeface="方正粗倩简体" panose="03000509000000000000" pitchFamily="65" charset="-122"/>
              </a:rPr>
              <a:t>0</a:t>
            </a:r>
            <a:r>
              <a:rPr lang="zh-CN" altLang="en-US" dirty="0">
                <a:solidFill>
                  <a:srgbClr val="984807"/>
                </a:solidFill>
                <a:latin typeface="方正粗倩简体" panose="03000509000000000000" pitchFamily="65" charset="-122"/>
                <a:ea typeface="方正粗倩简体" panose="03000509000000000000" pitchFamily="65" charset="-122"/>
              </a:rPr>
              <a:t>，称为“逻辑右移”</a:t>
            </a:r>
            <a:endParaRPr lang="en-US" altLang="zh-CN" dirty="0">
              <a:solidFill>
                <a:srgbClr val="984807"/>
              </a:solidFill>
              <a:latin typeface="方正粗倩简体" panose="03000509000000000000" pitchFamily="65" charset="-122"/>
              <a:ea typeface="方正粗倩简体" panose="03000509000000000000" pitchFamily="65" charset="-122"/>
            </a:endParaRPr>
          </a:p>
          <a:p>
            <a:r>
              <a:rPr lang="en-US" altLang="zh-CN" dirty="0">
                <a:solidFill>
                  <a:srgbClr val="984807"/>
                </a:solidFill>
                <a:latin typeface="方正粗倩简体" panose="03000509000000000000" pitchFamily="65" charset="-122"/>
                <a:ea typeface="方正粗倩简体" panose="03000509000000000000" pitchFamily="65" charset="-122"/>
              </a:rPr>
              <a:t>2.</a:t>
            </a:r>
            <a:r>
              <a:rPr lang="zh-CN" altLang="en-US" dirty="0">
                <a:solidFill>
                  <a:srgbClr val="984807"/>
                </a:solidFill>
                <a:latin typeface="方正粗倩简体" panose="03000509000000000000" pitchFamily="65" charset="-122"/>
                <a:ea typeface="方正粗倩简体" panose="03000509000000000000" pitchFamily="65" charset="-122"/>
              </a:rPr>
              <a:t>对于有符号数，右移时左侧的新位一律补符号位，称为“算数右移”</a:t>
            </a:r>
            <a:endParaRPr lang="en-US" altLang="zh-CN" dirty="0">
              <a:solidFill>
                <a:srgbClr val="984807"/>
              </a:solidFill>
              <a:latin typeface="方正粗倩简体" panose="03000509000000000000" pitchFamily="65" charset="-122"/>
              <a:ea typeface="方正粗倩简体" panose="03000509000000000000" pitchFamily="65" charset="-122"/>
            </a:endParaRPr>
          </a:p>
        </p:txBody>
      </p:sp>
      <p:sp>
        <p:nvSpPr>
          <p:cNvPr id="7" name="文本框 6">
            <a:extLst>
              <a:ext uri="{FF2B5EF4-FFF2-40B4-BE49-F238E27FC236}">
                <a16:creationId xmlns:a16="http://schemas.microsoft.com/office/drawing/2014/main" id="{36922450-9BD2-46FC-A974-87E55D528027}"/>
              </a:ext>
            </a:extLst>
          </p:cNvPr>
          <p:cNvSpPr txBox="1"/>
          <p:nvPr/>
        </p:nvSpPr>
        <p:spPr>
          <a:xfrm>
            <a:off x="2771800" y="2986044"/>
            <a:ext cx="5256584" cy="1200329"/>
          </a:xfrm>
          <a:prstGeom prst="rect">
            <a:avLst/>
          </a:prstGeom>
          <a:noFill/>
        </p:spPr>
        <p:txBody>
          <a:bodyPr wrap="square" rtlCol="0">
            <a:spAutoFit/>
          </a:bodyPr>
          <a:lstStyle/>
          <a:p>
            <a:r>
              <a:rPr lang="zh-CN" altLang="en-US" dirty="0"/>
              <a:t>示例</a:t>
            </a:r>
            <a:r>
              <a:rPr lang="en-US" altLang="zh-CN" dirty="0"/>
              <a:t>1</a:t>
            </a:r>
            <a:r>
              <a:rPr lang="zh-CN" altLang="en-US" dirty="0"/>
              <a:t>：</a:t>
            </a:r>
            <a:r>
              <a:rPr lang="en-US" altLang="zh-CN" dirty="0"/>
              <a:t>a</a:t>
            </a:r>
            <a:r>
              <a:rPr lang="zh-CN" altLang="en-US" dirty="0"/>
              <a:t>为无符号数</a:t>
            </a:r>
            <a:r>
              <a:rPr lang="en-US" altLang="zh-CN" dirty="0"/>
              <a:t>8</a:t>
            </a:r>
            <a:r>
              <a:rPr lang="zh-CN" altLang="en-US" dirty="0"/>
              <a:t>，二进制表示为</a:t>
            </a:r>
            <a:r>
              <a:rPr lang="en-US" altLang="zh-CN" dirty="0"/>
              <a:t>0000 1000</a:t>
            </a:r>
            <a:r>
              <a:rPr lang="zh-CN" altLang="en-US" dirty="0"/>
              <a:t>，</a:t>
            </a:r>
            <a:r>
              <a:rPr lang="en-US" altLang="zh-CN" dirty="0"/>
              <a:t>a&gt;&gt;2</a:t>
            </a:r>
            <a:r>
              <a:rPr lang="zh-CN" altLang="en-US" dirty="0"/>
              <a:t>得</a:t>
            </a:r>
            <a:r>
              <a:rPr lang="en-US" altLang="zh-CN" dirty="0"/>
              <a:t>0000 0010</a:t>
            </a:r>
            <a:r>
              <a:rPr lang="zh-CN" altLang="en-US" dirty="0"/>
              <a:t>，结果为</a:t>
            </a:r>
            <a:r>
              <a:rPr lang="en-US" altLang="zh-CN" dirty="0"/>
              <a:t>2</a:t>
            </a:r>
          </a:p>
          <a:p>
            <a:r>
              <a:rPr lang="zh-CN" altLang="en-US" dirty="0"/>
              <a:t>示例</a:t>
            </a:r>
            <a:r>
              <a:rPr lang="en-US" altLang="zh-CN" dirty="0"/>
              <a:t>2</a:t>
            </a:r>
            <a:r>
              <a:rPr lang="zh-CN" altLang="en-US" dirty="0"/>
              <a:t>：</a:t>
            </a:r>
            <a:r>
              <a:rPr lang="en-US" altLang="zh-CN" dirty="0"/>
              <a:t>b</a:t>
            </a:r>
            <a:r>
              <a:rPr lang="zh-CN" altLang="en-US" dirty="0"/>
              <a:t>为有符号数</a:t>
            </a:r>
            <a:r>
              <a:rPr lang="en-US" altLang="zh-CN" dirty="0"/>
              <a:t>-10</a:t>
            </a:r>
            <a:r>
              <a:rPr lang="zh-CN" altLang="en-US" dirty="0"/>
              <a:t>， 二进制补码为</a:t>
            </a:r>
            <a:r>
              <a:rPr lang="en-US" altLang="zh-CN" dirty="0"/>
              <a:t>1111 0010</a:t>
            </a:r>
            <a:r>
              <a:rPr lang="zh-CN" altLang="en-US" dirty="0"/>
              <a:t>，</a:t>
            </a:r>
            <a:r>
              <a:rPr lang="en-US" altLang="zh-CN" dirty="0"/>
              <a:t>b&gt;&gt;1</a:t>
            </a:r>
            <a:r>
              <a:rPr lang="zh-CN" altLang="en-US" dirty="0"/>
              <a:t>得</a:t>
            </a:r>
            <a:r>
              <a:rPr lang="en-US" altLang="zh-CN" dirty="0"/>
              <a:t>1111 1011</a:t>
            </a:r>
            <a:r>
              <a:rPr lang="zh-CN" altLang="en-US" dirty="0"/>
              <a:t>，结果为</a:t>
            </a:r>
            <a:r>
              <a:rPr lang="en-US" altLang="zh-CN" dirty="0"/>
              <a:t>-5</a:t>
            </a:r>
          </a:p>
        </p:txBody>
      </p:sp>
    </p:spTree>
    <p:extLst>
      <p:ext uri="{BB962C8B-B14F-4D97-AF65-F5344CB8AC3E}">
        <p14:creationId xmlns:p14="http://schemas.microsoft.com/office/powerpoint/2010/main" val="320033210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627563" y="3047600"/>
              <a:ext cx="1662692"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位运算</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7</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11670" y="987974"/>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按位取反</a:t>
              </a:r>
              <a:r>
                <a:rPr lang="en-US" altLang="zh-CN" sz="2400" dirty="0">
                  <a:latin typeface="方正粗倩简体" panose="03000509000000000000" pitchFamily="65" charset="-122"/>
                  <a:ea typeface="方正粗倩简体" panose="03000509000000000000" pitchFamily="65" charset="-122"/>
                </a:rPr>
                <a:t>”~”</a:t>
              </a:r>
              <a:endParaRPr lang="zh-CN" altLang="en-US" sz="2400" dirty="0">
                <a:latin typeface="方正粗倩简体" panose="03000509000000000000" pitchFamily="65" charset="-122"/>
                <a:ea typeface="方正粗倩简体" panose="03000509000000000000" pitchFamily="65" charset="-122"/>
              </a:endParaRP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文本框 3"/>
          <p:cNvSpPr txBox="1"/>
          <p:nvPr/>
        </p:nvSpPr>
        <p:spPr>
          <a:xfrm>
            <a:off x="2339752" y="1878691"/>
            <a:ext cx="7129786" cy="369332"/>
          </a:xfrm>
          <a:prstGeom prst="rect">
            <a:avLst/>
          </a:prstGeom>
          <a:noFill/>
        </p:spPr>
        <p:txBody>
          <a:bodyPr wrap="square" rtlCol="0">
            <a:spAutoFit/>
          </a:bodyPr>
          <a:lstStyle/>
          <a:p>
            <a:r>
              <a:rPr lang="zh-CN" altLang="en-US" dirty="0">
                <a:solidFill>
                  <a:srgbClr val="984807"/>
                </a:solidFill>
                <a:latin typeface="方正粗倩简体" panose="03000509000000000000" pitchFamily="65" charset="-122"/>
                <a:ea typeface="方正粗倩简体" panose="03000509000000000000" pitchFamily="65" charset="-122"/>
              </a:rPr>
              <a:t>按位取反运算是将操作数进行逐位</a:t>
            </a:r>
            <a:r>
              <a:rPr lang="en-US" altLang="zh-CN" dirty="0">
                <a:solidFill>
                  <a:srgbClr val="984807"/>
                </a:solidFill>
                <a:latin typeface="方正粗倩简体" panose="03000509000000000000" pitchFamily="65" charset="-122"/>
                <a:ea typeface="方正粗倩简体" panose="03000509000000000000" pitchFamily="65" charset="-122"/>
              </a:rPr>
              <a:t>”</a:t>
            </a:r>
            <a:r>
              <a:rPr lang="zh-CN" altLang="en-US" dirty="0">
                <a:solidFill>
                  <a:srgbClr val="984807"/>
                </a:solidFill>
                <a:latin typeface="方正粗倩简体" panose="03000509000000000000" pitchFamily="65" charset="-122"/>
                <a:ea typeface="方正粗倩简体" panose="03000509000000000000" pitchFamily="65" charset="-122"/>
              </a:rPr>
              <a:t>取反</a:t>
            </a:r>
            <a:r>
              <a:rPr lang="en-US" altLang="zh-CN" dirty="0">
                <a:solidFill>
                  <a:srgbClr val="984807"/>
                </a:solidFill>
                <a:latin typeface="方正粗倩简体" panose="03000509000000000000" pitchFamily="65" charset="-122"/>
                <a:ea typeface="方正粗倩简体" panose="03000509000000000000" pitchFamily="65" charset="-122"/>
              </a:rPr>
              <a:t>”</a:t>
            </a:r>
          </a:p>
        </p:txBody>
      </p:sp>
      <p:sp>
        <p:nvSpPr>
          <p:cNvPr id="7" name="文本框 6">
            <a:extLst>
              <a:ext uri="{FF2B5EF4-FFF2-40B4-BE49-F238E27FC236}">
                <a16:creationId xmlns:a16="http://schemas.microsoft.com/office/drawing/2014/main" id="{36922450-9BD2-46FC-A974-87E55D528027}"/>
              </a:ext>
            </a:extLst>
          </p:cNvPr>
          <p:cNvSpPr txBox="1"/>
          <p:nvPr/>
        </p:nvSpPr>
        <p:spPr>
          <a:xfrm>
            <a:off x="2627784" y="2946162"/>
            <a:ext cx="5328592" cy="923330"/>
          </a:xfrm>
          <a:prstGeom prst="rect">
            <a:avLst/>
          </a:prstGeom>
          <a:noFill/>
        </p:spPr>
        <p:txBody>
          <a:bodyPr wrap="square" rtlCol="0">
            <a:spAutoFit/>
          </a:bodyPr>
          <a:lstStyle/>
          <a:p>
            <a:r>
              <a:rPr lang="zh-CN" altLang="en-US" dirty="0"/>
              <a:t>例如：</a:t>
            </a:r>
            <a:endParaRPr lang="en-US" altLang="zh-CN" dirty="0"/>
          </a:p>
          <a:p>
            <a:r>
              <a:rPr lang="zh-CN" altLang="en-US" dirty="0"/>
              <a:t>变量</a:t>
            </a:r>
            <a:r>
              <a:rPr lang="en-US" altLang="zh-CN" dirty="0"/>
              <a:t>a=0x6a</a:t>
            </a:r>
            <a:r>
              <a:rPr lang="zh-CN" altLang="en-US" dirty="0"/>
              <a:t>，二进制表示为</a:t>
            </a:r>
            <a:r>
              <a:rPr lang="en-US" altLang="zh-CN" dirty="0"/>
              <a:t>0110 1010</a:t>
            </a:r>
            <a:r>
              <a:rPr lang="zh-CN" altLang="en-US" dirty="0"/>
              <a:t>，按位取反后为</a:t>
            </a:r>
            <a:r>
              <a:rPr lang="en-US" altLang="zh-CN" dirty="0"/>
              <a:t>1001 0101</a:t>
            </a:r>
            <a:r>
              <a:rPr lang="zh-CN" altLang="en-US" dirty="0"/>
              <a:t>，所以</a:t>
            </a:r>
            <a:r>
              <a:rPr lang="en-US" altLang="zh-CN" dirty="0"/>
              <a:t>~a</a:t>
            </a:r>
            <a:r>
              <a:rPr lang="zh-CN" altLang="en-US" dirty="0"/>
              <a:t>的结果为</a:t>
            </a:r>
            <a:r>
              <a:rPr lang="en-US" altLang="zh-CN" dirty="0"/>
              <a:t>0x95</a:t>
            </a:r>
          </a:p>
        </p:txBody>
      </p:sp>
    </p:spTree>
    <p:extLst>
      <p:ext uri="{BB962C8B-B14F-4D97-AF65-F5344CB8AC3E}">
        <p14:creationId xmlns:p14="http://schemas.microsoft.com/office/powerpoint/2010/main" val="367240521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0608" y="2170566"/>
            <a:ext cx="3412278" cy="2489416"/>
            <a:chOff x="928502" y="2170566"/>
            <a:chExt cx="3412278" cy="2489416"/>
          </a:xfrm>
        </p:grpSpPr>
        <p:sp>
          <p:nvSpPr>
            <p:cNvPr id="34" name="剪去单角的矩形 33"/>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2627563" y="3047600"/>
              <a:ext cx="1662692"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库函数</a:t>
              </a:r>
            </a:p>
          </p:txBody>
        </p:sp>
        <p:pic>
          <p:nvPicPr>
            <p:cNvPr id="37"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p:cNvSpPr/>
          <p:nvPr/>
        </p:nvSpPr>
        <p:spPr>
          <a:xfrm flipH="1">
            <a:off x="323528"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8</a:t>
            </a:r>
            <a:endParaRPr lang="zh-CN" altLang="en-US" b="1" dirty="0">
              <a:solidFill>
                <a:srgbClr val="01497B"/>
              </a:solidFill>
              <a:latin typeface="微软雅黑" pitchFamily="34" charset="-122"/>
              <a:ea typeface="微软雅黑" pitchFamily="34" charset="-122"/>
            </a:endParaRPr>
          </a:p>
        </p:txBody>
      </p:sp>
      <p:grpSp>
        <p:nvGrpSpPr>
          <p:cNvPr id="3" name="组合 2"/>
          <p:cNvGrpSpPr/>
          <p:nvPr/>
        </p:nvGrpSpPr>
        <p:grpSpPr>
          <a:xfrm>
            <a:off x="2504017" y="319292"/>
            <a:ext cx="3960442" cy="1037231"/>
            <a:chOff x="3995933" y="814439"/>
            <a:chExt cx="2376267" cy="1037231"/>
          </a:xfrm>
        </p:grpSpPr>
        <p:sp>
          <p:nvSpPr>
            <p:cNvPr id="5" name="TextBox 4"/>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使用库函数</a:t>
              </a:r>
            </a:p>
          </p:txBody>
        </p:sp>
        <p:pic>
          <p:nvPicPr>
            <p:cNvPr id="18"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12">
            <a:extLst>
              <a:ext uri="{FF2B5EF4-FFF2-40B4-BE49-F238E27FC236}">
                <a16:creationId xmlns:a16="http://schemas.microsoft.com/office/drawing/2014/main" id="{20602BD2-E686-10F7-6368-013344EDF834}"/>
              </a:ext>
            </a:extLst>
          </p:cNvPr>
          <p:cNvSpPr txBox="1"/>
          <p:nvPr/>
        </p:nvSpPr>
        <p:spPr>
          <a:xfrm>
            <a:off x="3168468" y="1023842"/>
            <a:ext cx="3277143" cy="3737946"/>
          </a:xfrm>
          <a:prstGeom prst="rect">
            <a:avLst/>
          </a:prstGeom>
          <a:noFill/>
        </p:spPr>
        <p:txBody>
          <a:bodyPr wrap="square" rtlCol="0">
            <a:spAutoFit/>
          </a:bodyPr>
          <a:lstStyle/>
          <a:p>
            <a:pPr>
              <a:lnSpc>
                <a:spcPct val="150000"/>
              </a:lnSpc>
            </a:pPr>
            <a:r>
              <a:rPr lang="en-US" altLang="zh-CN" sz="2000" b="1" dirty="0"/>
              <a:t>1.</a:t>
            </a:r>
            <a:r>
              <a:rPr lang="zh-CN" altLang="en-US" sz="2000" b="1" dirty="0"/>
              <a:t>包含头文件 </a:t>
            </a:r>
            <a:endParaRPr lang="en-US" altLang="zh-CN" sz="2000" b="1" dirty="0"/>
          </a:p>
          <a:p>
            <a:pPr>
              <a:lnSpc>
                <a:spcPct val="150000"/>
              </a:lnSpc>
            </a:pPr>
            <a:r>
              <a:rPr lang="en-US" altLang="zh-CN" sz="2000" dirty="0"/>
              <a:t>#include&lt;</a:t>
            </a:r>
            <a:r>
              <a:rPr lang="en-US" altLang="zh-CN" sz="2000" dirty="0" err="1"/>
              <a:t>cmath</a:t>
            </a:r>
            <a:r>
              <a:rPr lang="en-US" altLang="zh-CN" sz="2000" dirty="0"/>
              <a:t>&gt;</a:t>
            </a:r>
          </a:p>
          <a:p>
            <a:pPr>
              <a:lnSpc>
                <a:spcPct val="150000"/>
              </a:lnSpc>
            </a:pPr>
            <a:r>
              <a:rPr lang="en-US" altLang="zh-CN" sz="2000" b="1" dirty="0"/>
              <a:t>2.</a:t>
            </a:r>
            <a:r>
              <a:rPr lang="zh-CN" altLang="en-US" sz="2000" b="1" dirty="0"/>
              <a:t>库函数声明</a:t>
            </a:r>
            <a:endParaRPr lang="en-US" altLang="zh-CN" sz="2000" b="1" dirty="0"/>
          </a:p>
          <a:p>
            <a:pPr>
              <a:lnSpc>
                <a:spcPct val="150000"/>
              </a:lnSpc>
            </a:pPr>
            <a:r>
              <a:rPr lang="en-US" altLang="zh-CN" sz="2000" dirty="0"/>
              <a:t>double </a:t>
            </a:r>
            <a:r>
              <a:rPr lang="en-US" altLang="zh-CN" sz="2000" dirty="0" err="1"/>
              <a:t>sqrt</a:t>
            </a:r>
            <a:r>
              <a:rPr lang="en-US" altLang="zh-CN" sz="2000" dirty="0"/>
              <a:t>(double x);</a:t>
            </a:r>
          </a:p>
          <a:p>
            <a:pPr>
              <a:lnSpc>
                <a:spcPct val="150000"/>
              </a:lnSpc>
            </a:pPr>
            <a:r>
              <a:rPr lang="en-US" altLang="zh-CN" sz="2000" b="1" dirty="0"/>
              <a:t>3.</a:t>
            </a:r>
            <a:r>
              <a:rPr lang="zh-CN" altLang="en-US" sz="2000" b="1" dirty="0"/>
              <a:t>函数调用</a:t>
            </a:r>
            <a:endParaRPr lang="en-US" altLang="zh-CN" sz="2000" b="1" dirty="0"/>
          </a:p>
          <a:p>
            <a:pPr>
              <a:lnSpc>
                <a:spcPct val="150000"/>
              </a:lnSpc>
            </a:pPr>
            <a:r>
              <a:rPr lang="en-US" altLang="zh-CN" sz="2000" dirty="0"/>
              <a:t>double </a:t>
            </a:r>
            <a:r>
              <a:rPr lang="en-US" altLang="zh-CN" sz="2000" dirty="0" err="1"/>
              <a:t>x,y</a:t>
            </a:r>
            <a:r>
              <a:rPr lang="en-US" altLang="zh-CN" sz="2000" dirty="0"/>
              <a:t>;</a:t>
            </a:r>
          </a:p>
          <a:p>
            <a:pPr>
              <a:lnSpc>
                <a:spcPct val="150000"/>
              </a:lnSpc>
            </a:pPr>
            <a:r>
              <a:rPr lang="en-US" altLang="zh-CN" sz="2000" dirty="0" err="1"/>
              <a:t>cin</a:t>
            </a:r>
            <a:r>
              <a:rPr lang="en-US" altLang="zh-CN" sz="2000" dirty="0"/>
              <a:t>&gt;&gt;x;</a:t>
            </a:r>
          </a:p>
          <a:p>
            <a:pPr>
              <a:lnSpc>
                <a:spcPct val="150000"/>
              </a:lnSpc>
            </a:pPr>
            <a:r>
              <a:rPr lang="en-US" altLang="zh-CN" sz="2000" dirty="0"/>
              <a:t>y=</a:t>
            </a:r>
            <a:r>
              <a:rPr lang="en-US" altLang="zh-CN" sz="2000" dirty="0" err="1"/>
              <a:t>sqrt</a:t>
            </a:r>
            <a:r>
              <a:rPr lang="en-US" altLang="zh-CN" sz="2000" dirty="0"/>
              <a:t>(x);</a:t>
            </a:r>
          </a:p>
        </p:txBody>
      </p:sp>
      <p:sp>
        <p:nvSpPr>
          <p:cNvPr id="8" name="TextBox 9">
            <a:extLst>
              <a:ext uri="{FF2B5EF4-FFF2-40B4-BE49-F238E27FC236}">
                <a16:creationId xmlns:a16="http://schemas.microsoft.com/office/drawing/2014/main" id="{CA74DD9C-726B-BC70-6691-B7362507B53D}"/>
              </a:ext>
            </a:extLst>
          </p:cNvPr>
          <p:cNvSpPr txBox="1"/>
          <p:nvPr/>
        </p:nvSpPr>
        <p:spPr>
          <a:xfrm>
            <a:off x="6012160" y="1608986"/>
            <a:ext cx="3277143" cy="2332177"/>
          </a:xfrm>
          <a:prstGeom prst="rect">
            <a:avLst/>
          </a:prstGeom>
          <a:noFill/>
        </p:spPr>
        <p:txBody>
          <a:bodyPr wrap="square" rtlCol="0">
            <a:spAutoFit/>
          </a:bodyPr>
          <a:lstStyle/>
          <a:p>
            <a:pPr>
              <a:lnSpc>
                <a:spcPct val="150000"/>
              </a:lnSpc>
            </a:pPr>
            <a:r>
              <a:rPr lang="zh-CN" altLang="en-US" sz="2800" b="1" dirty="0"/>
              <a:t>强制类型转换</a:t>
            </a:r>
            <a:endParaRPr lang="en-US" altLang="zh-CN" sz="2800" b="1" dirty="0"/>
          </a:p>
          <a:p>
            <a:pPr>
              <a:lnSpc>
                <a:spcPct val="150000"/>
              </a:lnSpc>
            </a:pPr>
            <a:r>
              <a:rPr lang="en-US" altLang="zh-CN" sz="2400" dirty="0"/>
              <a:t>int </a:t>
            </a:r>
            <a:r>
              <a:rPr lang="en-US" altLang="zh-CN" sz="2400" dirty="0" err="1"/>
              <a:t>x;double</a:t>
            </a:r>
            <a:r>
              <a:rPr lang="en-US" altLang="zh-CN" sz="2400" dirty="0"/>
              <a:t> y;</a:t>
            </a:r>
          </a:p>
          <a:p>
            <a:pPr>
              <a:lnSpc>
                <a:spcPct val="150000"/>
              </a:lnSpc>
            </a:pPr>
            <a:r>
              <a:rPr lang="en-US" altLang="zh-CN" sz="2400" dirty="0"/>
              <a:t>y=sqrt(double (x));</a:t>
            </a:r>
          </a:p>
          <a:p>
            <a:pPr>
              <a:lnSpc>
                <a:spcPct val="150000"/>
              </a:lnSpc>
            </a:pPr>
            <a:r>
              <a:rPr lang="en-US" altLang="zh-CN" sz="2400" dirty="0"/>
              <a:t>y=sqrt(1.0*x);</a:t>
            </a:r>
          </a:p>
        </p:txBody>
      </p:sp>
    </p:spTree>
    <p:extLst>
      <p:ext uri="{BB962C8B-B14F-4D97-AF65-F5344CB8AC3E}">
        <p14:creationId xmlns:p14="http://schemas.microsoft.com/office/powerpoint/2010/main" val="195852552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1+#ppt_w/2"/>
                                          </p:val>
                                        </p:tav>
                                        <p:tav tm="100000">
                                          <p:val>
                                            <p:strVal val="#ppt_x"/>
                                          </p:val>
                                        </p:tav>
                                      </p:tavLst>
                                    </p:anim>
                                    <p:anim calcmode="lin" valueType="num">
                                      <p:cBhvr additive="base">
                                        <p:cTn id="19"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D794A-F823-F207-6B40-D025CB697BF8}"/>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618FB574-21E9-2BCF-69D7-1E2112592129}"/>
              </a:ext>
            </a:extLst>
          </p:cNvPr>
          <p:cNvGrpSpPr/>
          <p:nvPr/>
        </p:nvGrpSpPr>
        <p:grpSpPr>
          <a:xfrm>
            <a:off x="-900608" y="2170566"/>
            <a:ext cx="3412278" cy="2489416"/>
            <a:chOff x="928502" y="2170566"/>
            <a:chExt cx="3412278" cy="2489416"/>
          </a:xfrm>
        </p:grpSpPr>
        <p:sp>
          <p:nvSpPr>
            <p:cNvPr id="34" name="剪去单角的矩形 33">
              <a:extLst>
                <a:ext uri="{FF2B5EF4-FFF2-40B4-BE49-F238E27FC236}">
                  <a16:creationId xmlns:a16="http://schemas.microsoft.com/office/drawing/2014/main" id="{46069BDE-5494-BD4F-1B20-B9EF82A53AC7}"/>
                </a:ext>
              </a:extLst>
            </p:cNvPr>
            <p:cNvSpPr/>
            <p:nvPr/>
          </p:nvSpPr>
          <p:spPr>
            <a:xfrm>
              <a:off x="956949" y="2660849"/>
              <a:ext cx="3376184" cy="1512168"/>
            </a:xfrm>
            <a:prstGeom prst="snip1Rect">
              <a:avLst>
                <a:gd name="adj" fmla="val 0"/>
              </a:avLst>
            </a:prstGeom>
            <a:solidFill>
              <a:srgbClr val="014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a:extLst>
                <a:ext uri="{FF2B5EF4-FFF2-40B4-BE49-F238E27FC236}">
                  <a16:creationId xmlns:a16="http://schemas.microsoft.com/office/drawing/2014/main" id="{B805B8A2-58E5-D663-62B6-885EF04875D4}"/>
                </a:ext>
              </a:extLst>
            </p:cNvPr>
            <p:cNvSpPr txBox="1"/>
            <p:nvPr/>
          </p:nvSpPr>
          <p:spPr>
            <a:xfrm>
              <a:off x="2289605" y="3047600"/>
              <a:ext cx="2000650" cy="584775"/>
            </a:xfrm>
            <a:prstGeom prst="rect">
              <a:avLst/>
            </a:prstGeom>
            <a:noFill/>
          </p:spPr>
          <p:txBody>
            <a:bodyPr wrap="square" rtlCol="0">
              <a:spAutoFit/>
            </a:bodyPr>
            <a:lstStyle/>
            <a:p>
              <a:r>
                <a:rPr lang="zh-CN" altLang="en-US" sz="3200" b="1" dirty="0">
                  <a:gradFill flip="none" rotWithShape="1">
                    <a:gsLst>
                      <a:gs pos="61000">
                        <a:srgbClr val="FFFF80"/>
                      </a:gs>
                      <a:gs pos="0">
                        <a:srgbClr val="FFFF00"/>
                      </a:gs>
                      <a:gs pos="100000">
                        <a:schemeClr val="bg1"/>
                      </a:gs>
                    </a:gsLst>
                    <a:lin ang="5400000" scaled="1"/>
                    <a:tileRect/>
                  </a:gradFill>
                  <a:latin typeface="微软雅黑" pitchFamily="34" charset="-122"/>
                  <a:ea typeface="微软雅黑" pitchFamily="34" charset="-122"/>
                </a:rPr>
                <a:t>枚举类型</a:t>
              </a:r>
            </a:p>
          </p:txBody>
        </p:sp>
        <p:pic>
          <p:nvPicPr>
            <p:cNvPr id="37" name="Picture 4" descr="G:\稻壳儿\5\miracomunicazione\shadow3.png">
              <a:extLst>
                <a:ext uri="{FF2B5EF4-FFF2-40B4-BE49-F238E27FC236}">
                  <a16:creationId xmlns:a16="http://schemas.microsoft.com/office/drawing/2014/main" id="{313E44E7-6067-D2DE-FBED-5AB7CB0BF5E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502" y="4169701"/>
              <a:ext cx="3412278" cy="49028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G:\稻壳儿\5\miracomunicazione\shadow3.png">
              <a:extLst>
                <a:ext uri="{FF2B5EF4-FFF2-40B4-BE49-F238E27FC236}">
                  <a16:creationId xmlns:a16="http://schemas.microsoft.com/office/drawing/2014/main" id="{44A4ACCC-EA5D-DA07-BD16-192BCC46C28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flipV="1">
              <a:off x="956949" y="2170566"/>
              <a:ext cx="3376184" cy="490281"/>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椭圆 11">
            <a:extLst>
              <a:ext uri="{FF2B5EF4-FFF2-40B4-BE49-F238E27FC236}">
                <a16:creationId xmlns:a16="http://schemas.microsoft.com/office/drawing/2014/main" id="{D70C6F21-7FD8-B470-7347-F852B4DEF348}"/>
              </a:ext>
            </a:extLst>
          </p:cNvPr>
          <p:cNvSpPr/>
          <p:nvPr/>
        </p:nvSpPr>
        <p:spPr>
          <a:xfrm flipH="1">
            <a:off x="0" y="3144536"/>
            <a:ext cx="432048" cy="39090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1497B"/>
                </a:solidFill>
                <a:latin typeface="微软雅黑" pitchFamily="34" charset="-122"/>
                <a:ea typeface="微软雅黑" pitchFamily="34" charset="-122"/>
              </a:rPr>
              <a:t>9</a:t>
            </a:r>
            <a:endParaRPr lang="zh-CN" altLang="en-US" b="1" dirty="0">
              <a:solidFill>
                <a:srgbClr val="01497B"/>
              </a:solidFill>
              <a:latin typeface="微软雅黑" pitchFamily="34" charset="-122"/>
              <a:ea typeface="微软雅黑" pitchFamily="34" charset="-122"/>
            </a:endParaRPr>
          </a:p>
        </p:txBody>
      </p:sp>
      <p:grpSp>
        <p:nvGrpSpPr>
          <p:cNvPr id="3" name="组合 2">
            <a:extLst>
              <a:ext uri="{FF2B5EF4-FFF2-40B4-BE49-F238E27FC236}">
                <a16:creationId xmlns:a16="http://schemas.microsoft.com/office/drawing/2014/main" id="{BDAB15F4-B927-CC83-E34C-463C07D367C2}"/>
              </a:ext>
            </a:extLst>
          </p:cNvPr>
          <p:cNvGrpSpPr/>
          <p:nvPr/>
        </p:nvGrpSpPr>
        <p:grpSpPr>
          <a:xfrm>
            <a:off x="2504017" y="319292"/>
            <a:ext cx="3960442" cy="1037231"/>
            <a:chOff x="3995933" y="814439"/>
            <a:chExt cx="2376267" cy="1037231"/>
          </a:xfrm>
        </p:grpSpPr>
        <p:sp>
          <p:nvSpPr>
            <p:cNvPr id="5" name="TextBox 4">
              <a:extLst>
                <a:ext uri="{FF2B5EF4-FFF2-40B4-BE49-F238E27FC236}">
                  <a16:creationId xmlns:a16="http://schemas.microsoft.com/office/drawing/2014/main" id="{E718A75F-1D9F-0413-0E66-09FE160E4CA9}"/>
                </a:ext>
              </a:extLst>
            </p:cNvPr>
            <p:cNvSpPr txBox="1"/>
            <p:nvPr/>
          </p:nvSpPr>
          <p:spPr>
            <a:xfrm>
              <a:off x="3995936" y="1059582"/>
              <a:ext cx="2376264" cy="461665"/>
            </a:xfrm>
            <a:prstGeom prst="rect">
              <a:avLst/>
            </a:prstGeom>
            <a:noFill/>
            <a:ln>
              <a:solidFill>
                <a:schemeClr val="bg1">
                  <a:lumMod val="85000"/>
                </a:schemeClr>
              </a:solidFill>
            </a:ln>
          </p:spPr>
          <p:txBody>
            <a:bodyPr wrap="square" rtlCol="0">
              <a:spAutoFit/>
            </a:bodyPr>
            <a:lstStyle/>
            <a:p>
              <a:pPr algn="ctr"/>
              <a:r>
                <a:rPr lang="zh-CN" altLang="en-US" sz="2400" dirty="0">
                  <a:latin typeface="方正粗倩简体" panose="03000509000000000000" pitchFamily="65" charset="-122"/>
                  <a:ea typeface="方正粗倩简体" panose="03000509000000000000" pitchFamily="65" charset="-122"/>
                </a:rPr>
                <a:t>枚举类型</a:t>
              </a:r>
            </a:p>
          </p:txBody>
        </p:sp>
        <p:pic>
          <p:nvPicPr>
            <p:cNvPr id="18" name="Picture 4" descr="G:\稻壳儿\5\miracomunicazione\shadow3.png">
              <a:extLst>
                <a:ext uri="{FF2B5EF4-FFF2-40B4-BE49-F238E27FC236}">
                  <a16:creationId xmlns:a16="http://schemas.microsoft.com/office/drawing/2014/main" id="{A165921C-B42D-E6DC-A1B5-0FC55881FD5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995933" y="1521247"/>
              <a:ext cx="2376265" cy="3304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稻壳儿\5\miracomunicazione\shadow3.png">
              <a:extLst>
                <a:ext uri="{FF2B5EF4-FFF2-40B4-BE49-F238E27FC236}">
                  <a16:creationId xmlns:a16="http://schemas.microsoft.com/office/drawing/2014/main" id="{693A7FD0-39B2-D3A6-5CBE-D219E97AD24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3995935" y="814439"/>
              <a:ext cx="2376265" cy="245140"/>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12">
            <a:extLst>
              <a:ext uri="{FF2B5EF4-FFF2-40B4-BE49-F238E27FC236}">
                <a16:creationId xmlns:a16="http://schemas.microsoft.com/office/drawing/2014/main" id="{68C03FE9-D921-DBAC-17B4-345B621A46DC}"/>
              </a:ext>
            </a:extLst>
          </p:cNvPr>
          <p:cNvSpPr txBox="1"/>
          <p:nvPr/>
        </p:nvSpPr>
        <p:spPr>
          <a:xfrm>
            <a:off x="2771800" y="1348846"/>
            <a:ext cx="6300192" cy="2953373"/>
          </a:xfrm>
          <a:prstGeom prst="rect">
            <a:avLst/>
          </a:prstGeom>
          <a:noFill/>
        </p:spPr>
        <p:txBody>
          <a:bodyPr wrap="square" rtlCol="0">
            <a:spAutoFit/>
          </a:bodyPr>
          <a:lstStyle/>
          <a:p>
            <a:pPr>
              <a:lnSpc>
                <a:spcPct val="150000"/>
              </a:lnSpc>
            </a:pPr>
            <a:r>
              <a:rPr lang="zh-CN" altLang="en-US" b="1" dirty="0"/>
              <a:t>枚举类型声明格式：</a:t>
            </a:r>
            <a:endParaRPr lang="en-US" altLang="zh-CN" b="1" dirty="0"/>
          </a:p>
          <a:p>
            <a:pPr>
              <a:lnSpc>
                <a:spcPct val="150000"/>
              </a:lnSpc>
            </a:pPr>
            <a:r>
              <a:rPr lang="en-US" altLang="zh-CN" b="1" dirty="0" err="1"/>
              <a:t>enum</a:t>
            </a:r>
            <a:r>
              <a:rPr lang="en-US" altLang="zh-CN" b="1" dirty="0"/>
              <a:t> [</a:t>
            </a:r>
            <a:r>
              <a:rPr lang="zh-CN" altLang="en-US" b="1" dirty="0"/>
              <a:t>枚举名</a:t>
            </a:r>
            <a:r>
              <a:rPr lang="en-US" altLang="zh-CN" b="1" dirty="0"/>
              <a:t>] (</a:t>
            </a:r>
            <a:r>
              <a:rPr lang="zh-CN" altLang="en-US" b="1" dirty="0"/>
              <a:t>标识符</a:t>
            </a:r>
            <a:r>
              <a:rPr lang="en-US" altLang="zh-CN" b="1" dirty="0"/>
              <a:t>[=</a:t>
            </a:r>
            <a:r>
              <a:rPr lang="zh-CN" altLang="en-US" b="1" dirty="0"/>
              <a:t>常量表达式</a:t>
            </a:r>
            <a:r>
              <a:rPr lang="en-US" altLang="zh-CN" b="1" dirty="0"/>
              <a:t>],</a:t>
            </a:r>
            <a:r>
              <a:rPr lang="zh-CN" altLang="en-US" b="1" dirty="0"/>
              <a:t>标识符</a:t>
            </a:r>
            <a:r>
              <a:rPr lang="en-US" altLang="zh-CN" b="1" dirty="0"/>
              <a:t>[=</a:t>
            </a:r>
            <a:r>
              <a:rPr lang="zh-CN" altLang="en-US" b="1" dirty="0"/>
              <a:t>常量表达式</a:t>
            </a:r>
            <a:r>
              <a:rPr lang="en-US" altLang="zh-CN" b="1" dirty="0"/>
              <a:t>],…)</a:t>
            </a:r>
          </a:p>
          <a:p>
            <a:pPr>
              <a:lnSpc>
                <a:spcPct val="150000"/>
              </a:lnSpc>
            </a:pPr>
            <a:r>
              <a:rPr lang="en-US" altLang="zh-CN" b="1" dirty="0" err="1"/>
              <a:t>enum</a:t>
            </a:r>
            <a:r>
              <a:rPr lang="en-US" altLang="zh-CN" b="1" dirty="0"/>
              <a:t> weekday(MON,TUE,WED,THU,FRI,SAT,SUN);</a:t>
            </a:r>
          </a:p>
          <a:p>
            <a:pPr>
              <a:lnSpc>
                <a:spcPct val="150000"/>
              </a:lnSpc>
            </a:pPr>
            <a:r>
              <a:rPr lang="zh-CN" altLang="en-US" b="1" dirty="0"/>
              <a:t>每个值对应一个整型枚举常量，</a:t>
            </a:r>
            <a:r>
              <a:rPr lang="en-US" altLang="zh-CN" b="1" dirty="0"/>
              <a:t>MON</a:t>
            </a:r>
            <a:r>
              <a:rPr lang="zh-CN" altLang="en-US" b="1" dirty="0"/>
              <a:t>到</a:t>
            </a:r>
            <a:r>
              <a:rPr lang="en-US" altLang="zh-CN" b="1" dirty="0"/>
              <a:t>SUN</a:t>
            </a:r>
            <a:r>
              <a:rPr lang="zh-CN" altLang="en-US" b="1" dirty="0"/>
              <a:t>的值分别是</a:t>
            </a:r>
            <a:r>
              <a:rPr lang="en-US" altLang="zh-CN" b="1" dirty="0"/>
              <a:t>0-6</a:t>
            </a:r>
          </a:p>
          <a:p>
            <a:pPr>
              <a:lnSpc>
                <a:spcPct val="150000"/>
              </a:lnSpc>
            </a:pPr>
            <a:r>
              <a:rPr lang="zh-CN" altLang="en-US" b="1" dirty="0"/>
              <a:t>可以指定默认值</a:t>
            </a:r>
            <a:endParaRPr lang="en-US" altLang="zh-CN" b="1" dirty="0"/>
          </a:p>
          <a:p>
            <a:pPr>
              <a:lnSpc>
                <a:spcPct val="150000"/>
              </a:lnSpc>
            </a:pPr>
            <a:r>
              <a:rPr lang="en-US" altLang="zh-CN" b="1" dirty="0" err="1"/>
              <a:t>enum</a:t>
            </a:r>
            <a:r>
              <a:rPr lang="en-US" altLang="zh-CN" b="1" dirty="0"/>
              <a:t> weekday(MON=1,TUE,WED,THU,FRI,SAT,SUN);</a:t>
            </a:r>
          </a:p>
          <a:p>
            <a:pPr>
              <a:lnSpc>
                <a:spcPct val="150000"/>
              </a:lnSpc>
            </a:pPr>
            <a:r>
              <a:rPr lang="en-US" altLang="zh-CN" b="1" dirty="0"/>
              <a:t>MON</a:t>
            </a:r>
            <a:r>
              <a:rPr lang="zh-CN" altLang="en-US" b="1" dirty="0"/>
              <a:t>到</a:t>
            </a:r>
            <a:r>
              <a:rPr lang="en-US" altLang="zh-CN" b="1" dirty="0"/>
              <a:t>SUN</a:t>
            </a:r>
            <a:r>
              <a:rPr lang="zh-CN" altLang="en-US" b="1" dirty="0"/>
              <a:t>的值分别是</a:t>
            </a:r>
            <a:r>
              <a:rPr lang="en-US" altLang="zh-CN" b="1" dirty="0"/>
              <a:t>1-7</a:t>
            </a:r>
          </a:p>
        </p:txBody>
      </p:sp>
    </p:spTree>
    <p:extLst>
      <p:ext uri="{BB962C8B-B14F-4D97-AF65-F5344CB8AC3E}">
        <p14:creationId xmlns:p14="http://schemas.microsoft.com/office/powerpoint/2010/main" val="82065451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平行四边形 2"/>
          <p:cNvSpPr/>
          <p:nvPr/>
        </p:nvSpPr>
        <p:spPr>
          <a:xfrm>
            <a:off x="2120904" y="2009775"/>
            <a:ext cx="4888831" cy="717382"/>
          </a:xfrm>
          <a:prstGeom prst="parallelogram">
            <a:avLst>
              <a:gd name="adj" fmla="val 30556"/>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rstTxWarp prst="textPlain">
              <a:avLst/>
            </a:prstTxWarp>
          </a:bodyPr>
          <a:lstStyle/>
          <a:p>
            <a:pPr algn="ctr"/>
            <a:r>
              <a:rPr lang="en-US" altLang="zh-CN" sz="4800" b="1" dirty="0">
                <a:solidFill>
                  <a:srgbClr val="FFFFFF"/>
                </a:solidFill>
                <a:latin typeface="幼圆" panose="02010509060101010101" pitchFamily="49" charset="-122"/>
                <a:ea typeface="幼圆" panose="02010509060101010101" pitchFamily="49" charset="-122"/>
              </a:rPr>
              <a:t>THANKYOU</a:t>
            </a:r>
            <a:endParaRPr lang="zh-CN" altLang="en-US" sz="4800" b="1" dirty="0">
              <a:solidFill>
                <a:srgbClr val="FFFFFF"/>
              </a:solidFill>
              <a:latin typeface="幼圆" panose="02010509060101010101" pitchFamily="49" charset="-122"/>
              <a:ea typeface="幼圆" panose="02010509060101010101" pitchFamily="49" charset="-122"/>
            </a:endParaRPr>
          </a:p>
        </p:txBody>
      </p:sp>
      <p:sp>
        <p:nvSpPr>
          <p:cNvPr id="4" name="平行四边形 3"/>
          <p:cNvSpPr/>
          <p:nvPr/>
        </p:nvSpPr>
        <p:spPr>
          <a:xfrm>
            <a:off x="2740860" y="2767014"/>
            <a:ext cx="6403140" cy="252412"/>
          </a:xfrm>
          <a:prstGeom prst="parallelogram">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spc="300" dirty="0">
                <a:solidFill>
                  <a:schemeClr val="accent2">
                    <a:lumMod val="40000"/>
                    <a:lumOff val="60000"/>
                  </a:schemeClr>
                </a:solidFill>
                <a:latin typeface="Bell MT" panose="02020503060305020303" pitchFamily="18" charset="0"/>
                <a:ea typeface="幼圆" panose="02010509060101010101" pitchFamily="49" charset="-122"/>
              </a:rPr>
              <a:t>2026</a:t>
            </a:r>
            <a:r>
              <a:rPr lang="zh-CN" altLang="en-US" sz="1600" spc="300" dirty="0">
                <a:solidFill>
                  <a:schemeClr val="accent2">
                    <a:lumMod val="40000"/>
                    <a:lumOff val="60000"/>
                  </a:schemeClr>
                </a:solidFill>
                <a:latin typeface="Bell MT" panose="02020503060305020303" pitchFamily="18" charset="0"/>
                <a:ea typeface="幼圆" panose="02010509060101010101" pitchFamily="49" charset="-122"/>
              </a:rPr>
              <a:t>年</a:t>
            </a:r>
            <a:r>
              <a:rPr lang="en-US" altLang="zh-CN" sz="1600" spc="300" dirty="0">
                <a:solidFill>
                  <a:schemeClr val="accent2">
                    <a:lumMod val="40000"/>
                    <a:lumOff val="60000"/>
                  </a:schemeClr>
                </a:solidFill>
                <a:latin typeface="Bell MT" panose="02020503060305020303" pitchFamily="18" charset="0"/>
                <a:ea typeface="幼圆" panose="02010509060101010101" pitchFamily="49" charset="-122"/>
              </a:rPr>
              <a:t>9</a:t>
            </a:r>
            <a:r>
              <a:rPr lang="zh-CN" altLang="en-US" sz="1600" spc="300" dirty="0">
                <a:solidFill>
                  <a:schemeClr val="accent2">
                    <a:lumMod val="40000"/>
                    <a:lumOff val="60000"/>
                  </a:schemeClr>
                </a:solidFill>
                <a:latin typeface="Bell MT" panose="02020503060305020303" pitchFamily="18" charset="0"/>
                <a:ea typeface="幼圆" panose="02010509060101010101" pitchFamily="49" charset="-122"/>
              </a:rPr>
              <a:t>月</a:t>
            </a:r>
            <a:r>
              <a:rPr lang="en-US" altLang="zh-CN" sz="1600" spc="300" dirty="0">
                <a:solidFill>
                  <a:schemeClr val="accent2">
                    <a:lumMod val="40000"/>
                    <a:lumOff val="60000"/>
                  </a:schemeClr>
                </a:solidFill>
                <a:latin typeface="Bell MT" panose="02020503060305020303" pitchFamily="18" charset="0"/>
                <a:ea typeface="幼圆" panose="02010509060101010101" pitchFamily="49" charset="-122"/>
              </a:rPr>
              <a:t>3</a:t>
            </a:r>
            <a:r>
              <a:rPr lang="zh-CN" altLang="en-US" sz="1600" spc="300" dirty="0">
                <a:solidFill>
                  <a:schemeClr val="accent2">
                    <a:lumMod val="40000"/>
                    <a:lumOff val="60000"/>
                  </a:schemeClr>
                </a:solidFill>
                <a:latin typeface="Bell MT" panose="02020503060305020303" pitchFamily="18" charset="0"/>
                <a:ea typeface="幼圆" panose="02010509060101010101" pitchFamily="49" charset="-122"/>
              </a:rPr>
              <a:t>日</a:t>
            </a:r>
          </a:p>
        </p:txBody>
      </p:sp>
    </p:spTree>
    <p:extLst>
      <p:ext uri="{BB962C8B-B14F-4D97-AF65-F5344CB8AC3E}">
        <p14:creationId xmlns:p14="http://schemas.microsoft.com/office/powerpoint/2010/main" val="2423635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6593</TotalTime>
  <Words>3246</Words>
  <Application>Microsoft Office PowerPoint</Application>
  <PresentationFormat>全屏显示(16:9)</PresentationFormat>
  <Paragraphs>546</Paragraphs>
  <Slides>41</Slides>
  <Notes>3</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41</vt:i4>
      </vt:variant>
    </vt:vector>
  </HeadingPairs>
  <TitlesOfParts>
    <vt:vector size="54" baseType="lpstr">
      <vt:lpstr>幼圆</vt:lpstr>
      <vt:lpstr>Bell MT</vt:lpstr>
      <vt:lpstr>Arial</vt:lpstr>
      <vt:lpstr>方正兰亭特黑_GBK</vt:lpstr>
      <vt:lpstr>华文仿宋</vt:lpstr>
      <vt:lpstr>方正粗倩简体</vt:lpstr>
      <vt:lpstr>Calibri</vt:lpstr>
      <vt:lpstr>Times New Roman</vt:lpstr>
      <vt:lpstr>Wingdings</vt:lpstr>
      <vt:lpstr>微软雅黑</vt:lpstr>
      <vt:lpstr>Office 主题​​</vt:lpstr>
      <vt:lpstr>1_自定义设计方案</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黄庆凤</dc:creator>
  <cp:lastModifiedBy>王迪</cp:lastModifiedBy>
  <cp:revision>262</cp:revision>
  <dcterms:created xsi:type="dcterms:W3CDTF">2015-01-19T04:21:24Z</dcterms:created>
  <dcterms:modified xsi:type="dcterms:W3CDTF">2026-09-28T09:14:18Z</dcterms:modified>
</cp:coreProperties>
</file>